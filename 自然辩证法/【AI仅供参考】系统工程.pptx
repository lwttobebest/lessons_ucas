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开场30秒：亚里士多德的古老命题“整体大于部分之和”，在20世纪变成一门硬科学——系统工程。今天的汇报讲它的来龙去脉，以及它背后的自然辩证法。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25秒：四步——先看它从哪里来，再清理它的思想源头，然后讲清它是什么、怎么做，最后回到自然辩证法。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70秒：中国航天是系统工程最好的孵化器——“两弹一星”涉及几十万人、上千单位，靠什么协同？1978年钱学森给出答案：系统工程，一门“组织管理的技术”。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55秒：肯定还原论的功绩，再点出它的边界——“涌现”：把飞机拆成一堆零件，你得到的是零件而不是“能飞的飞机”。这是系统思想复兴的起点。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60秒：两千年接力——从亚里士多德的直觉，经恩格斯的辩证自然观，到20世纪一批科学家的建制化：一般系统论、控制论、耗散结构，最终由钱学森集大成。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55秒：逐字读定义——注意两个关键词：“组织管理”（它管的是协调，不是具体技术）与“普遍意义”（它是一套方法论，不限于工程）。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60秒：方法论是一个闭环——目标、分解、集成、反馈。两个坐标：西方的霍尔三维结构管“流程”，钱学森的综合集成法管“定性定量怎么结合”。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65秒：总体设计部是钱学森最重要的组织创新——一群人不造任何零件，只负责“总体最优”。载人航天30年、十余个系统协同，就是这套机制的成绩单。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60秒：恩格斯在一百多年前就给出了系统自然观的纲领；普里戈金的耗散结构让“演化的、自组织的自然”成为科学描述——辩证法与系统科学在此会师。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60秒：落到科研——开题先想总体框架，实验设计注意变量间的耦合与涌现，多源证据综合集成；系统思维与分析方法互补而非对立。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40秒：收束——系统工程把辩证法的“普遍联系”变成了可操作的工作流程；对科研人而言，既要会分解，更要会综合。致谢，进入提问。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以经典著作、原始论文与教材为主，全部真实可查。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78992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自然辩证法概论 · 课程汇报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整体，大于部分之和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系统工程的兴起与自然辩证法的系统思维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52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还原论与整体论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3794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52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系统工程方法论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7947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6352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系统自然观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汇报人：【姓名】　　学号：【学号】　　院系：【学院】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83080" y="170078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缘起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83080" y="213969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从“两弹一星”到载人航天：为什么必须有一门“系统工程”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7977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783080" y="285292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83080" y="3291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还原论的辉煌与困境，系统思想两千年的接力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83080" y="400507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精要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83080" y="44439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系统工程是什么：钱学森的定义、方法与中国的实践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974336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8406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783080" y="515721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783080" y="55961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系统自然观与方法论：自然辩证法的当代回响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缘起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从“两弹一星”到“系统工程”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10469880" cy="0"/>
          </a:xfrm>
          <a:prstGeom prst="line">
            <a:avLst/>
          </a:prstGeom>
          <a:noFill/>
          <a:ln w="19050">
            <a:solidFill>
              <a:srgbClr val="D8E4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2980944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3346704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钱学森《工程控制论》出版，奠定自动控制的理论基础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2152" y="2980944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2532888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32888" y="3346704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国防部第五研究院成立，中国航天事业起步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2980944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1964—1970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45736" y="3346704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原子弹、氢弹、东方红一号：“两弹一星”的大规模协作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27848" y="2980944"/>
            <a:ext cx="164592" cy="164592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6958584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58584" y="3346704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钱学森等发表《组织管理的技术——系统工程》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40696" y="2980944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71432" y="3346704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提出“开放的复杂巨系统”，方法论扩展到社会领域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5166360"/>
            <a:ext cx="12188952" cy="73152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663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制造一件仪器可以靠能工巧匠，协调千万人、上万个部件共同指向一个总体目标，必须有一门关于“组织管理”的科学。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资料来源：钱学森《论系统工程》(1982)；《文汇报》1978.9.27；《自然杂志》1990年第13卷第1期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溯源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还原论的辉煌，与它解释不了的整体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13248" cy="38862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还原论：分解与分析的胜利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2395728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228600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笛卡尔纲领：把难题拆成尽可能小的部分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145536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3035808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牛顿力学、分子生物学由此建立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3895344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3785616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学科分化与专业化的方法论基石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7064" y="1463040"/>
            <a:ext cx="5413248" cy="38862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501384" y="169164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整体性：涌现出来的困难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519672" y="2395728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6739128" y="228600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涌现性质：整体的功能在部分身上找不到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19672" y="3145536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3035808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生命、生态、经济：相互作用难以拆解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19672" y="3895344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3785616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大型工程：上万个部件如何指向同一目标？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623560"/>
            <a:ext cx="12188952" cy="6858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分解是必要的，但把整体拆成部分，并不等于理解了整体。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参见：贝塔朗菲《一般系统论》(1987)；普里戈金《从混沌到有序》(1987)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溯源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系统思想的接力：从雅典到北京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520440" cy="20116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亚里士多德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公元前4世纪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578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提出“整体大于部分之和”的古老直觉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572768"/>
            <a:ext cx="3520440" cy="20116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773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恩格斯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0288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19世纪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2578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自然界是“各种物体相互联系的总体”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572768"/>
            <a:ext cx="3520440" cy="20116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1773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贝塔朗菲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75904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1937—1968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75904" y="2578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创立一般系统论，反对机械还原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58768"/>
            <a:ext cx="3520440" cy="20116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059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维纳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4672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864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《控制论》：反馈与调节的普遍机制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34256" y="3858768"/>
            <a:ext cx="3520440" cy="20116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590288" y="4059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普里戈金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90288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1969—1977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90288" y="4864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耗散结构：开放系统的自组织与演化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19872" y="3858768"/>
            <a:ext cx="3520440" cy="20116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7" name="Text 25"/>
          <p:cNvSpPr/>
          <p:nvPr/>
        </p:nvSpPr>
        <p:spPr>
          <a:xfrm>
            <a:off x="8375904" y="4059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钱学森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75904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1978—1990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75904" y="4864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系统科学与系统工程的中国体系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资料来源：贝塔朗菲(1987)；维纳《控制论》(1948)；普里戈金获1977年诺贝尔化学奖；钱学森《论系统工程》(1982)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精要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系统工程是什么：一个经典定义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" y="11704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508760" y="1572768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系统工程是组织管理系统的规划、研究、设计、制造、试验和使用的科学方法，是一种对所有系统都具有普遍意义的科学方法。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508760" y="2743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钱学森、许国志、王寿云《组织管理的技术——系统工程》（1978）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3520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对象是“系统”的整体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08760" y="390448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着眼总体目标与全局最优，而不是单点最优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08760" y="4325112"/>
            <a:ext cx="9692640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4416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核心是“组织管理”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480060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让技术要素与人力、资源、时间协同起来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5221224"/>
            <a:ext cx="9692640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5312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方法是普遍的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08760" y="569671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一套可迁移的科学方法：从工程到社会治理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精要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系统工程怎么做：一个闭环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97480" cy="868680"/>
          </a:xfrm>
          <a:prstGeom prst="chevron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明确总体目标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697480" cy="868680"/>
          </a:xfrm>
          <a:prstGeom prst="chevron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分解与协调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697480" cy="868680"/>
          </a:xfrm>
          <a:prstGeom prst="chevron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集成与验证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915400" y="1965960"/>
            <a:ext cx="2697480" cy="868680"/>
          </a:xfrm>
          <a:prstGeom prst="chevron">
            <a:avLst/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运行与反馈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0744200" y="2834640"/>
            <a:ext cx="0" cy="502920"/>
          </a:xfrm>
          <a:prstGeom prst="line">
            <a:avLst/>
          </a:prstGeom>
          <a:noFill/>
          <a:ln w="19050">
            <a:solidFill>
              <a:srgbClr val="6C7D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3337560"/>
            <a:ext cx="8869680" cy="0"/>
          </a:xfrm>
          <a:prstGeom prst="line">
            <a:avLst/>
          </a:prstGeom>
          <a:noFill/>
          <a:ln w="19050">
            <a:solidFill>
              <a:srgbClr val="6C7D7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874520" y="2834640"/>
            <a:ext cx="0" cy="502920"/>
          </a:xfrm>
          <a:prstGeom prst="line">
            <a:avLst/>
          </a:prstGeom>
          <a:noFill/>
          <a:ln w="19050">
            <a:solidFill>
              <a:srgbClr val="6C7D7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194560" y="34564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运行结果回流，修正目标与设计：迭代，而不是一次成型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5413248" cy="13716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262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霍尔“三维结构”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时间维 · 逻辑维 · 知识维：工程全生命周期的坐标化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27064" y="4343400"/>
            <a:ext cx="5413248" cy="13716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501384" y="45262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钱学森“综合集成法”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01384" y="4937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从定性到定量：专家判断、数据计算与模型仿真互补（1990）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参见：HALL A D. Three-dimensional morphology of systems engineering (IEEE, 1969)；钱学森等〈一个科学新领域〉(1990)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精要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中国的实践：总体设计部与载人航天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13248" cy="40690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关键机制：总体设计部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2395728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2286000"/>
            <a:ext cx="4590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钱学森倡导：为每项大工程设置“总体设计部”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200400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3090672"/>
            <a:ext cx="4590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汇集各方约束，站在全局权衡“总体最优”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005072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3895344"/>
            <a:ext cx="4590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技术指挥线与行政指挥线协同的“两条指挥线”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7064" y="1463040"/>
            <a:ext cx="5413248" cy="40690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501384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案例：中国载人航天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501384" y="233172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23317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35240" y="23500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工程立项，确定“三步走”战略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01384" y="3355848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33558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5240" y="337413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神舟五号发射，杨利伟成为中国首位航天员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01384" y="4379976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437997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35240" y="439826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空间站全面建成，30年一张蓝图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715000"/>
            <a:ext cx="12188952" cy="658368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71500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大工程的成败不再取决于单项技术的高低，而取决于“组织管理”这个总体的水平。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启示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系统自然观：世界是系统之网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" y="11704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508760" y="157276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我们所面对着的整个自然界形成一个体系，即各种物体相互联系的总体。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08760" y="24871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恩格斯《自然辩证法》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3200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联系的观点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08760" y="358444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世界不是孤立事物的堆积，而是相互作用着的系统总体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08760" y="4059936"/>
            <a:ext cx="9692640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4160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演化的观点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45445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“世界不是既成事物的集合体，而是过程的集合体”——自然界在历史中生成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5020056"/>
            <a:ext cx="9692640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51206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自组织的观点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08760" y="5504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开放系统在远离平衡处自发产生秩序：从存在到演化（普里戈金）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30936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“过程集合体”出自《路德维希·费尔巴哈和德国古典哲学的终结》，见《马克思恩格斯选集》第4卷（2012）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启示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方法论启示：给研究生的四点建议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1328" y="161848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整体优先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0756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先顶层设计，再局部实现：总体目标约束每一个部件的设计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27523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关注涌现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32095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关键性质常在要素耦合中产生，警惕“每个部分都对、整体却错”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81328" y="3886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定性与定量结合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43434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综合集成：专家判断、数据计算与模型仿真互为补充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47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47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02005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还原与整体互补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81328" y="54772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系统思维不取代分析，而是让分析重新对准整体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 · 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学会了分解，还要学会综合。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既见树木，更见森林——系统思维是自然辩证法留给科研人的方法论传统。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0749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· 欢迎批评指正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恩格斯. 自然辩证法[M]. 北京: 人民出版社, 2018.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马克思, 恩格斯. 马克思恩格斯选集: 第4卷[M]. 3版. 北京: 人民出版社, 2012.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钱学森. 论系统工程[M]. 长沙: 湖南科学技术出版社, 1982.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钱学森, 许国志, 王寿云. 组织管理的技术——系统工程[N]. 文汇报, 1978-09-27.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钱学森, 于景元, 戴汝为. 一个科学新领域——开放的复杂巨系统及其方法论[J]. 自然杂志, 1990, 13(1): 3-10.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冯·贝塔朗菲. 一般系统论: 基础、发展和应用[M]. 林康义, 等译. 北京: 清华大学出版社, 1987.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伊·普里戈金, 伊·斯唐热. 从混沌到有序: 人与自然的新对话[M]. 曾庆宏, 沈小峰, 译. 上海: 上海译文出版社, 1987.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魏宏森, 曾国屏. 系统论——系统科学哲学[M]. 北京: 清华大学出版社, 1995.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HALL A D. A methodology for systems engineering[M]. Princeton: D. Van Nostrand Company, 1962.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HALL A D. Three-dimensional morphology of systems engineering[J]. IEEE Transactions on Systems Science and Cybernetics, 1969, 5(2): 156-160.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郭贵春. 自然辩证法概论[M]. 北京: 高等教育出版社, 2013.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整体，大于部分之和——系统工程的兴起与自然辩证法的系统思维</dc:title>
  <dc:subject>PptxGenJS Presentation</dc:subject>
  <dc:creator>自然辩证法概论课程汇报</dc:creator>
  <cp:lastModifiedBy>自然辩证法概论课程汇报</cp:lastModifiedBy>
  <cp:revision>1</cp:revision>
  <dcterms:created xsi:type="dcterms:W3CDTF">2026-10-01T03:47:48Z</dcterms:created>
  <dcterms:modified xsi:type="dcterms:W3CDTF">2026-10-01T03:47:48Z</dcterms:modified>
</cp:coreProperties>
</file>