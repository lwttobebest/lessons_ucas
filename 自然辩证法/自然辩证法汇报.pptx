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9.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47.xml" ContentType="application/vnd.openxmlformats-officedocument.presentationml.tags+xml"/>
  <Override PartName="/ppt/notesSlides/notesSlide14.xml" ContentType="application/vnd.openxmlformats-officedocument.presentationml.notesSlide+xml"/>
  <Override PartName="/ppt/tags/tag48.xml" ContentType="application/vnd.openxmlformats-officedocument.presentationml.tags+xml"/>
  <Override PartName="/ppt/notesSlides/notesSlide15.xml" ContentType="application/vnd.openxmlformats-officedocument.presentationml.notesSlide+xml"/>
  <Override PartName="/ppt/tags/tag49.xml" ContentType="application/vnd.openxmlformats-officedocument.presentationml.tags+xml"/>
  <Override PartName="/ppt/notesSlides/notesSlide1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67" r:id="rId5"/>
    <p:sldId id="259" r:id="rId6"/>
    <p:sldId id="260" r:id="rId7"/>
    <p:sldId id="261" r:id="rId8"/>
    <p:sldId id="262" r:id="rId9"/>
    <p:sldId id="263" r:id="rId10"/>
    <p:sldId id="264" r:id="rId11"/>
    <p:sldId id="269" r:id="rId12"/>
    <p:sldId id="270" r:id="rId13"/>
    <p:sldId id="265" r:id="rId14"/>
    <p:sldId id="272" r:id="rId15"/>
    <p:sldId id="273" r:id="rId16"/>
    <p:sldId id="268" r:id="rId17"/>
    <p:sldId id="274" r:id="rId18"/>
    <p:sldId id="266" r:id="rId19"/>
  </p:sldIdLst>
  <p:sldSz cx="12192000" cy="6858000"/>
  <p:notesSz cx="6858000" cy="9144000"/>
  <p:embeddedFontLst>
    <p:embeddedFont>
      <p:font typeface="等线" panose="02010600030101010101" pitchFamily="2" charset="-122"/>
      <p:regular r:id="rId21"/>
      <p:bold r:id="rId22"/>
    </p:embeddedFont>
    <p:embeddedFont>
      <p:font typeface="等线 Light" panose="02010600030101010101" pitchFamily="2" charset="-122"/>
      <p:regular r:id="rId23"/>
    </p:embeddedFont>
    <p:embeddedFont>
      <p:font typeface="仿宋" panose="02010609060101010101" pitchFamily="49" charset="-122"/>
      <p:regular r:id="rId24"/>
    </p:embeddedFont>
    <p:embeddedFont>
      <p:font typeface="微软雅黑" panose="020B0503020204020204" pitchFamily="34" charset="-122"/>
      <p:regular r:id="rId25"/>
      <p:bold r:id="rId26"/>
    </p:embeddedFont>
    <p:embeddedFont>
      <p:font typeface="微软雅黑" panose="020B0503020204020204" pitchFamily="34" charset="-122"/>
      <p:regular r:id="rId25"/>
      <p:bold r:id="rId2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B1CE"/>
    <a:srgbClr val="6691C0"/>
    <a:srgbClr val="0F349D"/>
    <a:srgbClr val="C2CBDF"/>
    <a:srgbClr val="FFFFFF"/>
    <a:srgbClr val="EE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788" autoAdjust="0"/>
  </p:normalViewPr>
  <p:slideViewPr>
    <p:cSldViewPr snapToGrid="0">
      <p:cViewPr varScale="1">
        <p:scale>
          <a:sx n="71" d="100"/>
          <a:sy n="71" d="100"/>
        </p:scale>
        <p:origin x="15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4B6AFA-E231-4B4A-A760-656E231C4B1D}" type="datetimeFigureOut">
              <a:rPr lang="zh-CN" altLang="en-US" smtClean="0"/>
              <a:t>2026/10/23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AF41C-61F9-4662-A7B6-3E2ADAC4AE25}" type="slidenum">
              <a:rPr lang="zh-CN" altLang="en-US" smtClean="0"/>
              <a:t>‹#›</a:t>
            </a:fld>
            <a:endParaRPr lang="zh-CN" altLang="en-US"/>
          </a:p>
        </p:txBody>
      </p:sp>
    </p:spTree>
    <p:extLst>
      <p:ext uri="{BB962C8B-B14F-4D97-AF65-F5344CB8AC3E}">
        <p14:creationId xmlns:p14="http://schemas.microsoft.com/office/powerpoint/2010/main" val="3138900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AAF41C-61F9-4662-A7B6-3E2ADAC4AE25}" type="slidenum">
              <a:rPr lang="zh-CN" altLang="en-US" smtClean="0"/>
              <a:t>1</a:t>
            </a:fld>
            <a:endParaRPr lang="zh-CN" altLang="en-US"/>
          </a:p>
        </p:txBody>
      </p:sp>
    </p:spTree>
    <p:extLst>
      <p:ext uri="{BB962C8B-B14F-4D97-AF65-F5344CB8AC3E}">
        <p14:creationId xmlns:p14="http://schemas.microsoft.com/office/powerpoint/2010/main" val="3819052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基因测序技术的发展催生了以“个体化医疗”为基础的精准医学的勃兴。</a:t>
            </a:r>
            <a:r>
              <a:rPr lang="en-US" altLang="zh-CN" sz="1200" kern="1200" dirty="0">
                <a:solidFill>
                  <a:schemeClr val="tx1"/>
                </a:solidFill>
                <a:effectLst/>
                <a:latin typeface="+mn-lt"/>
                <a:ea typeface="+mn-ea"/>
                <a:cs typeface="+mn-cs"/>
              </a:rPr>
              <a:t>CRISPR/Cas</a:t>
            </a:r>
            <a:r>
              <a:rPr lang="zh-CN" altLang="zh-CN" sz="1200" kern="1200" dirty="0">
                <a:solidFill>
                  <a:schemeClr val="tx1"/>
                </a:solidFill>
                <a:effectLst/>
                <a:latin typeface="+mn-lt"/>
                <a:ea typeface="+mn-ea"/>
                <a:cs typeface="+mn-cs"/>
              </a:rPr>
              <a:t>（成簇规律间隔短回文重复序列内切酶）基因编辑技术（又称生物剪刀或基因手术刀）使得对基因组序列进行精确和高效编辑成为可能。</a:t>
            </a:r>
            <a:r>
              <a:rPr lang="en-US" altLang="zh-CN" dirty="0"/>
              <a:t>2012</a:t>
            </a:r>
            <a:r>
              <a:rPr lang="zh-CN" altLang="en-US" dirty="0"/>
              <a:t>年，</a:t>
            </a:r>
            <a:r>
              <a:rPr lang="en-US" altLang="zh-CN" dirty="0"/>
              <a:t>Doudna</a:t>
            </a:r>
            <a:r>
              <a:rPr lang="zh-CN" altLang="en-US" dirty="0"/>
              <a:t>和</a:t>
            </a:r>
            <a:r>
              <a:rPr lang="en-US" altLang="zh-CN" dirty="0"/>
              <a:t>Charpentier</a:t>
            </a:r>
            <a:r>
              <a:rPr lang="zh-CN" altLang="en-US" dirty="0"/>
              <a:t>首次证明</a:t>
            </a:r>
            <a:r>
              <a:rPr lang="en-US" altLang="zh-CN" dirty="0"/>
              <a:t>CRISPR/Cas9</a:t>
            </a:r>
            <a:r>
              <a:rPr lang="zh-CN" altLang="en-US" dirty="0"/>
              <a:t>可以在体外对</a:t>
            </a:r>
            <a:r>
              <a:rPr lang="en-US" altLang="zh-CN" dirty="0"/>
              <a:t>DNA</a:t>
            </a:r>
            <a:r>
              <a:rPr lang="zh-CN" altLang="en-US" dirty="0"/>
              <a:t>进行切割，并获得</a:t>
            </a:r>
            <a:r>
              <a:rPr lang="en-US" altLang="zh-CN" dirty="0"/>
              <a:t>2020</a:t>
            </a:r>
            <a:r>
              <a:rPr lang="zh-CN" altLang="en-US" dirty="0"/>
              <a:t>年诺贝尔化学奖。</a:t>
            </a:r>
          </a:p>
        </p:txBody>
      </p:sp>
      <p:sp>
        <p:nvSpPr>
          <p:cNvPr id="4" name="灯片编号占位符 3"/>
          <p:cNvSpPr>
            <a:spLocks noGrp="1"/>
          </p:cNvSpPr>
          <p:nvPr>
            <p:ph type="sldNum" sz="quarter" idx="5"/>
          </p:nvPr>
        </p:nvSpPr>
        <p:spPr/>
        <p:txBody>
          <a:bodyPr/>
          <a:lstStyle/>
          <a:p>
            <a:fld id="{F4AAF41C-61F9-4662-A7B6-3E2ADAC4AE25}" type="slidenum">
              <a:rPr lang="zh-CN" altLang="en-US" smtClean="0"/>
              <a:t>3</a:t>
            </a:fld>
            <a:endParaRPr lang="zh-CN" altLang="en-US"/>
          </a:p>
        </p:txBody>
      </p:sp>
    </p:spTree>
    <p:extLst>
      <p:ext uri="{BB962C8B-B14F-4D97-AF65-F5344CB8AC3E}">
        <p14:creationId xmlns:p14="http://schemas.microsoft.com/office/powerpoint/2010/main" val="1342840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D9752-2444-8C3C-D5EB-BF20EF9B73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978DBC-AD23-E8A6-8748-19010E089D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30BBC9-49D4-E4FC-9C7C-1BA902FE5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它是一套来自细菌免疫系统的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分子剪刀</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，由两部分组成</a:t>
            </a:r>
            <a:r>
              <a:rPr lang="en-US" altLang="zh-CN" sz="1200" kern="1200" dirty="0">
                <a:solidFill>
                  <a:schemeClr val="tx1"/>
                </a:solidFill>
                <a:effectLst/>
                <a:latin typeface="+mn-lt"/>
                <a:ea typeface="+mn-ea"/>
                <a:cs typeface="+mn-cs"/>
              </a:rPr>
              <a:t>——Cas9 </a:t>
            </a:r>
            <a:r>
              <a:rPr lang="zh-CN" altLang="zh-CN" sz="1200" kern="1200" dirty="0">
                <a:solidFill>
                  <a:schemeClr val="tx1"/>
                </a:solidFill>
                <a:effectLst/>
                <a:latin typeface="+mn-lt"/>
                <a:ea typeface="+mn-ea"/>
                <a:cs typeface="+mn-cs"/>
              </a:rPr>
              <a:t>蛋白（负责切割</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的酶）和向导</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（负责识别目标</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序列）。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一个是强力的切割装置</a:t>
            </a:r>
            <a:r>
              <a:rPr lang="en-US" altLang="zh-CN" sz="1200" kern="1200" dirty="0">
                <a:solidFill>
                  <a:schemeClr val="tx1"/>
                </a:solidFill>
                <a:effectLst/>
                <a:latin typeface="+mn-lt"/>
                <a:ea typeface="+mn-ea"/>
                <a:cs typeface="+mn-cs"/>
              </a:rPr>
              <a:t>——Cas9</a:t>
            </a:r>
            <a:r>
              <a:rPr lang="zh-CN" altLang="zh-CN" sz="1200" kern="1200" dirty="0">
                <a:solidFill>
                  <a:schemeClr val="tx1"/>
                </a:solidFill>
                <a:effectLst/>
                <a:latin typeface="+mn-lt"/>
                <a:ea typeface="+mn-ea"/>
                <a:cs typeface="+mn-cs"/>
              </a:rPr>
              <a:t>酶，它能够切断双链</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；另一个是精准的靶向装置</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一小段</a:t>
            </a:r>
            <a:r>
              <a:rPr lang="en-US" altLang="zh-CN" sz="1200" kern="1200" dirty="0">
                <a:solidFill>
                  <a:schemeClr val="tx1"/>
                </a:solidFill>
                <a:effectLst/>
                <a:latin typeface="+mn-lt"/>
                <a:ea typeface="+mn-ea"/>
                <a:cs typeface="+mn-cs"/>
              </a:rPr>
              <a:t>RNA</a:t>
            </a:r>
            <a:r>
              <a:rPr lang="zh-CN" altLang="zh-CN" sz="1200" kern="1200" dirty="0">
                <a:solidFill>
                  <a:schemeClr val="tx1"/>
                </a:solidFill>
                <a:effectLst/>
                <a:latin typeface="+mn-lt"/>
                <a:ea typeface="+mn-ea"/>
                <a:cs typeface="+mn-cs"/>
              </a:rPr>
              <a:t>，它被编程后可以找到特定的</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序列。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CRISPR</a:t>
            </a:r>
            <a:r>
              <a:rPr lang="zh-CN" altLang="zh-CN" sz="1200" kern="1200" dirty="0">
                <a:solidFill>
                  <a:schemeClr val="tx1"/>
                </a:solidFill>
                <a:effectLst/>
                <a:latin typeface="+mn-lt"/>
                <a:ea typeface="+mn-ea"/>
                <a:cs typeface="+mn-cs"/>
              </a:rPr>
              <a:t>系统进入细胞后，会定位到目标</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序列。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Cas9</a:t>
            </a:r>
            <a:r>
              <a:rPr lang="zh-CN" altLang="zh-CN" sz="1200" kern="1200" dirty="0">
                <a:solidFill>
                  <a:schemeClr val="tx1"/>
                </a:solidFill>
                <a:effectLst/>
                <a:latin typeface="+mn-lt"/>
                <a:ea typeface="+mn-ea"/>
                <a:cs typeface="+mn-cs"/>
              </a:rPr>
              <a:t>酶切断</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的两条链。</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研究人员可以人为引入这些物质，而细胞在修复断裂</a:t>
            </a:r>
            <a:r>
              <a:rPr lang="en-US" altLang="zh-CN" sz="1200" kern="1200" dirty="0">
                <a:solidFill>
                  <a:schemeClr val="tx1"/>
                </a:solidFill>
                <a:effectLst/>
                <a:latin typeface="+mn-lt"/>
                <a:ea typeface="+mn-ea"/>
                <a:cs typeface="+mn-cs"/>
              </a:rPr>
              <a:t>DNA</a:t>
            </a:r>
            <a:r>
              <a:rPr lang="zh-CN" altLang="zh-CN" sz="1200" kern="1200" dirty="0">
                <a:solidFill>
                  <a:schemeClr val="tx1"/>
                </a:solidFill>
                <a:effectLst/>
                <a:latin typeface="+mn-lt"/>
                <a:ea typeface="+mn-ea"/>
                <a:cs typeface="+mn-cs"/>
              </a:rPr>
              <a:t>时，会自动将它们整合到缺口处。</a:t>
            </a:r>
          </a:p>
        </p:txBody>
      </p:sp>
      <p:sp>
        <p:nvSpPr>
          <p:cNvPr id="4" name="灯片编号占位符 3">
            <a:extLst>
              <a:ext uri="{FF2B5EF4-FFF2-40B4-BE49-F238E27FC236}">
                <a16:creationId xmlns:a16="http://schemas.microsoft.com/office/drawing/2014/main" id="{2D986CA2-B05E-E16D-4FDA-89D0C79E1DA0}"/>
              </a:ext>
            </a:extLst>
          </p:cNvPr>
          <p:cNvSpPr>
            <a:spLocks noGrp="1"/>
          </p:cNvSpPr>
          <p:nvPr>
            <p:ph type="sldNum" sz="quarter" idx="5"/>
          </p:nvPr>
        </p:nvSpPr>
        <p:spPr/>
        <p:txBody>
          <a:bodyPr/>
          <a:lstStyle/>
          <a:p>
            <a:fld id="{F4AAF41C-61F9-4662-A7B6-3E2ADAC4AE25}" type="slidenum">
              <a:rPr lang="zh-CN" altLang="en-US" smtClean="0"/>
              <a:t>4</a:t>
            </a:fld>
            <a:endParaRPr lang="zh-CN" altLang="en-US"/>
          </a:p>
        </p:txBody>
      </p:sp>
    </p:spTree>
    <p:extLst>
      <p:ext uri="{BB962C8B-B14F-4D97-AF65-F5344CB8AC3E}">
        <p14:creationId xmlns:p14="http://schemas.microsoft.com/office/powerpoint/2010/main" val="3308715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2016</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月开始，贺建奎私自组织包括境外人员参加的项目团队，蓄意逃避监管，使用安全性、有效性不确切的技术，实施国家明令禁止的以生殖为目的的人类胚胎基因编辑活动。</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2017</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月：伪造伦理审查书，招募</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对夫妇，策划顶替验血➡</a:t>
            </a:r>
            <a:r>
              <a:rPr lang="en-US" altLang="zh-CN" sz="1200" kern="1200" dirty="0">
                <a:solidFill>
                  <a:schemeClr val="tx1"/>
                </a:solidFill>
                <a:effectLst/>
                <a:latin typeface="+mn-lt"/>
                <a:ea typeface="+mn-ea"/>
                <a:cs typeface="+mn-cs"/>
              </a:rPr>
              <a:t>2017</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月起：指使张仁礼对受精卵注射基因编辑试剂，之后将囊胚移植入母体➡</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名志愿者怀孕，双胞胎出生</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然而与其行为相悖的是：在</a:t>
            </a:r>
            <a:r>
              <a:rPr lang="en-US" altLang="zh-CN" sz="1200" kern="1200" dirty="0">
                <a:solidFill>
                  <a:schemeClr val="tx1"/>
                </a:solidFill>
                <a:effectLst/>
                <a:latin typeface="+mn-lt"/>
                <a:ea typeface="+mn-ea"/>
                <a:cs typeface="+mn-cs"/>
              </a:rPr>
              <a:t>2017</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月，贺建奎在美国加州一场闭门研讨会上做了题为“人类胚胎基因编辑安全性”的报告，指出五个安全性问题（脱靶、嵌合体、多代效应等），并公开表示“没有解决这些重要的安全问题之前，任何执行生殖细胞系编辑或制造基因编辑人类的行为是极其不负责任的”。</a:t>
            </a:r>
            <a:endParaRPr lang="zh-CN" altLang="en-US" dirty="0"/>
          </a:p>
        </p:txBody>
      </p:sp>
      <p:sp>
        <p:nvSpPr>
          <p:cNvPr id="4" name="灯片编号占位符 3"/>
          <p:cNvSpPr>
            <a:spLocks noGrp="1"/>
          </p:cNvSpPr>
          <p:nvPr>
            <p:ph type="sldNum" sz="quarter" idx="5"/>
          </p:nvPr>
        </p:nvSpPr>
        <p:spPr/>
        <p:txBody>
          <a:bodyPr/>
          <a:lstStyle/>
          <a:p>
            <a:fld id="{F4AAF41C-61F9-4662-A7B6-3E2ADAC4AE25}" type="slidenum">
              <a:rPr lang="zh-CN" altLang="en-US" smtClean="0"/>
              <a:t>5</a:t>
            </a:fld>
            <a:endParaRPr lang="zh-CN" altLang="en-US"/>
          </a:p>
        </p:txBody>
      </p:sp>
    </p:spTree>
    <p:extLst>
      <p:ext uri="{BB962C8B-B14F-4D97-AF65-F5344CB8AC3E}">
        <p14:creationId xmlns:p14="http://schemas.microsoft.com/office/powerpoint/2010/main" val="4154714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25</a:t>
            </a:r>
            <a:r>
              <a:rPr lang="zh-CN" altLang="zh-CN" sz="1200" kern="1200" dirty="0">
                <a:solidFill>
                  <a:schemeClr val="tx1"/>
                </a:solidFill>
                <a:effectLst/>
                <a:latin typeface="+mn-lt"/>
                <a:ea typeface="+mn-ea"/>
                <a:cs typeface="+mn-cs"/>
              </a:rPr>
              <a:t>日：贺建奎团队在</a:t>
            </a:r>
            <a:r>
              <a:rPr lang="en-US" altLang="zh-CN" sz="1200" kern="1200" dirty="0">
                <a:solidFill>
                  <a:schemeClr val="tx1"/>
                </a:solidFill>
                <a:effectLst/>
                <a:latin typeface="+mn-lt"/>
                <a:ea typeface="+mn-ea"/>
                <a:cs typeface="+mn-cs"/>
              </a:rPr>
              <a:t>YouTube</a:t>
            </a:r>
            <a:r>
              <a:rPr lang="zh-CN" altLang="zh-CN" sz="1200" kern="1200" dirty="0">
                <a:solidFill>
                  <a:schemeClr val="tx1"/>
                </a:solidFill>
                <a:effectLst/>
                <a:latin typeface="+mn-lt"/>
                <a:ea typeface="+mn-ea"/>
                <a:cs typeface="+mn-cs"/>
              </a:rPr>
              <a:t>发布视频，美联社同步刊发独家专访。他在采访中称“我感到有强烈的责任，不仅是做第一个，还要成为一个范例”，并表示“社会将决定接下来怎么做”</a:t>
            </a:r>
          </a:p>
          <a:p>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26</a:t>
            </a:r>
            <a:r>
              <a:rPr lang="zh-CN" altLang="zh-CN" sz="1200" kern="1200" dirty="0">
                <a:solidFill>
                  <a:schemeClr val="tx1"/>
                </a:solidFill>
                <a:effectLst/>
                <a:latin typeface="+mn-lt"/>
                <a:ea typeface="+mn-ea"/>
                <a:cs typeface="+mn-cs"/>
              </a:rPr>
              <a:t>日：</a:t>
            </a:r>
          </a:p>
          <a:p>
            <a:r>
              <a:rPr lang="zh-CN" altLang="zh-CN" sz="1200" kern="1200" dirty="0">
                <a:solidFill>
                  <a:schemeClr val="tx1"/>
                </a:solidFill>
                <a:effectLst/>
                <a:latin typeface="+mn-lt"/>
                <a:ea typeface="+mn-ea"/>
                <a:cs typeface="+mn-cs"/>
              </a:rPr>
              <a:t>人民网深圳频道首发报道，初期呈现正面态度。</a:t>
            </a:r>
          </a:p>
          <a:p>
            <a:r>
              <a:rPr lang="zh-CN" altLang="zh-CN" sz="1200" kern="1200" dirty="0">
                <a:solidFill>
                  <a:schemeClr val="tx1"/>
                </a:solidFill>
                <a:effectLst/>
                <a:latin typeface="+mn-lt"/>
                <a:ea typeface="+mn-ea"/>
                <a:cs typeface="+mn-cs"/>
              </a:rPr>
              <a:t>当晚，</a:t>
            </a:r>
            <a:r>
              <a:rPr lang="en-US" altLang="zh-CN" sz="1200" kern="1200" dirty="0">
                <a:solidFill>
                  <a:schemeClr val="tx1"/>
                </a:solidFill>
                <a:effectLst/>
                <a:latin typeface="+mn-lt"/>
                <a:ea typeface="+mn-ea"/>
                <a:cs typeface="+mn-cs"/>
              </a:rPr>
              <a:t>122</a:t>
            </a:r>
            <a:r>
              <a:rPr lang="zh-CN" altLang="zh-CN" sz="1200" kern="1200" dirty="0">
                <a:solidFill>
                  <a:schemeClr val="tx1"/>
                </a:solidFill>
                <a:effectLst/>
                <a:latin typeface="+mn-lt"/>
                <a:ea typeface="+mn-ea"/>
                <a:cs typeface="+mn-cs"/>
              </a:rPr>
              <a:t>位中国科学家联名谴责，声明称“这项所谓研究的生物医学伦理审查形同虚设。直接进行人体实验，只能用疯狂形容”。其中王立铭指出，“在我看来，强大的基因编辑技术进入人类世界，帮助我们战胜病痛，甚至是让自己更健康，可能都是无法阻挡的历史潮流。但是这项技术的边界到底在哪里？这项技术打开的到底是潘多拉魔盒，还是阿拉丁的神灯？在今天这个注定要永载史册的日子，我请你和我一起好好思考。”</a:t>
            </a:r>
            <a:endParaRPr lang="zh-CN" altLang="en-US" dirty="0"/>
          </a:p>
        </p:txBody>
      </p:sp>
      <p:sp>
        <p:nvSpPr>
          <p:cNvPr id="4" name="灯片编号占位符 3"/>
          <p:cNvSpPr>
            <a:spLocks noGrp="1"/>
          </p:cNvSpPr>
          <p:nvPr>
            <p:ph type="sldNum" sz="quarter" idx="5"/>
          </p:nvPr>
        </p:nvSpPr>
        <p:spPr/>
        <p:txBody>
          <a:bodyPr/>
          <a:lstStyle/>
          <a:p>
            <a:fld id="{F4AAF41C-61F9-4662-A7B6-3E2ADAC4AE25}" type="slidenum">
              <a:rPr lang="zh-CN" altLang="en-US" smtClean="0"/>
              <a:t>6</a:t>
            </a:fld>
            <a:endParaRPr lang="zh-CN" altLang="en-US"/>
          </a:p>
        </p:txBody>
      </p:sp>
    </p:spTree>
    <p:extLst>
      <p:ext uri="{BB962C8B-B14F-4D97-AF65-F5344CB8AC3E}">
        <p14:creationId xmlns:p14="http://schemas.microsoft.com/office/powerpoint/2010/main" val="188662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南方科技大学声明贺建奎已于</a:t>
            </a:r>
            <a:r>
              <a:rPr lang="en-US" altLang="zh-CN" dirty="0"/>
              <a:t>2018</a:t>
            </a:r>
            <a:r>
              <a:rPr lang="zh-CN" altLang="en-US" dirty="0"/>
              <a:t>年</a:t>
            </a:r>
            <a:r>
              <a:rPr lang="en-US" altLang="zh-CN" dirty="0"/>
              <a:t>2</a:t>
            </a:r>
            <a:r>
              <a:rPr lang="zh-CN" altLang="en-US" dirty="0"/>
              <a:t>月停薪留职，学校对其实验不知情。广东省卫健委、国家卫健委先后宣布介入调查。</a:t>
            </a:r>
          </a:p>
          <a:p>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27</a:t>
            </a:r>
            <a:r>
              <a:rPr lang="zh-CN" altLang="zh-CN" sz="1200" kern="1200" dirty="0">
                <a:solidFill>
                  <a:schemeClr val="tx1"/>
                </a:solidFill>
                <a:effectLst/>
                <a:latin typeface="+mn-lt"/>
                <a:ea typeface="+mn-ea"/>
                <a:cs typeface="+mn-cs"/>
              </a:rPr>
              <a:t>日：科技部副部长徐南平在国务院新闻办“部长茶座”活动中回应，援引</a:t>
            </a:r>
            <a:r>
              <a:rPr lang="en-US" altLang="zh-CN" sz="1200" kern="1200" dirty="0">
                <a:solidFill>
                  <a:schemeClr val="tx1"/>
                </a:solidFill>
                <a:effectLst/>
                <a:latin typeface="+mn-lt"/>
                <a:ea typeface="+mn-ea"/>
                <a:cs typeface="+mn-cs"/>
              </a:rPr>
              <a:t>2003</a:t>
            </a:r>
            <a:r>
              <a:rPr lang="zh-CN" altLang="zh-CN" sz="1200" kern="1200" dirty="0">
                <a:solidFill>
                  <a:schemeClr val="tx1"/>
                </a:solidFill>
                <a:effectLst/>
                <a:latin typeface="+mn-lt"/>
                <a:ea typeface="+mn-ea"/>
                <a:cs typeface="+mn-cs"/>
              </a:rPr>
              <a:t>年《人胚胎干细胞研究伦理指导原则》称，体外培养期限自受精或核移植开始不得超过</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天，而本次</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基因编辑婴儿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如果确认已出生，属于被明令禁止的，“公然违反了我国的相关法规条例，也公然突破了学术界坚守的道德伦理的底线。”</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28</a:t>
            </a:r>
            <a:r>
              <a:rPr lang="zh-CN" altLang="zh-CN" sz="1200" kern="1200" dirty="0">
                <a:solidFill>
                  <a:schemeClr val="tx1"/>
                </a:solidFill>
                <a:effectLst/>
                <a:latin typeface="+mn-lt"/>
                <a:ea typeface="+mn-ea"/>
                <a:cs typeface="+mn-cs"/>
              </a:rPr>
              <a:t>日：贺建奎在香港第二届国际人类基因组编辑峰会上现身，为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结果被意外泄露</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道歉，但坚持为自己的工作辩护。峰会筹委会声明称该做法</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医疗指示不足、研究方案设计不合理、未能达到保护研究对象福利的道德标准</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F4AAF41C-61F9-4662-A7B6-3E2ADAC4AE25}" type="slidenum">
              <a:rPr lang="zh-CN" altLang="en-US" smtClean="0"/>
              <a:t>7</a:t>
            </a:fld>
            <a:endParaRPr lang="zh-CN" altLang="en-US"/>
          </a:p>
        </p:txBody>
      </p:sp>
    </p:spTree>
    <p:extLst>
      <p:ext uri="{BB962C8B-B14F-4D97-AF65-F5344CB8AC3E}">
        <p14:creationId xmlns:p14="http://schemas.microsoft.com/office/powerpoint/2010/main" val="1016132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2019</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日：广东省调查组公布初步查明结果，定性为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为追逐个人名利，自筹资金，蓄意逃避监管，私自组织有关人员，实施国家明令禁止的以生殖为目的的人类胚胎基因编辑活动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。科技部同日回应，已全面暂停相关人员的科技活动。</a:t>
            </a:r>
          </a:p>
          <a:p>
            <a:r>
              <a:rPr lang="en-US" altLang="zh-CN" sz="1200" kern="1200" dirty="0">
                <a:solidFill>
                  <a:schemeClr val="tx1"/>
                </a:solidFill>
                <a:effectLst/>
                <a:latin typeface="+mn-lt"/>
                <a:ea typeface="+mn-ea"/>
                <a:cs typeface="+mn-cs"/>
              </a:rPr>
              <a:t>2019</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30</a:t>
            </a:r>
            <a:r>
              <a:rPr lang="zh-CN" altLang="zh-CN" sz="1200" kern="1200" dirty="0">
                <a:solidFill>
                  <a:schemeClr val="tx1"/>
                </a:solidFill>
                <a:effectLst/>
                <a:latin typeface="+mn-lt"/>
                <a:ea typeface="+mn-ea"/>
                <a:cs typeface="+mn-cs"/>
              </a:rPr>
              <a:t>日：深圳市南山区人民法院一审宣判。贺建奎、张仁礼、覃金洲构成非法行医罪。法院认定三人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未取得医生执业资格，追名逐利，故意违反国家有关科研和医疗管理规定，逾越科研和医学伦理道德底线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判决结果：贺建奎有期徒刑三年，罚金三百万元；张仁礼有期徒刑二年，罚金一百万元；覃金洲有期徒刑一年六个月缓刑二年，罚金五十万元。</a:t>
            </a:r>
          </a:p>
          <a:p>
            <a:r>
              <a:rPr lang="zh-CN" altLang="zh-CN" sz="1200" kern="1200" dirty="0">
                <a:solidFill>
                  <a:schemeClr val="tx1"/>
                </a:solidFill>
                <a:effectLst/>
                <a:latin typeface="+mn-lt"/>
                <a:ea typeface="+mn-ea"/>
                <a:cs typeface="+mn-cs"/>
              </a:rPr>
              <a:t>制度对这类新型越界行为存在不足，最终借用了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非法行医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这一相邻领域的罪名，而非有专门的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基因编辑罪</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在当时可供适用。</a:t>
            </a:r>
          </a:p>
        </p:txBody>
      </p:sp>
      <p:sp>
        <p:nvSpPr>
          <p:cNvPr id="4" name="灯片编号占位符 3"/>
          <p:cNvSpPr>
            <a:spLocks noGrp="1"/>
          </p:cNvSpPr>
          <p:nvPr>
            <p:ph type="sldNum" sz="quarter" idx="5"/>
          </p:nvPr>
        </p:nvSpPr>
        <p:spPr/>
        <p:txBody>
          <a:bodyPr/>
          <a:lstStyle/>
          <a:p>
            <a:fld id="{F4AAF41C-61F9-4662-A7B6-3E2ADAC4AE25}" type="slidenum">
              <a:rPr lang="zh-CN" altLang="en-US" smtClean="0"/>
              <a:t>8</a:t>
            </a:fld>
            <a:endParaRPr lang="zh-CN" altLang="en-US"/>
          </a:p>
        </p:txBody>
      </p:sp>
    </p:spTree>
    <p:extLst>
      <p:ext uri="{BB962C8B-B14F-4D97-AF65-F5344CB8AC3E}">
        <p14:creationId xmlns:p14="http://schemas.microsoft.com/office/powerpoint/2010/main" val="321537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2019</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月《人类遗传资源管理条例》</a:t>
            </a:r>
          </a:p>
          <a:p>
            <a:r>
              <a:rPr lang="en-US" altLang="zh-CN" sz="1200" kern="1200" dirty="0">
                <a:solidFill>
                  <a:schemeClr val="tx1"/>
                </a:solidFill>
                <a:effectLst/>
                <a:latin typeface="+mn-lt"/>
                <a:ea typeface="+mn-ea"/>
                <a:cs typeface="+mn-cs"/>
              </a:rPr>
              <a:t>2020</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月《民法典》首次以基本法律形式规定人体基因、人体胚胎相关活动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不得危害人体健康，不得违背伦理道德，不得损害公共利益</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2020</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月《生物安全法》</a:t>
            </a:r>
          </a:p>
          <a:p>
            <a:r>
              <a:rPr lang="en-US" altLang="zh-CN" sz="1200" kern="1200" dirty="0">
                <a:solidFill>
                  <a:schemeClr val="tx1"/>
                </a:solidFill>
                <a:effectLst/>
                <a:latin typeface="+mn-lt"/>
                <a:ea typeface="+mn-ea"/>
                <a:cs typeface="+mn-cs"/>
              </a:rPr>
              <a:t>2020</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月《刑法修正案（十一）》增设</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非法植入基因编辑、克隆胚胎罪</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2021—2022</a:t>
            </a:r>
            <a:r>
              <a:rPr lang="zh-CN" altLang="zh-CN" sz="1200" kern="1200" dirty="0">
                <a:solidFill>
                  <a:schemeClr val="tx1"/>
                </a:solidFill>
                <a:effectLst/>
                <a:latin typeface="+mn-lt"/>
                <a:ea typeface="+mn-ea"/>
                <a:cs typeface="+mn-cs"/>
              </a:rPr>
              <a:t>年《科学技术进步法》修订、《关于加强科技伦理治理的意见》印发</a:t>
            </a:r>
          </a:p>
          <a:p>
            <a:endParaRPr lang="zh-CN" altLang="en-US" dirty="0"/>
          </a:p>
        </p:txBody>
      </p:sp>
      <p:sp>
        <p:nvSpPr>
          <p:cNvPr id="4" name="灯片编号占位符 3"/>
          <p:cNvSpPr>
            <a:spLocks noGrp="1"/>
          </p:cNvSpPr>
          <p:nvPr>
            <p:ph type="sldNum" sz="quarter" idx="5"/>
          </p:nvPr>
        </p:nvSpPr>
        <p:spPr/>
        <p:txBody>
          <a:bodyPr/>
          <a:lstStyle/>
          <a:p>
            <a:fld id="{F4AAF41C-61F9-4662-A7B6-3E2ADAC4AE25}" type="slidenum">
              <a:rPr lang="zh-CN" altLang="en-US" smtClean="0"/>
              <a:t>9</a:t>
            </a:fld>
            <a:endParaRPr lang="zh-CN" altLang="en-US"/>
          </a:p>
        </p:txBody>
      </p:sp>
    </p:spTree>
    <p:extLst>
      <p:ext uri="{BB962C8B-B14F-4D97-AF65-F5344CB8AC3E}">
        <p14:creationId xmlns:p14="http://schemas.microsoft.com/office/powerpoint/2010/main" val="847621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0D0E7-FBD7-5B1B-6922-5CA5BF9C71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3C8A47-A246-44EC-6086-23115BFD2E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C6F217-1038-D74D-E40E-CE5483C66A34}"/>
              </a:ext>
            </a:extLst>
          </p:cNvPr>
          <p:cNvSpPr>
            <a:spLocks noGrp="1"/>
          </p:cNvSpPr>
          <p:nvPr>
            <p:ph type="body" idx="1"/>
          </p:nvPr>
        </p:nvSpPr>
        <p:spPr/>
        <p:txBody>
          <a:bodyPr/>
          <a:lstStyle/>
          <a:p>
            <a:r>
              <a:rPr lang="en-US" altLang="zh-CN" sz="1200" kern="1200" dirty="0" err="1">
                <a:solidFill>
                  <a:schemeClr val="tx1"/>
                </a:solidFill>
                <a:effectLst/>
                <a:latin typeface="+mn-lt"/>
                <a:ea typeface="+mn-ea"/>
                <a:cs typeface="+mn-cs"/>
              </a:rPr>
              <a:t>自然辩证法认为，人既是自然存在物，也是社会存在物。人的生存和发展离不开自然界，同时也受到社会关系、社会制度和价值观念的影响</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从马克思主义自然观出发，人类通过科学技术和实践活动不断认识自然、改造自然，但这种改造并不意味着人类可以脱离自然规律。与此同时，科学技术并不是孤立发展的，它产生于一定的社会条件之中，其应用也会反过来影响社会关系。</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CRISPR/Cas9 </a:t>
            </a:r>
            <a:r>
              <a:rPr lang="en-US" altLang="zh-CN" sz="1200" kern="1200" dirty="0" err="1">
                <a:solidFill>
                  <a:schemeClr val="tx1"/>
                </a:solidFill>
                <a:effectLst/>
                <a:latin typeface="+mn-lt"/>
                <a:ea typeface="+mn-ea"/>
                <a:cs typeface="+mn-cs"/>
              </a:rPr>
              <a:t>基因编辑技术的出现，使人类能够更有针对性地改变生物体的遗传物质。这意味着人类改造自然的实践进一步深入到生命系统的分子层面</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自然辩证法强调，人的主观能动性与自然规律的客观性是辩证统一的。人类能够利用自然规律，但不能因为掌握了某种技术手段，就认为已经完全认识了复杂的自然系统。</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贺建奎事件反映出的深层问题在于：人类已经具备干预生命遗传结构的技术能力，但对干预后果的认识仍然存在局限。这说明，技术能力的增强并不等于对自然规律的完全掌握。面对复杂生命系统，人类既要发挥认识和改造自然的主动性，也要承认科学认识的有限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88871AF2-63FF-CB0F-1832-E16E9BE99BD9}"/>
              </a:ext>
            </a:extLst>
          </p:cNvPr>
          <p:cNvSpPr>
            <a:spLocks noGrp="1"/>
          </p:cNvSpPr>
          <p:nvPr>
            <p:ph type="sldNum" sz="quarter" idx="5"/>
          </p:nvPr>
        </p:nvSpPr>
        <p:spPr/>
        <p:txBody>
          <a:bodyPr/>
          <a:lstStyle/>
          <a:p>
            <a:fld id="{F4AAF41C-61F9-4662-A7B6-3E2ADAC4AE25}" type="slidenum">
              <a:rPr lang="zh-CN" altLang="en-US" smtClean="0"/>
              <a:t>10</a:t>
            </a:fld>
            <a:endParaRPr lang="zh-CN" altLang="en-US"/>
          </a:p>
        </p:txBody>
      </p:sp>
    </p:spTree>
    <p:extLst>
      <p:ext uri="{BB962C8B-B14F-4D97-AF65-F5344CB8AC3E}">
        <p14:creationId xmlns:p14="http://schemas.microsoft.com/office/powerpoint/2010/main" val="3945563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E7B2-BF78-3515-AB98-F60CF45B06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1E0655-DAFD-00BC-F5FC-0B17341D3D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C9706F-63D5-5CD9-30A7-78C613948973}"/>
              </a:ext>
            </a:extLst>
          </p:cNvPr>
          <p:cNvSpPr>
            <a:spLocks noGrp="1"/>
          </p:cNvSpPr>
          <p:nvPr>
            <p:ph type="body" idx="1"/>
          </p:nvPr>
        </p:nvSpPr>
        <p:spPr/>
        <p:txBody>
          <a:bodyPr/>
          <a:lstStyle/>
          <a:p>
            <a:r>
              <a:rPr lang="en-US" altLang="zh-CN" sz="1200" kern="1200" dirty="0" err="1">
                <a:solidFill>
                  <a:schemeClr val="tx1"/>
                </a:solidFill>
                <a:effectLst/>
                <a:latin typeface="+mn-lt"/>
                <a:ea typeface="+mn-ea"/>
                <a:cs typeface="+mn-cs"/>
              </a:rPr>
              <a:t>基因编辑使生命特征逐渐成为可被人为选择的对象</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9341991-3594-BF2E-9E3D-15114928B5BB}"/>
              </a:ext>
            </a:extLst>
          </p:cNvPr>
          <p:cNvSpPr>
            <a:spLocks noGrp="1"/>
          </p:cNvSpPr>
          <p:nvPr>
            <p:ph type="sldNum" sz="quarter" idx="5"/>
          </p:nvPr>
        </p:nvSpPr>
        <p:spPr/>
        <p:txBody>
          <a:bodyPr/>
          <a:lstStyle/>
          <a:p>
            <a:fld id="{F4AAF41C-61F9-4662-A7B6-3E2ADAC4AE25}" type="slidenum">
              <a:rPr lang="zh-CN" altLang="en-US" smtClean="0"/>
              <a:t>11</a:t>
            </a:fld>
            <a:endParaRPr lang="zh-CN" altLang="en-US"/>
          </a:p>
        </p:txBody>
      </p:sp>
    </p:spTree>
    <p:extLst>
      <p:ext uri="{BB962C8B-B14F-4D97-AF65-F5344CB8AC3E}">
        <p14:creationId xmlns:p14="http://schemas.microsoft.com/office/powerpoint/2010/main" val="3521000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8928-7A3F-2C57-DCB9-2ED8556154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277696-C3CB-EE51-C336-793B2924AC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BC562D-BAE1-A773-A69B-BD4C7EAC8FE6}"/>
              </a:ext>
            </a:extLst>
          </p:cNvPr>
          <p:cNvSpPr>
            <a:spLocks noGrp="1"/>
          </p:cNvSpPr>
          <p:nvPr>
            <p:ph type="body" idx="1"/>
          </p:nvPr>
        </p:nvSpPr>
        <p:spPr/>
        <p:txBody>
          <a:bodyPr/>
          <a:lstStyle/>
          <a:p>
            <a:r>
              <a:rPr lang="zh-CN" altLang="en-US" sz="1200" kern="1200" dirty="0">
                <a:solidFill>
                  <a:schemeClr val="tx1"/>
                </a:solidFill>
                <a:effectLst/>
                <a:latin typeface="+mn-lt"/>
                <a:ea typeface="+mn-ea"/>
                <a:cs typeface="+mn-cs"/>
              </a:rPr>
              <a:t>自然辩证法认为，科学是一种社会劳动，是社会总劳动中的一项基本内容，科学以“精神形态”存在于劳动之中，技术是科学与具体实践相结合的实践活动。自然辩证法将科学技术定位为人类的社会实践活动，而非科学家脱离社会的纯粹智力游戏。</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贺建奎事件中存在着三重责任缺位</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对受试者个体的责任缺位：</a:t>
            </a:r>
            <a:r>
              <a:rPr lang="en-US" altLang="zh-CN" sz="1200" kern="1200" dirty="0">
                <a:solidFill>
                  <a:schemeClr val="tx1"/>
                </a:solidFill>
                <a:effectLst/>
                <a:latin typeface="+mn-lt"/>
                <a:ea typeface="+mn-ea"/>
                <a:cs typeface="+mn-cs"/>
              </a:rPr>
              <a:t>CRISPR</a:t>
            </a:r>
            <a:r>
              <a:rPr lang="zh-CN" altLang="en-US" sz="1200" kern="1200" dirty="0">
                <a:solidFill>
                  <a:schemeClr val="tx1"/>
                </a:solidFill>
                <a:effectLst/>
                <a:latin typeface="+mn-lt"/>
                <a:ea typeface="+mn-ea"/>
                <a:cs typeface="+mn-cs"/>
              </a:rPr>
              <a:t>技术在</a:t>
            </a:r>
            <a:r>
              <a:rPr lang="en-US" altLang="zh-CN" sz="1200" kern="1200" dirty="0">
                <a:solidFill>
                  <a:schemeClr val="tx1"/>
                </a:solidFill>
                <a:effectLst/>
                <a:latin typeface="+mn-lt"/>
                <a:ea typeface="+mn-ea"/>
                <a:cs typeface="+mn-cs"/>
              </a:rPr>
              <a:t>2018</a:t>
            </a:r>
            <a:r>
              <a:rPr lang="zh-CN" altLang="en-US" sz="1200" kern="1200" dirty="0">
                <a:solidFill>
                  <a:schemeClr val="tx1"/>
                </a:solidFill>
                <a:effectLst/>
                <a:latin typeface="+mn-lt"/>
                <a:ea typeface="+mn-ea"/>
                <a:cs typeface="+mn-cs"/>
              </a:rPr>
              <a:t>年的成熟度远未达到临床安全标准。贺建奎团队自己在文献中记录了脱靶突变、非预期片段缺失、胚胎嵌合等问题，但仍然将其应用于人类胚胎。露露、娜娜从出生起就携带未经长期安全性验证的基因改造，她们的终身健康处于不可预测的风险敞口中</a:t>
            </a:r>
          </a:p>
          <a:p>
            <a:r>
              <a:rPr lang="zh-CN" altLang="en-US" sz="1200" kern="1200" dirty="0">
                <a:solidFill>
                  <a:schemeClr val="tx1"/>
                </a:solidFill>
                <a:effectLst/>
                <a:latin typeface="+mn-lt"/>
                <a:ea typeface="+mn-ea"/>
                <a:cs typeface="+mn-cs"/>
              </a:rPr>
              <a:t>对人类后代与基因库的责任缺位：体细胞编辑只影响患者本人，不进入生殖细胞；生殖系编辑改变的是胚胎的每一个细胞，包括未来的精子或卵子。这意味着露露、娜娜结婚生育后，被编辑的</a:t>
            </a:r>
            <a:r>
              <a:rPr lang="en-US" altLang="zh-CN" sz="1200" kern="1200" dirty="0">
                <a:solidFill>
                  <a:schemeClr val="tx1"/>
                </a:solidFill>
                <a:effectLst/>
                <a:latin typeface="+mn-lt"/>
                <a:ea typeface="+mn-ea"/>
                <a:cs typeface="+mn-cs"/>
              </a:rPr>
              <a:t>CCR5Δ32</a:t>
            </a:r>
            <a:r>
              <a:rPr lang="zh-CN" altLang="en-US" sz="1200" kern="1200" dirty="0">
                <a:solidFill>
                  <a:schemeClr val="tx1"/>
                </a:solidFill>
                <a:effectLst/>
                <a:latin typeface="+mn-lt"/>
                <a:ea typeface="+mn-ea"/>
                <a:cs typeface="+mn-cs"/>
              </a:rPr>
              <a:t>突变会流入人类基因池。一旦该突变存在未被发现的长期健康代价，这个风险就不是一代人的事，而是跨世代、跨种群的不可逆介入。</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对科学共同体与社会信任的责任缺位：科学不是孤立的事业。它依赖公共资金、学术共同体的同行评议与规范、公众对科学的信任与容忍度。贺建奎绕过同行评议、伪造伦理审批、在</a:t>
            </a:r>
            <a:r>
              <a:rPr lang="en-US" altLang="zh-CN" sz="1200" kern="1200" dirty="0">
                <a:solidFill>
                  <a:schemeClr val="tx1"/>
                </a:solidFill>
                <a:effectLst/>
                <a:latin typeface="+mn-lt"/>
                <a:ea typeface="+mn-ea"/>
                <a:cs typeface="+mn-cs"/>
              </a:rPr>
              <a:t>YouTube</a:t>
            </a:r>
            <a:r>
              <a:rPr lang="zh-CN" altLang="en-US" sz="1200" kern="1200" dirty="0">
                <a:solidFill>
                  <a:schemeClr val="tx1"/>
                </a:solidFill>
                <a:effectLst/>
                <a:latin typeface="+mn-lt"/>
                <a:ea typeface="+mn-ea"/>
                <a:cs typeface="+mn-cs"/>
              </a:rPr>
              <a:t>上而非学术期刊上率先公布成果，等于在透支整个中国生物学界的信用。事件后全球科学界联合声明谴责，多国收紧基因编辑监管</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这些代价不由贺建奎一人承担，而由所有从事生命科学研究的学者、乃至未来真正需要基因编辑治疗的患者共同承担。</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F579585-F903-2333-3845-45C736805CA4}"/>
              </a:ext>
            </a:extLst>
          </p:cNvPr>
          <p:cNvSpPr>
            <a:spLocks noGrp="1"/>
          </p:cNvSpPr>
          <p:nvPr>
            <p:ph type="sldNum" sz="quarter" idx="5"/>
          </p:nvPr>
        </p:nvSpPr>
        <p:spPr/>
        <p:txBody>
          <a:bodyPr/>
          <a:lstStyle/>
          <a:p>
            <a:fld id="{F4AAF41C-61F9-4662-A7B6-3E2ADAC4AE25}" type="slidenum">
              <a:rPr lang="zh-CN" altLang="en-US" smtClean="0"/>
              <a:t>12</a:t>
            </a:fld>
            <a:endParaRPr lang="zh-CN" altLang="en-US"/>
          </a:p>
        </p:txBody>
      </p:sp>
    </p:spTree>
    <p:extLst>
      <p:ext uri="{BB962C8B-B14F-4D97-AF65-F5344CB8AC3E}">
        <p14:creationId xmlns:p14="http://schemas.microsoft.com/office/powerpoint/2010/main" val="825239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A3F5E-70E4-B48C-4B28-5E89E0DA74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FB2927-4E56-5543-107C-29730199EB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616A59-3AB9-95B1-E183-FEBC9DA53DF4}"/>
              </a:ext>
            </a:extLst>
          </p:cNvPr>
          <p:cNvSpPr>
            <a:spLocks noGrp="1"/>
          </p:cNvSpPr>
          <p:nvPr>
            <p:ph type="body" idx="1"/>
          </p:nvPr>
        </p:nvSpPr>
        <p:spPr/>
        <p:txBody>
          <a:bodyPr/>
          <a:lstStyle/>
          <a:p>
            <a:r>
              <a:rPr lang="zh-CN" altLang="en-US" dirty="0"/>
              <a:t>爱因斯坦曾说过“关心人的本身，应当始终成为一切技术上奋斗的主要目标；关心怎样组织人的劳动和产品分配这样一些尚未解决的重大问题，用以保证我们科学思想的成果会造福于人类，而不致成为祸害。” </a:t>
            </a:r>
            <a:r>
              <a:rPr lang="en-US" altLang="zh-CN" dirty="0"/>
              <a:t>CRISPR/Cas9</a:t>
            </a:r>
            <a:r>
              <a:rPr lang="zh-CN" altLang="en-US" dirty="0"/>
              <a:t>作为基因编辑工具本身是中性的，它可以用于体细胞治疗镰刀型贫血、地中海贫血，也可以用于胚胎生殖系改造。技术</a:t>
            </a:r>
            <a:r>
              <a:rPr lang="en-US" altLang="zh-CN" dirty="0"/>
              <a:t>"</a:t>
            </a:r>
            <a:r>
              <a:rPr lang="zh-CN" altLang="en-US" dirty="0"/>
              <a:t>能不能做</a:t>
            </a:r>
            <a:r>
              <a:rPr lang="en-US" altLang="zh-CN" dirty="0"/>
              <a:t>"</a:t>
            </a:r>
            <a:r>
              <a:rPr lang="zh-CN" altLang="en-US" dirty="0"/>
              <a:t>是工程问题，</a:t>
            </a:r>
            <a:r>
              <a:rPr lang="en-US" altLang="zh-CN" dirty="0"/>
              <a:t>"</a:t>
            </a:r>
            <a:r>
              <a:rPr lang="zh-CN" altLang="en-US" dirty="0"/>
              <a:t>该不该做</a:t>
            </a:r>
            <a:r>
              <a:rPr lang="en-US" altLang="zh-CN" dirty="0"/>
              <a:t>"</a:t>
            </a:r>
            <a:r>
              <a:rPr lang="zh-CN" altLang="en-US" dirty="0"/>
              <a:t>是价值问题。贺建奎的根本错误，就是把工程可行性直接等同于伦理正当性。</a:t>
            </a:r>
            <a:r>
              <a:rPr lang="zh-CN" altLang="zh-CN" sz="1200" kern="1200" dirty="0">
                <a:solidFill>
                  <a:schemeClr val="tx1"/>
                </a:solidFill>
                <a:effectLst/>
                <a:latin typeface="+mn-lt"/>
                <a:ea typeface="+mn-ea"/>
                <a:cs typeface="+mn-cs"/>
              </a:rPr>
              <a:t>自然辩证法强调实践主体的能动性。科学家比普通公众更清楚脱靶效应、嵌合体、</a:t>
            </a:r>
            <a:r>
              <a:rPr lang="en-US" altLang="zh-CN" sz="1200" kern="1200" dirty="0">
                <a:solidFill>
                  <a:schemeClr val="tx1"/>
                </a:solidFill>
                <a:effectLst/>
                <a:latin typeface="+mn-lt"/>
                <a:ea typeface="+mn-ea"/>
                <a:cs typeface="+mn-cs"/>
              </a:rPr>
              <a:t> mosaicism</a:t>
            </a:r>
            <a:r>
              <a:rPr lang="zh-CN" altLang="zh-CN" sz="1200" kern="1200" dirty="0">
                <a:solidFill>
                  <a:schemeClr val="tx1"/>
                </a:solidFill>
                <a:effectLst/>
                <a:latin typeface="+mn-lt"/>
                <a:ea typeface="+mn-ea"/>
                <a:cs typeface="+mn-cs"/>
              </a:rPr>
              <a:t>、多代遗传的风险量级，因此负有更高的风险预判义务和告知义务。</a:t>
            </a:r>
            <a:endParaRPr lang="zh-CN" altLang="en-US" dirty="0"/>
          </a:p>
        </p:txBody>
      </p:sp>
      <p:sp>
        <p:nvSpPr>
          <p:cNvPr id="4" name="灯片编号占位符 3">
            <a:extLst>
              <a:ext uri="{FF2B5EF4-FFF2-40B4-BE49-F238E27FC236}">
                <a16:creationId xmlns:a16="http://schemas.microsoft.com/office/drawing/2014/main" id="{0A942D81-6778-6953-4769-E5C0B34E7542}"/>
              </a:ext>
            </a:extLst>
          </p:cNvPr>
          <p:cNvSpPr>
            <a:spLocks noGrp="1"/>
          </p:cNvSpPr>
          <p:nvPr>
            <p:ph type="sldNum" sz="quarter" idx="5"/>
          </p:nvPr>
        </p:nvSpPr>
        <p:spPr/>
        <p:txBody>
          <a:bodyPr/>
          <a:lstStyle/>
          <a:p>
            <a:fld id="{F4AAF41C-61F9-4662-A7B6-3E2ADAC4AE25}" type="slidenum">
              <a:rPr lang="zh-CN" altLang="en-US" smtClean="0"/>
              <a:t>13</a:t>
            </a:fld>
            <a:endParaRPr lang="zh-CN" altLang="en-US"/>
          </a:p>
        </p:txBody>
      </p:sp>
    </p:spTree>
    <p:extLst>
      <p:ext uri="{BB962C8B-B14F-4D97-AF65-F5344CB8AC3E}">
        <p14:creationId xmlns:p14="http://schemas.microsoft.com/office/powerpoint/2010/main" val="547911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26178-6BDB-688E-BE68-AA99C1FC98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AC8794-CB6A-EB42-3428-B2169B71A0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BF0535-BB05-45A2-27FF-5A6A779722E0}"/>
              </a:ext>
            </a:extLst>
          </p:cNvPr>
          <p:cNvSpPr>
            <a:spLocks noGrp="1"/>
          </p:cNvSpPr>
          <p:nvPr>
            <p:ph type="body" idx="1"/>
          </p:nvPr>
        </p:nvSpPr>
        <p:spPr/>
        <p:txBody>
          <a:bodyPr/>
          <a:lstStyle/>
          <a:p>
            <a:r>
              <a:rPr lang="zh-CN" altLang="en-US" dirty="0"/>
              <a:t>从自然辩证法的科学技术社会观出发，科学研究并不是脱离社会环境的独立活动，而是与社会价值、伦理规范、公共利益和制度环境密切联系。科技创新不仅需要科学上的可行性，也需要伦理上的正当性与社会层面的责任约束。</a:t>
            </a:r>
            <a:endParaRPr lang="en-US" altLang="zh-CN" dirty="0"/>
          </a:p>
          <a:p>
            <a:r>
              <a:rPr lang="zh-CN" altLang="en-US" dirty="0"/>
              <a:t>从科研失信到社会信任危机，</a:t>
            </a:r>
            <a:r>
              <a:rPr lang="en-US" altLang="zh-CN" dirty="0"/>
              <a:t> </a:t>
            </a:r>
            <a:r>
              <a:rPr lang="zh-CN" altLang="en-US" dirty="0"/>
              <a:t>科研诚信是科学社会公信力的重要基础</a:t>
            </a:r>
          </a:p>
          <a:p>
            <a:r>
              <a:rPr lang="zh-CN" altLang="en-US" dirty="0"/>
              <a:t>科学研究不仅依赖技术手段和实验结果，还依赖研究人员之间以及科学共同体与社会公众之间的信任关系。一方面，科研人员需要相信其他研究者提供的信息具有真实性，研究过程遵守基本规范；另一方面，社会公众通常无法独立判断高度复杂的科学实验，因此需要依靠专业机构、伦理审查和政府监管形成对科学活动的基本信任。这种信任并非无条件相信科学家，而是建立在科研活动真实、透明、可检验和可追责的基础之上。</a:t>
            </a:r>
            <a:endParaRPr lang="en-US" altLang="zh-CN" dirty="0"/>
          </a:p>
          <a:p>
            <a:pPr lvl="0" rtl="0"/>
            <a:r>
              <a:rPr lang="zh-CN" altLang="zh-CN" sz="1200" b="1" kern="1200" dirty="0">
                <a:solidFill>
                  <a:schemeClr val="tx1"/>
                </a:solidFill>
                <a:effectLst/>
                <a:latin typeface="+mn-lt"/>
                <a:ea typeface="+mn-ea"/>
                <a:cs typeface="+mn-cs"/>
              </a:rPr>
              <a:t>科研伦理失范对社会信任的三个层次的影响</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）研究参与者与科研人员之间的信任</a:t>
            </a:r>
          </a:p>
          <a:p>
            <a:r>
              <a:rPr lang="zh-CN" altLang="zh-CN" sz="1200" kern="1200" dirty="0">
                <a:solidFill>
                  <a:schemeClr val="tx1"/>
                </a:solidFill>
                <a:effectLst/>
                <a:latin typeface="+mn-lt"/>
                <a:ea typeface="+mn-ea"/>
                <a:cs typeface="+mn-cs"/>
              </a:rPr>
              <a:t>在医学研究中，研究参与者通常处于信息相对不足的位置，需要依赖研究人员提供专业解释和风险说明。如果研究人员隐瞒重要信息、规避伦理程序，参与者就难以判断研究是否真正符合自身利益。这种行为不仅可能损害研究参与者的合法权益，也可能降低其他人参与正规科学研究的意愿。</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）科学共同体内部的信任</a:t>
            </a:r>
          </a:p>
          <a:p>
            <a:r>
              <a:rPr lang="zh-CN" altLang="zh-CN" sz="1200" kern="1200" dirty="0">
                <a:solidFill>
                  <a:schemeClr val="tx1"/>
                </a:solidFill>
                <a:effectLst/>
                <a:latin typeface="+mn-lt"/>
                <a:ea typeface="+mn-ea"/>
                <a:cs typeface="+mn-cs"/>
              </a:rPr>
              <a:t>现代科学研究依赖学术规范、同行评价和科研机构管理等制度，确保科学知识具有可靠性。当研究人员主动绕过伦理审查、提供不真实材料时，不仅损害自身的学术信誉，也可能引发对科研机构管理能力和伦理审查制度有效性的质疑。这一影响可能超越个别研究项目，对相关领域的科学研究环境产生不利影响。</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）科学共同体与社会公众之间的信任</a:t>
            </a:r>
          </a:p>
          <a:p>
            <a:r>
              <a:rPr lang="zh-CN" altLang="zh-CN" sz="1200" kern="1200" dirty="0">
                <a:solidFill>
                  <a:schemeClr val="tx1"/>
                </a:solidFill>
                <a:effectLst/>
                <a:latin typeface="+mn-lt"/>
                <a:ea typeface="+mn-ea"/>
                <a:cs typeface="+mn-cs"/>
              </a:rPr>
              <a:t>科学技术的发展需要社会资源支持，也需要公众对科学活动的理解与认可。尤其在人类基因编辑等具有重大社会影响的领域，公众通常无法直接检验技术的安全性，只能依赖专家判断、监管制度以及信息公开机制。当个别科研人员出现严重伦理失范行为时，公众可能进一步质疑：如果研究人员能够绕过伦理审查，那么现有制度能否有效保障公众利益？由此，原本针对个别科研行为的质疑，可能延伸为对科研治理体系有效性的担忧。</a:t>
            </a:r>
            <a:endParaRPr lang="zh-CN" altLang="en-US" dirty="0"/>
          </a:p>
        </p:txBody>
      </p:sp>
      <p:sp>
        <p:nvSpPr>
          <p:cNvPr id="4" name="灯片编号占位符 3">
            <a:extLst>
              <a:ext uri="{FF2B5EF4-FFF2-40B4-BE49-F238E27FC236}">
                <a16:creationId xmlns:a16="http://schemas.microsoft.com/office/drawing/2014/main" id="{FAC18019-6286-6B23-4922-C83A8736B121}"/>
              </a:ext>
            </a:extLst>
          </p:cNvPr>
          <p:cNvSpPr>
            <a:spLocks noGrp="1"/>
          </p:cNvSpPr>
          <p:nvPr>
            <p:ph type="sldNum" sz="quarter" idx="5"/>
          </p:nvPr>
        </p:nvSpPr>
        <p:spPr/>
        <p:txBody>
          <a:bodyPr/>
          <a:lstStyle/>
          <a:p>
            <a:fld id="{F4AAF41C-61F9-4662-A7B6-3E2ADAC4AE25}" type="slidenum">
              <a:rPr lang="zh-CN" altLang="en-US" smtClean="0"/>
              <a:t>14</a:t>
            </a:fld>
            <a:endParaRPr lang="zh-CN" altLang="en-US"/>
          </a:p>
        </p:txBody>
      </p:sp>
    </p:spTree>
    <p:extLst>
      <p:ext uri="{BB962C8B-B14F-4D97-AF65-F5344CB8AC3E}">
        <p14:creationId xmlns:p14="http://schemas.microsoft.com/office/powerpoint/2010/main" val="2230716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68D06-AD33-05E1-B893-C6D7DA02EA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FEB55D-1F6D-00A4-9A40-33D4E547F6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B8EF9B-7BB5-9B61-57FE-5885F3EB3C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微软雅黑" panose="020B0503020204020204" pitchFamily="34" charset="-122"/>
                <a:ea typeface="微软雅黑" panose="020B0503020204020204" pitchFamily="34" charset="-122"/>
              </a:rPr>
              <a:t>爱斯维尔的</a:t>
            </a:r>
            <a:r>
              <a:rPr lang="en-US" altLang="zh-CN" sz="1200" dirty="0">
                <a:latin typeface="微软雅黑" panose="020B0503020204020204" pitchFamily="34" charset="-122"/>
                <a:ea typeface="微软雅黑" panose="020B0503020204020204" pitchFamily="34" charset="-122"/>
              </a:rPr>
              <a:t>《</a:t>
            </a:r>
            <a:r>
              <a:rPr lang="zh-CN" altLang="zh-CN" sz="1200" dirty="0">
                <a:latin typeface="微软雅黑" panose="020B0503020204020204" pitchFamily="34" charset="-122"/>
                <a:ea typeface="微软雅黑" panose="020B0503020204020204" pitchFamily="34" charset="-122"/>
              </a:rPr>
              <a:t>科研之信：公众注视下的科研人员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显示，</a:t>
            </a:r>
            <a:r>
              <a:rPr lang="zh-CN" altLang="zh-CN" sz="1200" dirty="0">
                <a:latin typeface="微软雅黑" panose="020B0503020204020204" pitchFamily="34" charset="-122"/>
                <a:ea typeface="微软雅黑" panose="020B0503020204020204" pitchFamily="34" charset="-122"/>
              </a:rPr>
              <a:t>中国受访科研人员认为，科研关注度的提升能够在“增进社会效益”（55%）、“影响政策制定”（48%）以及“提升科研质量”（47%）三个方面带来积极影响，但“公众对于科研和科研开展方式的理解不足”（52%）也让其感到担忧。</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微软雅黑" panose="020B0503020204020204" pitchFamily="34" charset="-122"/>
                <a:ea typeface="微软雅黑" panose="020B0503020204020204" pitchFamily="34" charset="-122"/>
              </a:rPr>
              <a:t>科研失信的社会影响机制可以概括为：</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微软雅黑" panose="020B0503020204020204" pitchFamily="34" charset="-122"/>
                <a:ea typeface="微软雅黑" panose="020B0503020204020204" pitchFamily="34" charset="-122"/>
              </a:rPr>
              <a:t>个别研究人员违反伦理规范 → 研究过程的真实性与正当性受到质疑 → 科研机构与科学共同体的监督能力受到审视 → 公众对科技活动和治理制度的信任可能受到影响 → 前沿技术的社会接受与推广可能面临更大的信任障碍</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这一过程可以看出，科研失信的影响并不局限于研究者个人，还可能通过科学共同体和社会制度向外扩展。科学研究的社会公信力是一种需要长期积累的信任资源，而维持这种信任的关键，不只是科学家作出道德承诺，更在于科学活动是否经得起独立审查和实践检验。</a:t>
            </a:r>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322FE06F-9ABF-1A70-B1BF-A8BC717447BA}"/>
              </a:ext>
            </a:extLst>
          </p:cNvPr>
          <p:cNvSpPr>
            <a:spLocks noGrp="1"/>
          </p:cNvSpPr>
          <p:nvPr>
            <p:ph type="sldNum" sz="quarter" idx="5"/>
          </p:nvPr>
        </p:nvSpPr>
        <p:spPr/>
        <p:txBody>
          <a:bodyPr/>
          <a:lstStyle/>
          <a:p>
            <a:fld id="{F4AAF41C-61F9-4662-A7B6-3E2ADAC4AE25}" type="slidenum">
              <a:rPr lang="zh-CN" altLang="en-US" smtClean="0"/>
              <a:t>15</a:t>
            </a:fld>
            <a:endParaRPr lang="zh-CN" altLang="en-US"/>
          </a:p>
        </p:txBody>
      </p:sp>
    </p:spTree>
    <p:extLst>
      <p:ext uri="{BB962C8B-B14F-4D97-AF65-F5344CB8AC3E}">
        <p14:creationId xmlns:p14="http://schemas.microsoft.com/office/powerpoint/2010/main" val="335238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A4360-0CF8-67BD-0BEE-623017942D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0759A8-4E44-A50E-099E-4033811864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8A1076-883F-5268-1933-133C4C20725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482055-7D20-5A1F-2ABE-7EF609BE9D92}"/>
              </a:ext>
            </a:extLst>
          </p:cNvPr>
          <p:cNvSpPr>
            <a:spLocks noGrp="1"/>
          </p:cNvSpPr>
          <p:nvPr>
            <p:ph type="sldNum" sz="quarter" idx="5"/>
          </p:nvPr>
        </p:nvSpPr>
        <p:spPr/>
        <p:txBody>
          <a:bodyPr/>
          <a:lstStyle/>
          <a:p>
            <a:fld id="{F4AAF41C-61F9-4662-A7B6-3E2ADAC4AE25}" type="slidenum">
              <a:rPr lang="zh-CN" altLang="en-US" smtClean="0"/>
              <a:t>16</a:t>
            </a:fld>
            <a:endParaRPr lang="zh-CN" altLang="en-US"/>
          </a:p>
        </p:txBody>
      </p:sp>
    </p:spTree>
    <p:extLst>
      <p:ext uri="{BB962C8B-B14F-4D97-AF65-F5344CB8AC3E}">
        <p14:creationId xmlns:p14="http://schemas.microsoft.com/office/powerpoint/2010/main" val="3958716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FE46-0571-43D8-F827-804E92DD7C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3B7D0E-0B4D-8CA9-83CF-C186979B31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1A0CE6-5EA7-131A-96B4-BEF8B63950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3D98F4B-B467-7418-88BB-733C602E1328}"/>
              </a:ext>
            </a:extLst>
          </p:cNvPr>
          <p:cNvSpPr>
            <a:spLocks noGrp="1"/>
          </p:cNvSpPr>
          <p:nvPr>
            <p:ph type="sldNum" sz="quarter" idx="5"/>
          </p:nvPr>
        </p:nvSpPr>
        <p:spPr/>
        <p:txBody>
          <a:bodyPr/>
          <a:lstStyle/>
          <a:p>
            <a:fld id="{F4AAF41C-61F9-4662-A7B6-3E2ADAC4AE25}" type="slidenum">
              <a:rPr lang="zh-CN" altLang="en-US" smtClean="0"/>
              <a:t>17</a:t>
            </a:fld>
            <a:endParaRPr lang="zh-CN" altLang="en-US"/>
          </a:p>
        </p:txBody>
      </p:sp>
    </p:spTree>
    <p:extLst>
      <p:ext uri="{BB962C8B-B14F-4D97-AF65-F5344CB8AC3E}">
        <p14:creationId xmlns:p14="http://schemas.microsoft.com/office/powerpoint/2010/main" val="3025661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3329C-8286-1BF4-E879-1306233D74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F26E28-0090-8CDE-1E3A-01C51CF107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3F8DF2-7E6D-5F64-CEBB-3C3E82E635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7F013A-301C-95B9-17F3-6B6707CB584A}"/>
              </a:ext>
            </a:extLst>
          </p:cNvPr>
          <p:cNvSpPr>
            <a:spLocks noGrp="1"/>
          </p:cNvSpPr>
          <p:nvPr>
            <p:ph type="sldNum" sz="quarter" idx="5"/>
          </p:nvPr>
        </p:nvSpPr>
        <p:spPr/>
        <p:txBody>
          <a:bodyPr/>
          <a:lstStyle/>
          <a:p>
            <a:fld id="{F4AAF41C-61F9-4662-A7B6-3E2ADAC4AE25}" type="slidenum">
              <a:rPr lang="zh-CN" altLang="en-US" smtClean="0"/>
              <a:t>18</a:t>
            </a:fld>
            <a:endParaRPr lang="zh-CN" altLang="en-US"/>
          </a:p>
        </p:txBody>
      </p:sp>
    </p:spTree>
    <p:extLst>
      <p:ext uri="{BB962C8B-B14F-4D97-AF65-F5344CB8AC3E}">
        <p14:creationId xmlns:p14="http://schemas.microsoft.com/office/powerpoint/2010/main" val="4094360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26579F-6F0B-8D03-3145-13D8B880D40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15115D3-6220-DDB8-5A58-019392A84C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9A69CDA-664D-4791-EEAD-F523498452AA}"/>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B11E5DBA-3356-7291-7CB1-CB2E13F26D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D0C69A3-612F-BE21-B451-A2EE2F424DD5}"/>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2905478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90BFC-4D21-51B1-1BAE-1551D1CD1EF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25410BB-5CFF-D4B5-418F-0AB51DBB877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4504E8B-1823-6F28-AA0A-87562EB2976F}"/>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BC6CBEB8-546F-37A1-571C-4636A6D284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B2B48C-C68F-6D1D-DEC4-FD57F4FF36A7}"/>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3616387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8CA7B1-B7D6-7A5F-7C61-C6929CB5F60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ED53765-653B-9CEC-B1FE-B33CE41B80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CB5CC26-BE45-95D5-D237-B6E2DBBBEC87}"/>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8DE22DDB-EE14-F344-E366-34D46E7CDD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2A7C48-6336-56EC-EE10-E8C1DB77DD4F}"/>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3590056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297F84-3577-A89B-555B-76837D511EB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AF8D87-BC83-CAA6-6279-5077F53B2F4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1DC3E85-1F87-8F2F-C4B3-5F23081B63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2ABDC68-C9AC-1ADB-A24F-0CC75A9B3D13}"/>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0D71A43F-E871-70BD-57CE-AD39F79A465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BFD0384-7488-5155-615F-F7AAFA4FA583}"/>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408347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81799-2BB4-33B1-02E2-1FF17721A49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A1F70B3-8DCF-7970-EFBF-D35BB3FC01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BFBEB10-CC6C-1AB8-FB4D-4050D06E409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5CD0FAF-1576-4E8B-9B84-197B5CC3D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0116CE3-BB95-6AC3-32D0-2A99DF45A18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61175A1-2895-D07B-35CF-9D3F0ED8E8B7}"/>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8" name="页脚占位符 7">
            <a:extLst>
              <a:ext uri="{FF2B5EF4-FFF2-40B4-BE49-F238E27FC236}">
                <a16:creationId xmlns:a16="http://schemas.microsoft.com/office/drawing/2014/main" id="{F9082550-84F6-E2A0-29C6-4B81C7247A9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B6603FE-46FB-F9DD-27B1-B7050F12D0F9}"/>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923239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EB73B8-AD9D-2DB3-5A82-1E186A8847F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DF2ADF5-C177-E512-EC4F-AFB2940FBEB7}"/>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4" name="页脚占位符 3">
            <a:extLst>
              <a:ext uri="{FF2B5EF4-FFF2-40B4-BE49-F238E27FC236}">
                <a16:creationId xmlns:a16="http://schemas.microsoft.com/office/drawing/2014/main" id="{AFB6B829-C189-979C-22DD-517C6984DF1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DB8EB80-4BB8-DF10-E3F9-43BA33125972}"/>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1580823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BEF63F0-CEF9-B8A4-E10C-8671978A9AE3}"/>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3" name="页脚占位符 2">
            <a:extLst>
              <a:ext uri="{FF2B5EF4-FFF2-40B4-BE49-F238E27FC236}">
                <a16:creationId xmlns:a16="http://schemas.microsoft.com/office/drawing/2014/main" id="{0D68CD56-12E7-CB7A-10FC-388E41BDFD9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D9C346A-AE46-F6CE-9126-90B5EFD257D6}"/>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1535167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CB4E5F-61B0-93D4-FAB6-08A69F850BD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EF3F386-D692-468A-C066-73EDC1533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47E1FC6-3067-3239-BE8B-D2857C220D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DD8566-CB91-A1E4-FEA4-96A9B655E1E5}"/>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7736618E-BA6C-8B68-3E86-DB04B18EE1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7B8FCC5-3116-47AF-0D56-A70B2BB5D93E}"/>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1768632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7BE4EC-5BA8-988F-199B-6AAFA1BE985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6826B01-FE6F-469E-B8F6-9D4F033B5A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E924A0C-CA11-D19C-F76A-8016531A74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1066360-CD30-FB77-5143-A212C3608938}"/>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91002D1E-8859-1E0A-AED0-4F65938F7EC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82487B6-7ED6-A3F5-1022-02589AC6D796}"/>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1499134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135BCD-6C12-D3B6-BD33-1FBA55EF27E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4A43B2-00DA-BF6E-9E77-5780417B71A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649537-FA20-0A1F-875C-3F3181F808C9}"/>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CEABA168-3233-61A0-41CB-A93F2976F24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1156B0-0E55-65B7-775B-381F9531F85F}"/>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610402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995263-8250-483E-FB75-D0BCCFDB8F4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2F21927-0339-BD8D-52C2-CFEC025C8D0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33487D8-21D4-AEF7-4DD4-7C6C026BE30A}"/>
              </a:ext>
            </a:extLst>
          </p:cNvPr>
          <p:cNvSpPr>
            <a:spLocks noGrp="1"/>
          </p:cNvSpPr>
          <p:nvPr>
            <p:ph type="dt" sz="half" idx="10"/>
          </p:nvPr>
        </p:nvSpPr>
        <p:spPr/>
        <p:txBody>
          <a:bodyPr/>
          <a:lstStyle/>
          <a:p>
            <a:fld id="{5557BA5A-BA7E-472A-BB69-3D8C6A2C9A37}"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C8B367D5-CBA6-C8CB-5B88-26A4B17B23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3F08F6-54B5-E3E5-360C-21778E601A70}"/>
              </a:ext>
            </a:extLst>
          </p:cNvPr>
          <p:cNvSpPr>
            <a:spLocks noGrp="1"/>
          </p:cNvSpPr>
          <p:nvPr>
            <p:ph type="sldNum" sz="quarter" idx="12"/>
          </p:nvPr>
        </p:nvSpPr>
        <p:spPr/>
        <p:txBody>
          <a:body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275582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4EB9D77-5CB0-494F-5834-E2DF6778A2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876D11B-9514-C0DF-96DD-D04ABAE763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75BBD2-F284-249A-BCF3-7FFC09A24D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57BA5A-BA7E-472A-BB69-3D8C6A2C9A37}"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8536DFEE-738D-EB39-E574-8F12EA9508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A916335-E828-35F4-8231-46D7773024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D6D382-AF7F-4E26-99E4-321AAB2DB9ED}" type="slidenum">
              <a:rPr lang="zh-CN" altLang="en-US" smtClean="0"/>
              <a:t>‹#›</a:t>
            </a:fld>
            <a:endParaRPr lang="zh-CN" altLang="en-US"/>
          </a:p>
        </p:txBody>
      </p:sp>
    </p:spTree>
    <p:extLst>
      <p:ext uri="{BB962C8B-B14F-4D97-AF65-F5344CB8AC3E}">
        <p14:creationId xmlns:p14="http://schemas.microsoft.com/office/powerpoint/2010/main" val="4252886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jpeg"/><Relationship Id="rId10" Type="http://schemas.openxmlformats.org/officeDocument/2006/relationships/image" Target="../media/image6.png"/><Relationship Id="rId4" Type="http://schemas.openxmlformats.org/officeDocument/2006/relationships/notesSlide" Target="../notesSlides/notesSlide1.xml"/><Relationship Id="rId9" Type="http://schemas.openxmlformats.org/officeDocument/2006/relationships/image" Target="../media/image5.svg"/></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3" Type="http://schemas.openxmlformats.org/officeDocument/2006/relationships/tags" Target="../tags/tag5.xml"/><Relationship Id="rId21" Type="http://schemas.openxmlformats.org/officeDocument/2006/relationships/slideLayout" Target="../slideLayouts/slideLayout1.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image" Target="../media/image10.svg"/><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image" Target="../media/image9.svg"/><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image" Target="../media/image8.png"/><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11.png"/><Relationship Id="rId5" Type="http://schemas.openxmlformats.org/officeDocument/2006/relationships/image" Target="../media/image7.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24.xml"/><Relationship Id="rId5" Type="http://schemas.openxmlformats.org/officeDocument/2006/relationships/image" Target="../media/image13.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5.xml"/><Relationship Id="rId5" Type="http://schemas.openxmlformats.org/officeDocument/2006/relationships/image" Target="../media/image1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27.xml"/><Relationship Id="rId5" Type="http://schemas.openxmlformats.org/officeDocument/2006/relationships/image" Target="../media/image17.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8.xml"/><Relationship Id="rId5" Type="http://schemas.openxmlformats.org/officeDocument/2006/relationships/image" Target="../media/image7.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31.xml"/><Relationship Id="rId7"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10" Type="http://schemas.openxmlformats.org/officeDocument/2006/relationships/image" Target="../media/image18.png"/><Relationship Id="rId4" Type="http://schemas.openxmlformats.org/officeDocument/2006/relationships/tags" Target="../tags/tag32.xml"/><Relationship Id="rId9"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0.jpe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9.png"/><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21.jpe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47.xml"/><Relationship Id="rId5" Type="http://schemas.openxmlformats.org/officeDocument/2006/relationships/image" Target="../media/image2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4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49.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2.png"/><Relationship Id="rId5" Type="http://schemas.openxmlformats.org/officeDocument/2006/relationships/image" Target="../media/image1.jpeg"/><Relationship Id="rId10" Type="http://schemas.openxmlformats.org/officeDocument/2006/relationships/image" Target="../media/image5.svg"/><Relationship Id="rId4" Type="http://schemas.openxmlformats.org/officeDocument/2006/relationships/notesSlide" Target="../notesSlides/notesSlide17.xml"/><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E235D260-47CF-CDC9-7255-F9E217C84B88}"/>
              </a:ext>
            </a:extLst>
          </p:cNvPr>
          <p:cNvPicPr>
            <a:picLocks noChangeAspect="1"/>
          </p:cNvPicPr>
          <p:nvPr/>
        </p:nvPicPr>
        <p:blipFill>
          <a:blip r:embed="rId5">
            <a:extLst>
              <a:ext uri="{28A0092B-C50C-407E-A947-70E740481C1C}">
                <a14:useLocalDpi xmlns:a14="http://schemas.microsoft.com/office/drawing/2010/main" val="0"/>
              </a:ext>
            </a:extLst>
          </a:blip>
          <a:srcRect t="24015" b="33601"/>
          <a:stretch>
            <a:fillRect/>
          </a:stretch>
        </p:blipFill>
        <p:spPr>
          <a:xfrm>
            <a:off x="1482" y="1314993"/>
            <a:ext cx="12189029" cy="3439887"/>
          </a:xfrm>
          <a:prstGeom prst="rect">
            <a:avLst/>
          </a:prstGeom>
        </p:spPr>
      </p:pic>
      <p:sp>
        <p:nvSpPr>
          <p:cNvPr id="22" name="矩形 21">
            <a:extLst>
              <a:ext uri="{FF2B5EF4-FFF2-40B4-BE49-F238E27FC236}">
                <a16:creationId xmlns:a16="http://schemas.microsoft.com/office/drawing/2014/main" id="{B9F0F11D-1C49-80C7-F32A-48BF5FFD4C1D}"/>
              </a:ext>
            </a:extLst>
          </p:cNvPr>
          <p:cNvSpPr/>
          <p:nvPr/>
        </p:nvSpPr>
        <p:spPr>
          <a:xfrm>
            <a:off x="-1482" y="1314993"/>
            <a:ext cx="12177154" cy="3439887"/>
          </a:xfrm>
          <a:prstGeom prst="rect">
            <a:avLst/>
          </a:prstGeom>
          <a:gradFill>
            <a:gsLst>
              <a:gs pos="0">
                <a:srgbClr val="0F349D">
                  <a:alpha val="0"/>
                </a:srgbClr>
              </a:gs>
              <a:gs pos="100000">
                <a:srgbClr val="0F349D"/>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7F4A88F2-4939-7803-648E-0B9E64151409}"/>
              </a:ext>
            </a:extLst>
          </p:cNvPr>
          <p:cNvPicPr>
            <a:picLocks noChangeAspect="1"/>
          </p:cNvPicPr>
          <p:nvPr/>
        </p:nvPicPr>
        <p:blipFill>
          <a:blip r:embed="rId6">
            <a:extLst>
              <a:ext uri="{28A0092B-C50C-407E-A947-70E740481C1C}">
                <a14:useLocalDpi xmlns:a14="http://schemas.microsoft.com/office/drawing/2010/main" val="0"/>
              </a:ext>
            </a:extLst>
          </a:blip>
          <a:srcRect t="7472" b="7689"/>
          <a:stretch>
            <a:fillRect/>
          </a:stretch>
        </p:blipFill>
        <p:spPr>
          <a:xfrm>
            <a:off x="-1483" y="-13788"/>
            <a:ext cx="12177154" cy="6885576"/>
          </a:xfrm>
          <a:custGeom>
            <a:avLst/>
            <a:gdLst>
              <a:gd name="connsiteX0" fmla="*/ 0 w 12177154"/>
              <a:gd name="connsiteY0" fmla="*/ 0 h 6885576"/>
              <a:gd name="connsiteX1" fmla="*/ 12177154 w 12177154"/>
              <a:gd name="connsiteY1" fmla="*/ 0 h 6885576"/>
              <a:gd name="connsiteX2" fmla="*/ 12177154 w 12177154"/>
              <a:gd name="connsiteY2" fmla="*/ 6885576 h 6885576"/>
              <a:gd name="connsiteX3" fmla="*/ 9653483 w 12177154"/>
              <a:gd name="connsiteY3" fmla="*/ 6885576 h 6885576"/>
              <a:gd name="connsiteX4" fmla="*/ 9653483 w 12177154"/>
              <a:gd name="connsiteY4" fmla="*/ 6871788 h 6885576"/>
              <a:gd name="connsiteX5" fmla="*/ 10430424 w 12177154"/>
              <a:gd name="connsiteY5" fmla="*/ 6871788 h 6885576"/>
              <a:gd name="connsiteX6" fmla="*/ 10430424 w 12177154"/>
              <a:gd name="connsiteY6" fmla="*/ 4779498 h 6885576"/>
              <a:gd name="connsiteX7" fmla="*/ 7519883 w 12177154"/>
              <a:gd name="connsiteY7" fmla="*/ 4779498 h 6885576"/>
              <a:gd name="connsiteX8" fmla="*/ 7519883 w 12177154"/>
              <a:gd name="connsiteY8" fmla="*/ 6871788 h 6885576"/>
              <a:gd name="connsiteX9" fmla="*/ 7878471 w 12177154"/>
              <a:gd name="connsiteY9" fmla="*/ 6871788 h 6885576"/>
              <a:gd name="connsiteX10" fmla="*/ 7878471 w 12177154"/>
              <a:gd name="connsiteY10" fmla="*/ 6885576 h 6885576"/>
              <a:gd name="connsiteX11" fmla="*/ 0 w 12177154"/>
              <a:gd name="connsiteY11" fmla="*/ 6885576 h 6885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77154" h="6885576">
                <a:moveTo>
                  <a:pt x="0" y="0"/>
                </a:moveTo>
                <a:lnTo>
                  <a:pt x="12177154" y="0"/>
                </a:lnTo>
                <a:lnTo>
                  <a:pt x="12177154" y="6885576"/>
                </a:lnTo>
                <a:lnTo>
                  <a:pt x="9653483" y="6885576"/>
                </a:lnTo>
                <a:lnTo>
                  <a:pt x="9653483" y="6871788"/>
                </a:lnTo>
                <a:lnTo>
                  <a:pt x="10430424" y="6871788"/>
                </a:lnTo>
                <a:lnTo>
                  <a:pt x="10430424" y="4779498"/>
                </a:lnTo>
                <a:lnTo>
                  <a:pt x="7519883" y="4779498"/>
                </a:lnTo>
                <a:lnTo>
                  <a:pt x="7519883" y="6871788"/>
                </a:lnTo>
                <a:lnTo>
                  <a:pt x="7878471" y="6871788"/>
                </a:lnTo>
                <a:lnTo>
                  <a:pt x="7878471" y="6885576"/>
                </a:lnTo>
                <a:lnTo>
                  <a:pt x="0" y="6885576"/>
                </a:lnTo>
                <a:close/>
              </a:path>
            </a:pathLst>
          </a:custGeom>
        </p:spPr>
      </p:pic>
      <p:pic>
        <p:nvPicPr>
          <p:cNvPr id="24" name="图片 23">
            <a:extLst>
              <a:ext uri="{FF2B5EF4-FFF2-40B4-BE49-F238E27FC236}">
                <a16:creationId xmlns:a16="http://schemas.microsoft.com/office/drawing/2014/main" id="{6E043F15-D05B-2175-6077-87F6CB39E9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5222" y="242410"/>
            <a:ext cx="3954641" cy="830173"/>
          </a:xfrm>
          <a:prstGeom prst="rect">
            <a:avLst/>
          </a:prstGeom>
        </p:spPr>
      </p:pic>
      <p:grpSp>
        <p:nvGrpSpPr>
          <p:cNvPr id="16" name="组合 15">
            <a:extLst>
              <a:ext uri="{FF2B5EF4-FFF2-40B4-BE49-F238E27FC236}">
                <a16:creationId xmlns:a16="http://schemas.microsoft.com/office/drawing/2014/main" id="{49CA2964-0FDF-9517-D764-3D44D81567AD}"/>
              </a:ext>
            </a:extLst>
          </p:cNvPr>
          <p:cNvGrpSpPr/>
          <p:nvPr/>
        </p:nvGrpSpPr>
        <p:grpSpPr>
          <a:xfrm>
            <a:off x="7888942" y="6083661"/>
            <a:ext cx="3898065" cy="573630"/>
            <a:chOff x="7888942" y="6083661"/>
            <a:chExt cx="3898065" cy="573630"/>
          </a:xfrm>
        </p:grpSpPr>
        <p:pic>
          <p:nvPicPr>
            <p:cNvPr id="2" name="图形 1">
              <a:extLst>
                <a:ext uri="{FF2B5EF4-FFF2-40B4-BE49-F238E27FC236}">
                  <a16:creationId xmlns:a16="http://schemas.microsoft.com/office/drawing/2014/main" id="{8F9C2AFA-1C71-8E58-7746-BA8C3FB31D09}"/>
                </a:ext>
              </a:extLst>
            </p:cNvPr>
            <p:cNvPicPr>
              <a:picLocks noChangeAspect="1"/>
            </p:cNvPicPr>
            <p:nvPr>
              <p:custDataLst>
                <p:tags r:id="rId2"/>
              </p:custDataLst>
            </p:nvPr>
          </p:nvPicPr>
          <p:blipFill>
            <a:blip>
              <a:extLst>
                <a:ext uri="{96DAC541-7B7A-43D3-8B79-37D633B846F1}">
                  <asvg:svgBlip xmlns:asvg="http://schemas.microsoft.com/office/drawing/2016/SVG/main" r:embed="rId8"/>
                </a:ext>
              </a:extLst>
            </a:blip>
            <a:stretch>
              <a:fillRect/>
            </a:stretch>
          </p:blipFill>
          <p:spPr>
            <a:xfrm>
              <a:off x="7888942" y="6083661"/>
              <a:ext cx="573630" cy="573630"/>
            </a:xfrm>
            <a:prstGeom prst="rect">
              <a:avLst/>
            </a:prstGeom>
          </p:spPr>
        </p:pic>
        <p:sp>
          <p:nvSpPr>
            <p:cNvPr id="3" name="文本框 2">
              <a:extLst>
                <a:ext uri="{FF2B5EF4-FFF2-40B4-BE49-F238E27FC236}">
                  <a16:creationId xmlns:a16="http://schemas.microsoft.com/office/drawing/2014/main" id="{08ABCE6A-A615-2CBA-EFA2-C8896DB884AA}"/>
                </a:ext>
              </a:extLst>
            </p:cNvPr>
            <p:cNvSpPr txBox="1"/>
            <p:nvPr/>
          </p:nvSpPr>
          <p:spPr>
            <a:xfrm>
              <a:off x="8701905" y="6185810"/>
              <a:ext cx="3085102" cy="369332"/>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tabLst/>
                <a:defRPr/>
              </a:pPr>
              <a:r>
                <a:rPr lang="zh-CN" altLang="en-US" b="1" kern="100" dirty="0">
                  <a:solidFill>
                    <a:srgbClr val="0F349D"/>
                  </a:solidFill>
                  <a:latin typeface="Times New Roman" panose="02020603050405020304" pitchFamily="18" charset="0"/>
                  <a:ea typeface="微软雅黑" panose="020B0503020204020204" pitchFamily="34" charset="-122"/>
                </a:rPr>
                <a:t>时间</a:t>
              </a:r>
              <a:r>
                <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a:t>
              </a:r>
              <a:r>
                <a:rPr kumimoji="0" lang="en-US"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2026</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年</a:t>
              </a:r>
              <a:r>
                <a:rPr lang="en-US" altLang="zh-CN" kern="100" dirty="0">
                  <a:latin typeface="Times New Roman" panose="02020603050405020304" pitchFamily="18" charset="0"/>
                  <a:ea typeface="微软雅黑" panose="020B0503020204020204" pitchFamily="34" charset="-122"/>
                </a:rPr>
                <a:t>10</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月</a:t>
              </a:r>
              <a:r>
                <a:rPr kumimoji="0" lang="en-US"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22</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日</a:t>
              </a:r>
              <a:endPar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p:txBody>
        </p:sp>
      </p:grpSp>
      <p:grpSp>
        <p:nvGrpSpPr>
          <p:cNvPr id="15" name="组合 14">
            <a:extLst>
              <a:ext uri="{FF2B5EF4-FFF2-40B4-BE49-F238E27FC236}">
                <a16:creationId xmlns:a16="http://schemas.microsoft.com/office/drawing/2014/main" id="{7D5D3DF8-AE15-2F49-979B-8E7484D06EF5}"/>
              </a:ext>
            </a:extLst>
          </p:cNvPr>
          <p:cNvGrpSpPr/>
          <p:nvPr/>
        </p:nvGrpSpPr>
        <p:grpSpPr>
          <a:xfrm>
            <a:off x="7888942" y="5151790"/>
            <a:ext cx="3898065" cy="615576"/>
            <a:chOff x="7888942" y="5151790"/>
            <a:chExt cx="3898065" cy="615576"/>
          </a:xfrm>
        </p:grpSpPr>
        <p:pic>
          <p:nvPicPr>
            <p:cNvPr id="5" name="图形 4">
              <a:extLst>
                <a:ext uri="{FF2B5EF4-FFF2-40B4-BE49-F238E27FC236}">
                  <a16:creationId xmlns:a16="http://schemas.microsoft.com/office/drawing/2014/main" id="{21E26C23-2A89-7D0F-45F9-E5C46DC69639}"/>
                </a:ext>
              </a:extLst>
            </p:cNvPr>
            <p:cNvPicPr>
              <a:picLocks noChangeAspect="1"/>
            </p:cNvPicPr>
            <p:nvPr>
              <p:custDataLst>
                <p:tags r:id="rId1"/>
              </p:custDataLst>
            </p:nvPr>
          </p:nvPicPr>
          <p:blipFill>
            <a:blip>
              <a:extLst>
                <a:ext uri="{96DAC541-7B7A-43D3-8B79-37D633B846F1}">
                  <asvg:svgBlip xmlns:asvg="http://schemas.microsoft.com/office/drawing/2016/SVG/main" r:embed="rId9"/>
                </a:ext>
              </a:extLst>
            </a:blip>
            <a:stretch>
              <a:fillRect/>
            </a:stretch>
          </p:blipFill>
          <p:spPr>
            <a:xfrm>
              <a:off x="7888942" y="5151790"/>
              <a:ext cx="615576" cy="615576"/>
            </a:xfrm>
            <a:prstGeom prst="rect">
              <a:avLst/>
            </a:prstGeom>
          </p:spPr>
        </p:pic>
        <p:sp>
          <p:nvSpPr>
            <p:cNvPr id="6" name="文本框 5">
              <a:extLst>
                <a:ext uri="{FF2B5EF4-FFF2-40B4-BE49-F238E27FC236}">
                  <a16:creationId xmlns:a16="http://schemas.microsoft.com/office/drawing/2014/main" id="{5B4E9DD3-D755-7821-8075-76089EFE040F}"/>
                </a:ext>
              </a:extLst>
            </p:cNvPr>
            <p:cNvSpPr txBox="1"/>
            <p:nvPr/>
          </p:nvSpPr>
          <p:spPr>
            <a:xfrm>
              <a:off x="8701905" y="5274912"/>
              <a:ext cx="3085102" cy="369332"/>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tabLst/>
                <a:defRPr/>
              </a:pPr>
              <a:r>
                <a:rPr lang="zh-CN" altLang="en-US" b="1" kern="100" dirty="0">
                  <a:solidFill>
                    <a:srgbClr val="0F349D"/>
                  </a:solidFill>
                  <a:latin typeface="Times New Roman" panose="02020603050405020304" pitchFamily="18" charset="0"/>
                  <a:ea typeface="微软雅黑" panose="020B0503020204020204" pitchFamily="34" charset="-122"/>
                </a:rPr>
                <a:t>组别</a:t>
              </a:r>
              <a:r>
                <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第</a:t>
              </a:r>
              <a:r>
                <a:rPr kumimoji="0" lang="en-US"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2</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小组</a:t>
              </a:r>
              <a:endPar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p:txBody>
        </p:sp>
      </p:grpSp>
      <p:sp>
        <p:nvSpPr>
          <p:cNvPr id="8" name="文本框 7">
            <a:extLst>
              <a:ext uri="{FF2B5EF4-FFF2-40B4-BE49-F238E27FC236}">
                <a16:creationId xmlns:a16="http://schemas.microsoft.com/office/drawing/2014/main" id="{F80102D8-B31E-76CE-CBBC-5BF569DF88BF}"/>
              </a:ext>
            </a:extLst>
          </p:cNvPr>
          <p:cNvSpPr txBox="1"/>
          <p:nvPr/>
        </p:nvSpPr>
        <p:spPr>
          <a:xfrm>
            <a:off x="3892630" y="1523715"/>
            <a:ext cx="4401382" cy="338554"/>
          </a:xfrm>
          <a:prstGeom prst="rect">
            <a:avLst/>
          </a:prstGeom>
          <a:noFill/>
        </p:spPr>
        <p:txBody>
          <a:bodyPr wrap="square">
            <a:spAutoFit/>
          </a:bodyPr>
          <a:lstStyle/>
          <a:p>
            <a:pPr algn="dist"/>
            <a:r>
              <a:rPr kumimoji="0" lang="zh-CN" altLang="en-US" sz="1600" b="0" i="0" u="none" strike="noStrike" kern="100" cap="none" spc="0" normalizeH="0" baseline="0" noProof="0" dirty="0">
                <a:ln>
                  <a:noFill/>
                </a:ln>
                <a:solidFill>
                  <a:schemeClr val="bg1"/>
                </a:solidFill>
                <a:effectLst/>
                <a:uLnTx/>
                <a:uFillTx/>
                <a:latin typeface="Times New Roman" panose="02020603050405020304" pitchFamily="18" charset="0"/>
                <a:ea typeface="微软雅黑" panose="020B0503020204020204" pitchFamily="34" charset="-122"/>
                <a:cs typeface="+mn-cs"/>
              </a:rPr>
              <a:t>自然辩证法概论课程汇报</a:t>
            </a:r>
            <a:endParaRPr lang="zh-CN" altLang="en-US" sz="1600" dirty="0">
              <a:solidFill>
                <a:schemeClr val="bg1"/>
              </a:solidFill>
            </a:endParaRPr>
          </a:p>
        </p:txBody>
      </p:sp>
      <p:pic>
        <p:nvPicPr>
          <p:cNvPr id="18" name="图片 17">
            <a:extLst>
              <a:ext uri="{FF2B5EF4-FFF2-40B4-BE49-F238E27FC236}">
                <a16:creationId xmlns:a16="http://schemas.microsoft.com/office/drawing/2014/main" id="{D981CF39-A846-78C4-26C8-A0B4D814D27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5899" y="1738540"/>
            <a:ext cx="11760203" cy="2901948"/>
          </a:xfrm>
          <a:prstGeom prst="rect">
            <a:avLst/>
          </a:prstGeom>
        </p:spPr>
      </p:pic>
    </p:spTree>
    <p:extLst>
      <p:ext uri="{BB962C8B-B14F-4D97-AF65-F5344CB8AC3E}">
        <p14:creationId xmlns:p14="http://schemas.microsoft.com/office/powerpoint/2010/main" val="1984014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9891-5B57-70FF-8771-E33674695FE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001B7AB-A75E-A03B-D2BB-7F0C6C9DCA95}"/>
              </a:ext>
            </a:extLst>
          </p:cNvPr>
          <p:cNvPicPr>
            <a:picLocks noChangeAspect="1"/>
          </p:cNvPicPr>
          <p:nvPr/>
        </p:nvPicPr>
        <p:blipFill>
          <a:blip r:embed="rId22">
            <a:extLst>
              <a:ext uri="{28A0092B-C50C-407E-A947-70E740481C1C}">
                <a14:useLocalDpi xmlns:a14="http://schemas.microsoft.com/office/drawing/2010/main" val="0"/>
              </a:ext>
            </a:extLst>
          </a:blip>
          <a:srcRect t="40390" b="40390"/>
          <a:stretch/>
        </p:blipFill>
        <p:spPr>
          <a:xfrm>
            <a:off x="8190" y="0"/>
            <a:ext cx="12183810" cy="1561880"/>
          </a:xfrm>
          <a:prstGeom prst="rect">
            <a:avLst/>
          </a:prstGeom>
        </p:spPr>
      </p:pic>
      <p:sp>
        <p:nvSpPr>
          <p:cNvPr id="4" name="图形">
            <a:extLst>
              <a:ext uri="{FF2B5EF4-FFF2-40B4-BE49-F238E27FC236}">
                <a16:creationId xmlns:a16="http://schemas.microsoft.com/office/drawing/2014/main" id="{8C9C2FBB-3DC6-CE87-6C6C-F23CD20F80C3}"/>
              </a:ext>
            </a:extLst>
          </p:cNvPr>
          <p:cNvSpPr/>
          <p:nvPr/>
        </p:nvSpPr>
        <p:spPr>
          <a:xfrm>
            <a:off x="8190" y="0"/>
            <a:ext cx="12187905" cy="1561880"/>
          </a:xfrm>
          <a:prstGeom prst="rect">
            <a:avLst/>
          </a:prstGeom>
          <a:gradFill>
            <a:gsLst>
              <a:gs pos="0">
                <a:srgbClr val="0F349D"/>
              </a:gs>
              <a:gs pos="100000">
                <a:srgbClr val="0F349D">
                  <a:alpha val="6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sp>
        <p:nvSpPr>
          <p:cNvPr id="5" name="矩形 4">
            <a:extLst>
              <a:ext uri="{FF2B5EF4-FFF2-40B4-BE49-F238E27FC236}">
                <a16:creationId xmlns:a16="http://schemas.microsoft.com/office/drawing/2014/main" id="{14D903C5-101E-B648-C4EE-A263D91B6F57}"/>
              </a:ext>
            </a:extLst>
          </p:cNvPr>
          <p:cNvSpPr/>
          <p:nvPr/>
        </p:nvSpPr>
        <p:spPr>
          <a:xfrm>
            <a:off x="-2" y="6572591"/>
            <a:ext cx="12192002" cy="295154"/>
          </a:xfrm>
          <a:prstGeom prst="rect">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a:cs typeface="Arial"/>
            </a:endParaRPr>
          </a:p>
        </p:txBody>
      </p:sp>
      <p:grpSp>
        <p:nvGrpSpPr>
          <p:cNvPr id="58" name="组合 57">
            <a:extLst>
              <a:ext uri="{FF2B5EF4-FFF2-40B4-BE49-F238E27FC236}">
                <a16:creationId xmlns:a16="http://schemas.microsoft.com/office/drawing/2014/main" id="{CD8FFDEC-CEA7-761E-1DA4-D77EE1211EDA}"/>
              </a:ext>
            </a:extLst>
          </p:cNvPr>
          <p:cNvGrpSpPr/>
          <p:nvPr/>
        </p:nvGrpSpPr>
        <p:grpSpPr>
          <a:xfrm>
            <a:off x="3005764" y="4944562"/>
            <a:ext cx="8998735" cy="1540433"/>
            <a:chOff x="335765" y="5040280"/>
            <a:chExt cx="8998735" cy="1540433"/>
          </a:xfrm>
        </p:grpSpPr>
        <p:sp>
          <p:nvSpPr>
            <p:cNvPr id="18" name="图形">
              <a:extLst>
                <a:ext uri="{FF2B5EF4-FFF2-40B4-BE49-F238E27FC236}">
                  <a16:creationId xmlns:a16="http://schemas.microsoft.com/office/drawing/2014/main" id="{AB7F6203-B672-8B13-2339-5641AFF0E318}"/>
                </a:ext>
              </a:extLst>
            </p:cNvPr>
            <p:cNvSpPr/>
            <p:nvPr>
              <p:custDataLst>
                <p:tags r:id="rId17"/>
              </p:custDataLst>
            </p:nvPr>
          </p:nvSpPr>
          <p:spPr>
            <a:xfrm>
              <a:off x="335765" y="5314194"/>
              <a:ext cx="8998735" cy="1209600"/>
            </a:xfrm>
            <a:prstGeom prst="rect">
              <a:avLst/>
            </a:prstGeom>
            <a:solidFill>
              <a:schemeClr val="bg1"/>
            </a:solidFill>
            <a:ln>
              <a:noFill/>
            </a:ln>
            <a:effectLst>
              <a:outerShdw blurRad="5588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grpSp>
          <p:nvGrpSpPr>
            <p:cNvPr id="19" name="组合 18">
              <a:extLst>
                <a:ext uri="{FF2B5EF4-FFF2-40B4-BE49-F238E27FC236}">
                  <a16:creationId xmlns:a16="http://schemas.microsoft.com/office/drawing/2014/main" id="{2FAECFA1-2218-68B2-4BFC-0333846613C5}"/>
                </a:ext>
              </a:extLst>
            </p:cNvPr>
            <p:cNvGrpSpPr/>
            <p:nvPr/>
          </p:nvGrpSpPr>
          <p:grpSpPr>
            <a:xfrm>
              <a:off x="1835644" y="5040280"/>
              <a:ext cx="1648878" cy="1331975"/>
              <a:chOff x="3479" y="4021"/>
              <a:chExt cx="2456" cy="1984"/>
            </a:xfrm>
          </p:grpSpPr>
          <p:sp>
            <p:nvSpPr>
              <p:cNvPr id="28" name="图形">
                <a:extLst>
                  <a:ext uri="{FF2B5EF4-FFF2-40B4-BE49-F238E27FC236}">
                    <a16:creationId xmlns:a16="http://schemas.microsoft.com/office/drawing/2014/main" id="{31D91325-4997-856B-CAF9-A5140828172D}"/>
                  </a:ext>
                </a:extLst>
              </p:cNvPr>
              <p:cNvSpPr/>
              <p:nvPr>
                <p:custDataLst>
                  <p:tags r:id="rId18"/>
                </p:custDataLst>
              </p:nvPr>
            </p:nvSpPr>
            <p:spPr>
              <a:xfrm>
                <a:off x="3479" y="4021"/>
                <a:ext cx="2456" cy="408"/>
              </a:xfrm>
              <a:prstGeom prst="trapezoid">
                <a:avLst>
                  <a:gd name="adj" fmla="val 58087"/>
                </a:avLst>
              </a:prstGeom>
              <a:solidFill>
                <a:srgbClr val="0F349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sp>
            <p:nvSpPr>
              <p:cNvPr id="29" name="图形">
                <a:extLst>
                  <a:ext uri="{FF2B5EF4-FFF2-40B4-BE49-F238E27FC236}">
                    <a16:creationId xmlns:a16="http://schemas.microsoft.com/office/drawing/2014/main" id="{16DD1550-2F10-0D1C-0E22-D37458B9A27F}"/>
                  </a:ext>
                </a:extLst>
              </p:cNvPr>
              <p:cNvSpPr/>
              <p:nvPr>
                <p:custDataLst>
                  <p:tags r:id="rId19"/>
                </p:custDataLst>
              </p:nvPr>
            </p:nvSpPr>
            <p:spPr>
              <a:xfrm flipV="1">
                <a:off x="3715" y="4021"/>
                <a:ext cx="1984" cy="1984"/>
              </a:xfrm>
              <a:prstGeom prst="round2SameRect">
                <a:avLst>
                  <a:gd name="adj1" fmla="val 50000"/>
                  <a:gd name="adj2" fmla="val 0"/>
                </a:avLst>
              </a:prstGeom>
              <a:solidFill>
                <a:srgbClr val="0F34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sp>
            <p:nvSpPr>
              <p:cNvPr id="30" name="图形">
                <a:extLst>
                  <a:ext uri="{FF2B5EF4-FFF2-40B4-BE49-F238E27FC236}">
                    <a16:creationId xmlns:a16="http://schemas.microsoft.com/office/drawing/2014/main" id="{C2349F0A-7EF6-E287-B6D6-847FB37D4960}"/>
                  </a:ext>
                </a:extLst>
              </p:cNvPr>
              <p:cNvSpPr/>
              <p:nvPr>
                <p:custDataLst>
                  <p:tags r:id="rId20"/>
                </p:custDataLst>
              </p:nvPr>
            </p:nvSpPr>
            <p:spPr>
              <a:xfrm>
                <a:off x="3984" y="4295"/>
                <a:ext cx="1437" cy="1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grpSp>
        <p:sp>
          <p:nvSpPr>
            <p:cNvPr id="32" name="文本框 31">
              <a:extLst>
                <a:ext uri="{FF2B5EF4-FFF2-40B4-BE49-F238E27FC236}">
                  <a16:creationId xmlns:a16="http://schemas.microsoft.com/office/drawing/2014/main" id="{7B42603C-2D85-3E6E-0517-2C4E463CD150}"/>
                </a:ext>
              </a:extLst>
            </p:cNvPr>
            <p:cNvSpPr txBox="1"/>
            <p:nvPr/>
          </p:nvSpPr>
          <p:spPr>
            <a:xfrm>
              <a:off x="500751" y="5257274"/>
              <a:ext cx="1210588"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altLang="zh-CN" sz="8000" b="1" i="0" u="none" strike="noStrike" kern="1200" cap="none" spc="0" normalizeH="0" baseline="0" noProof="0" dirty="0">
                  <a:ln>
                    <a:noFill/>
                  </a:ln>
                  <a:gradFill>
                    <a:gsLst>
                      <a:gs pos="94000">
                        <a:srgbClr val="6691C0">
                          <a:alpha val="40000"/>
                        </a:srgbClr>
                      </a:gs>
                      <a:gs pos="24000">
                        <a:srgbClr val="0F349D"/>
                      </a:gs>
                    </a:gsLst>
                    <a:lin ang="5400000" scaled="0"/>
                  </a:gradFill>
                  <a:effectLst/>
                  <a:uLnTx/>
                  <a:uFillTx/>
                  <a:latin typeface="Times New Roman" panose="02020603050405020304" pitchFamily="18" charset="0"/>
                  <a:ea typeface="方正小标宋简体" panose="02010601030101010101" pitchFamily="2" charset="-122"/>
                  <a:cs typeface="Times New Roman" panose="02020603050405020304" pitchFamily="18" charset="0"/>
                  <a:sym typeface="+mn-lt"/>
                </a:rPr>
                <a:t>03</a:t>
              </a:r>
              <a:endParaRPr kumimoji="0" lang="zh-CN" altLang="en-US" sz="8000" b="1" i="0" u="none" strike="noStrike" kern="1200" cap="none" spc="0" normalizeH="0" baseline="0" noProof="0" dirty="0">
                <a:ln>
                  <a:noFill/>
                </a:ln>
                <a:gradFill>
                  <a:gsLst>
                    <a:gs pos="94000">
                      <a:srgbClr val="6691C0">
                        <a:alpha val="40000"/>
                      </a:srgbClr>
                    </a:gs>
                    <a:gs pos="24000">
                      <a:srgbClr val="0F349D"/>
                    </a:gs>
                  </a:gsLst>
                  <a:lin ang="5400000" scaled="0"/>
                </a:gradFill>
                <a:effectLst/>
                <a:uLnTx/>
                <a:uFillTx/>
                <a:latin typeface="Times New Roman" panose="02020603050405020304" pitchFamily="18" charset="0"/>
                <a:ea typeface="方正小标宋简体" panose="02010601030101010101" pitchFamily="2" charset="-122"/>
                <a:cs typeface="Times New Roman" panose="02020603050405020304" pitchFamily="18" charset="0"/>
                <a:sym typeface="+mn-lt"/>
              </a:endParaRPr>
            </a:p>
          </p:txBody>
        </p:sp>
      </p:grpSp>
      <p:pic>
        <p:nvPicPr>
          <p:cNvPr id="53" name="图片 52">
            <a:extLst>
              <a:ext uri="{FF2B5EF4-FFF2-40B4-BE49-F238E27FC236}">
                <a16:creationId xmlns:a16="http://schemas.microsoft.com/office/drawing/2014/main" id="{EC4E40CA-077E-75AA-9CEB-C033B0ACDC3E}"/>
              </a:ext>
            </a:extLst>
          </p:cNvPr>
          <p:cNvPicPr>
            <a:picLocks noChangeAspect="1"/>
          </p:cNvPicPr>
          <p:nvPr/>
        </p:nvPicPr>
        <p:blipFill>
          <a:blip r:embed="rId23">
            <a:extLst>
              <a:ext uri="{28A0092B-C50C-407E-A947-70E740481C1C}">
                <a14:useLocalDpi xmlns:a14="http://schemas.microsoft.com/office/drawing/2010/main" val="0"/>
              </a:ext>
            </a:extLst>
          </a:blip>
          <a:srcRect l="9002" t="1261" b="23046"/>
          <a:stretch/>
        </p:blipFill>
        <p:spPr>
          <a:xfrm>
            <a:off x="403860" y="6439"/>
            <a:ext cx="5203808" cy="1458221"/>
          </a:xfrm>
          <a:prstGeom prst="rect">
            <a:avLst/>
          </a:prstGeom>
        </p:spPr>
      </p:pic>
      <p:grpSp>
        <p:nvGrpSpPr>
          <p:cNvPr id="60" name="组合 59">
            <a:extLst>
              <a:ext uri="{FF2B5EF4-FFF2-40B4-BE49-F238E27FC236}">
                <a16:creationId xmlns:a16="http://schemas.microsoft.com/office/drawing/2014/main" id="{140310E7-D494-492F-BF2F-737D1FCD49D1}"/>
              </a:ext>
            </a:extLst>
          </p:cNvPr>
          <p:cNvGrpSpPr/>
          <p:nvPr/>
        </p:nvGrpSpPr>
        <p:grpSpPr>
          <a:xfrm>
            <a:off x="335766" y="1658015"/>
            <a:ext cx="8998670" cy="1531800"/>
            <a:chOff x="335766" y="1715165"/>
            <a:chExt cx="8998670" cy="1531800"/>
          </a:xfrm>
        </p:grpSpPr>
        <p:sp>
          <p:nvSpPr>
            <p:cNvPr id="8" name="图形">
              <a:extLst>
                <a:ext uri="{FF2B5EF4-FFF2-40B4-BE49-F238E27FC236}">
                  <a16:creationId xmlns:a16="http://schemas.microsoft.com/office/drawing/2014/main" id="{04846D67-0FAE-D0F2-1DE6-AA77DCD68929}"/>
                </a:ext>
              </a:extLst>
            </p:cNvPr>
            <p:cNvSpPr/>
            <p:nvPr>
              <p:custDataLst>
                <p:tags r:id="rId11"/>
              </p:custDataLst>
            </p:nvPr>
          </p:nvSpPr>
          <p:spPr>
            <a:xfrm>
              <a:off x="335766" y="1989079"/>
              <a:ext cx="8998670" cy="1209463"/>
            </a:xfrm>
            <a:prstGeom prst="rect">
              <a:avLst/>
            </a:prstGeom>
            <a:solidFill>
              <a:schemeClr val="bg1"/>
            </a:solidFill>
            <a:ln>
              <a:noFill/>
            </a:ln>
            <a:effectLst>
              <a:outerShdw blurRad="5588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grpSp>
          <p:nvGrpSpPr>
            <p:cNvPr id="9" name="组合 8">
              <a:extLst>
                <a:ext uri="{FF2B5EF4-FFF2-40B4-BE49-F238E27FC236}">
                  <a16:creationId xmlns:a16="http://schemas.microsoft.com/office/drawing/2014/main" id="{5D5151BB-4B55-5274-674C-50F34275513C}"/>
                </a:ext>
              </a:extLst>
            </p:cNvPr>
            <p:cNvGrpSpPr/>
            <p:nvPr/>
          </p:nvGrpSpPr>
          <p:grpSpPr>
            <a:xfrm>
              <a:off x="1835644" y="1715165"/>
              <a:ext cx="1648878" cy="1331975"/>
              <a:chOff x="3479" y="4021"/>
              <a:chExt cx="2456" cy="1984"/>
            </a:xfrm>
          </p:grpSpPr>
          <p:sp>
            <p:nvSpPr>
              <p:cNvPr id="14" name="图形">
                <a:extLst>
                  <a:ext uri="{FF2B5EF4-FFF2-40B4-BE49-F238E27FC236}">
                    <a16:creationId xmlns:a16="http://schemas.microsoft.com/office/drawing/2014/main" id="{2B83E4D0-DBB3-1599-5576-2FE4018FCED2}"/>
                  </a:ext>
                </a:extLst>
              </p:cNvPr>
              <p:cNvSpPr/>
              <p:nvPr>
                <p:custDataLst>
                  <p:tags r:id="rId14"/>
                </p:custDataLst>
              </p:nvPr>
            </p:nvSpPr>
            <p:spPr>
              <a:xfrm>
                <a:off x="3479" y="4021"/>
                <a:ext cx="2456" cy="408"/>
              </a:xfrm>
              <a:prstGeom prst="trapezoid">
                <a:avLst>
                  <a:gd name="adj" fmla="val 58087"/>
                </a:avLst>
              </a:prstGeom>
              <a:solidFill>
                <a:srgbClr val="C2CBD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sp>
            <p:nvSpPr>
              <p:cNvPr id="15" name="图形">
                <a:extLst>
                  <a:ext uri="{FF2B5EF4-FFF2-40B4-BE49-F238E27FC236}">
                    <a16:creationId xmlns:a16="http://schemas.microsoft.com/office/drawing/2014/main" id="{44DAC1DF-6F11-D621-B00A-E1FE61E6B2E6}"/>
                  </a:ext>
                </a:extLst>
              </p:cNvPr>
              <p:cNvSpPr/>
              <p:nvPr>
                <p:custDataLst>
                  <p:tags r:id="rId15"/>
                </p:custDataLst>
              </p:nvPr>
            </p:nvSpPr>
            <p:spPr>
              <a:xfrm flipV="1">
                <a:off x="3715" y="4021"/>
                <a:ext cx="1984" cy="1984"/>
              </a:xfrm>
              <a:prstGeom prst="round2SameRect">
                <a:avLst>
                  <a:gd name="adj1" fmla="val 50000"/>
                  <a:gd name="adj2" fmla="val 0"/>
                </a:avLst>
              </a:prstGeom>
              <a:solidFill>
                <a:srgbClr val="8AB1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sp>
            <p:nvSpPr>
              <p:cNvPr id="16" name="图形">
                <a:extLst>
                  <a:ext uri="{FF2B5EF4-FFF2-40B4-BE49-F238E27FC236}">
                    <a16:creationId xmlns:a16="http://schemas.microsoft.com/office/drawing/2014/main" id="{5D85FFB6-3775-969D-031D-D76B264D111C}"/>
                  </a:ext>
                </a:extLst>
              </p:cNvPr>
              <p:cNvSpPr/>
              <p:nvPr>
                <p:custDataLst>
                  <p:tags r:id="rId16"/>
                </p:custDataLst>
              </p:nvPr>
            </p:nvSpPr>
            <p:spPr>
              <a:xfrm>
                <a:off x="3984" y="4295"/>
                <a:ext cx="1437" cy="1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grpSp>
        <p:sp>
          <p:nvSpPr>
            <p:cNvPr id="10" name="图形">
              <a:extLst>
                <a:ext uri="{FF2B5EF4-FFF2-40B4-BE49-F238E27FC236}">
                  <a16:creationId xmlns:a16="http://schemas.microsoft.com/office/drawing/2014/main" id="{89000829-E82F-05F8-1F04-0F56E1376D6D}"/>
                </a:ext>
              </a:extLst>
            </p:cNvPr>
            <p:cNvSpPr txBox="1"/>
            <p:nvPr>
              <p:custDataLst>
                <p:tags r:id="rId12"/>
              </p:custDataLst>
            </p:nvPr>
          </p:nvSpPr>
          <p:spPr>
            <a:xfrm>
              <a:off x="5334621" y="2084850"/>
              <a:ext cx="1991275" cy="5834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思源黑体旧字形 Light" panose="020B0300000000000000" charset="-128"/>
                  <a:sym typeface="Arial"/>
                </a:rPr>
                <a:t>事件梳理</a:t>
              </a:r>
            </a:p>
          </p:txBody>
        </p:sp>
        <p:sp>
          <p:nvSpPr>
            <p:cNvPr id="11" name="图形">
              <a:extLst>
                <a:ext uri="{FF2B5EF4-FFF2-40B4-BE49-F238E27FC236}">
                  <a16:creationId xmlns:a16="http://schemas.microsoft.com/office/drawing/2014/main" id="{B83FAB49-6F34-EA6B-93D0-779771FA4464}"/>
                </a:ext>
              </a:extLst>
            </p:cNvPr>
            <p:cNvSpPr txBox="1"/>
            <p:nvPr userDrawn="1">
              <p:custDataLst>
                <p:tags r:id="rId13"/>
              </p:custDataLst>
            </p:nvPr>
          </p:nvSpPr>
          <p:spPr>
            <a:xfrm>
              <a:off x="4178515" y="2738808"/>
              <a:ext cx="4303486" cy="336887"/>
            </a:xfrm>
            <a:prstGeom prst="rect">
              <a:avLst/>
            </a:prstGeom>
            <a:noFill/>
          </p:spPr>
          <p:txBody>
            <a:bodyPr wrap="square" numCol="1" rtlCol="0">
              <a:spAutoFit/>
            </a:bodyPr>
            <a:lstStyle/>
            <a:p>
              <a:pPr marR="0" lvl="0" algn="ctr" defTabSz="914400" rtl="0" eaLnBrk="1" fontAlgn="auto" latinLnBrk="0" hangingPunct="1">
                <a:lnSpc>
                  <a:spcPct val="125000"/>
                </a:lnSpc>
                <a:spcBef>
                  <a:spcPts val="0"/>
                </a:spcBef>
                <a:spcAft>
                  <a:spcPts val="0"/>
                </a:spcAft>
                <a:buClrTx/>
                <a:buSzTx/>
                <a:tabLst/>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技术背景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 事件起始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 </a:t>
              </a:r>
              <a:r>
                <a:rPr lang="zh-CN" altLang="en-US"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rPr>
                <a:t>事件曝光 </a:t>
              </a:r>
              <a:r>
                <a:rPr lang="en-US" altLang="zh-CN"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rPr>
                <a:t>| </a:t>
              </a:r>
              <a:r>
                <a:rPr lang="zh-CN" altLang="en-US"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rPr>
                <a:t>调查追责 </a:t>
              </a:r>
              <a:r>
                <a:rPr lang="en-US" altLang="zh-CN"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rPr>
                <a:t>| </a:t>
              </a:r>
              <a:r>
                <a:rPr lang="zh-CN" altLang="en-US"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rPr>
                <a:t>制度修补</a:t>
              </a:r>
              <a:endParaRPr lang="en-US" altLang="zh-CN"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endParaRPr>
            </a:p>
          </p:txBody>
        </p:sp>
        <p:sp>
          <p:nvSpPr>
            <p:cNvPr id="6" name="文本框 5">
              <a:extLst>
                <a:ext uri="{FF2B5EF4-FFF2-40B4-BE49-F238E27FC236}">
                  <a16:creationId xmlns:a16="http://schemas.microsoft.com/office/drawing/2014/main" id="{71EEFCCC-2BAC-F10B-184C-FF27E5184ED9}"/>
                </a:ext>
              </a:extLst>
            </p:cNvPr>
            <p:cNvSpPr txBox="1"/>
            <p:nvPr/>
          </p:nvSpPr>
          <p:spPr>
            <a:xfrm>
              <a:off x="517677" y="1923526"/>
              <a:ext cx="1210588"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altLang="zh-CN" sz="8000" b="1" i="0" u="none" strike="noStrike" kern="1200" cap="none" spc="0" normalizeH="0" baseline="0" noProof="0" dirty="0">
                  <a:ln>
                    <a:noFill/>
                  </a:ln>
                  <a:gradFill>
                    <a:gsLst>
                      <a:gs pos="94000">
                        <a:srgbClr val="C2CBDF">
                          <a:alpha val="40000"/>
                        </a:srgbClr>
                      </a:gs>
                      <a:gs pos="24000">
                        <a:srgbClr val="8AB1CE"/>
                      </a:gs>
                    </a:gsLst>
                    <a:lin ang="5400000" scaled="0"/>
                  </a:gradFill>
                  <a:effectLst/>
                  <a:uLnTx/>
                  <a:uFillTx/>
                  <a:latin typeface="Times New Roman" panose="02020603050405020304" pitchFamily="18" charset="0"/>
                  <a:ea typeface="方正小标宋简体" panose="02010601030101010101" pitchFamily="2" charset="-122"/>
                  <a:cs typeface="Times New Roman" panose="02020603050405020304" pitchFamily="18" charset="0"/>
                  <a:sym typeface="+mn-lt"/>
                </a:rPr>
                <a:t>01</a:t>
              </a:r>
              <a:endParaRPr kumimoji="0" lang="zh-CN" altLang="en-US" sz="8000" b="1" i="0" u="none" strike="noStrike" kern="1200" cap="none" spc="0" normalizeH="0" baseline="0" noProof="0" dirty="0">
                <a:ln>
                  <a:noFill/>
                </a:ln>
                <a:gradFill>
                  <a:gsLst>
                    <a:gs pos="94000">
                      <a:srgbClr val="C2CBDF">
                        <a:alpha val="40000"/>
                      </a:srgbClr>
                    </a:gs>
                    <a:gs pos="24000">
                      <a:srgbClr val="8AB1CE"/>
                    </a:gs>
                  </a:gsLst>
                  <a:lin ang="5400000" scaled="0"/>
                </a:gradFill>
                <a:effectLst/>
                <a:uLnTx/>
                <a:uFillTx/>
                <a:latin typeface="Times New Roman" panose="02020603050405020304" pitchFamily="18" charset="0"/>
                <a:ea typeface="方正小标宋简体" panose="02010601030101010101" pitchFamily="2" charset="-122"/>
                <a:cs typeface="Times New Roman" panose="02020603050405020304" pitchFamily="18" charset="0"/>
                <a:sym typeface="+mn-lt"/>
              </a:endParaRPr>
            </a:p>
          </p:txBody>
        </p:sp>
      </p:grpSp>
      <p:grpSp>
        <p:nvGrpSpPr>
          <p:cNvPr id="59" name="组合 58">
            <a:extLst>
              <a:ext uri="{FF2B5EF4-FFF2-40B4-BE49-F238E27FC236}">
                <a16:creationId xmlns:a16="http://schemas.microsoft.com/office/drawing/2014/main" id="{DB0E6916-E78D-7838-0F79-35023DE528C0}"/>
              </a:ext>
            </a:extLst>
          </p:cNvPr>
          <p:cNvGrpSpPr/>
          <p:nvPr/>
        </p:nvGrpSpPr>
        <p:grpSpPr>
          <a:xfrm>
            <a:off x="1670733" y="3296972"/>
            <a:ext cx="8998735" cy="1540433"/>
            <a:chOff x="335765" y="3355195"/>
            <a:chExt cx="8998735" cy="1540433"/>
          </a:xfrm>
        </p:grpSpPr>
        <p:sp>
          <p:nvSpPr>
            <p:cNvPr id="37" name="图形">
              <a:extLst>
                <a:ext uri="{FF2B5EF4-FFF2-40B4-BE49-F238E27FC236}">
                  <a16:creationId xmlns:a16="http://schemas.microsoft.com/office/drawing/2014/main" id="{E866ED2E-21A8-A966-33C6-850C6ED19109}"/>
                </a:ext>
              </a:extLst>
            </p:cNvPr>
            <p:cNvSpPr/>
            <p:nvPr>
              <p:custDataLst>
                <p:tags r:id="rId7"/>
              </p:custDataLst>
            </p:nvPr>
          </p:nvSpPr>
          <p:spPr>
            <a:xfrm>
              <a:off x="335765" y="3629109"/>
              <a:ext cx="8998735" cy="1209600"/>
            </a:xfrm>
            <a:prstGeom prst="rect">
              <a:avLst/>
            </a:prstGeom>
            <a:solidFill>
              <a:schemeClr val="bg1"/>
            </a:solidFill>
            <a:ln>
              <a:noFill/>
            </a:ln>
            <a:effectLst>
              <a:outerShdw blurRad="5588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grpSp>
          <p:nvGrpSpPr>
            <p:cNvPr id="38" name="组合 37">
              <a:extLst>
                <a:ext uri="{FF2B5EF4-FFF2-40B4-BE49-F238E27FC236}">
                  <a16:creationId xmlns:a16="http://schemas.microsoft.com/office/drawing/2014/main" id="{DD04F413-9C59-64B5-85ED-9F1CD48267CD}"/>
                </a:ext>
              </a:extLst>
            </p:cNvPr>
            <p:cNvGrpSpPr/>
            <p:nvPr/>
          </p:nvGrpSpPr>
          <p:grpSpPr>
            <a:xfrm>
              <a:off x="1835782" y="3355195"/>
              <a:ext cx="1648603" cy="1331975"/>
              <a:chOff x="3479" y="4021"/>
              <a:chExt cx="2456" cy="1984"/>
            </a:xfrm>
          </p:grpSpPr>
          <p:sp>
            <p:nvSpPr>
              <p:cNvPr id="41" name="图形">
                <a:extLst>
                  <a:ext uri="{FF2B5EF4-FFF2-40B4-BE49-F238E27FC236}">
                    <a16:creationId xmlns:a16="http://schemas.microsoft.com/office/drawing/2014/main" id="{B006D56F-BD60-5E93-1822-0861162B1200}"/>
                  </a:ext>
                </a:extLst>
              </p:cNvPr>
              <p:cNvSpPr/>
              <p:nvPr>
                <p:custDataLst>
                  <p:tags r:id="rId8"/>
                </p:custDataLst>
              </p:nvPr>
            </p:nvSpPr>
            <p:spPr>
              <a:xfrm>
                <a:off x="3479" y="4021"/>
                <a:ext cx="2456" cy="408"/>
              </a:xfrm>
              <a:prstGeom prst="trapezoid">
                <a:avLst>
                  <a:gd name="adj" fmla="val 58087"/>
                </a:avLst>
              </a:prstGeom>
              <a:solidFill>
                <a:srgbClr val="8AB1C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sp>
            <p:nvSpPr>
              <p:cNvPr id="42" name="图形">
                <a:extLst>
                  <a:ext uri="{FF2B5EF4-FFF2-40B4-BE49-F238E27FC236}">
                    <a16:creationId xmlns:a16="http://schemas.microsoft.com/office/drawing/2014/main" id="{9642D977-94D7-55DB-FC92-4906351509AC}"/>
                  </a:ext>
                </a:extLst>
              </p:cNvPr>
              <p:cNvSpPr/>
              <p:nvPr>
                <p:custDataLst>
                  <p:tags r:id="rId9"/>
                </p:custDataLst>
              </p:nvPr>
            </p:nvSpPr>
            <p:spPr>
              <a:xfrm flipV="1">
                <a:off x="3715" y="4021"/>
                <a:ext cx="1984" cy="1984"/>
              </a:xfrm>
              <a:prstGeom prst="round2SameRect">
                <a:avLst>
                  <a:gd name="adj1" fmla="val 50000"/>
                  <a:gd name="adj2" fmla="val 0"/>
                </a:avLst>
              </a:prstGeom>
              <a:solidFill>
                <a:srgbClr val="6691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sp>
            <p:nvSpPr>
              <p:cNvPr id="43" name="图形">
                <a:extLst>
                  <a:ext uri="{FF2B5EF4-FFF2-40B4-BE49-F238E27FC236}">
                    <a16:creationId xmlns:a16="http://schemas.microsoft.com/office/drawing/2014/main" id="{A3CF4A94-76FD-DCFD-7E24-1EE39775FC83}"/>
                  </a:ext>
                </a:extLst>
              </p:cNvPr>
              <p:cNvSpPr/>
              <p:nvPr>
                <p:custDataLst>
                  <p:tags r:id="rId10"/>
                </p:custDataLst>
              </p:nvPr>
            </p:nvSpPr>
            <p:spPr>
              <a:xfrm>
                <a:off x="3984" y="4295"/>
                <a:ext cx="1437" cy="1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grpSp>
        <p:sp>
          <p:nvSpPr>
            <p:cNvPr id="36" name="任意多边形: 形状 35">
              <a:extLst>
                <a:ext uri="{FF2B5EF4-FFF2-40B4-BE49-F238E27FC236}">
                  <a16:creationId xmlns:a16="http://schemas.microsoft.com/office/drawing/2014/main" id="{35A615E9-9EB8-99D1-89C2-8D1BAB1F740C}"/>
                </a:ext>
              </a:extLst>
            </p:cNvPr>
            <p:cNvSpPr/>
            <p:nvPr/>
          </p:nvSpPr>
          <p:spPr>
            <a:xfrm>
              <a:off x="2355241" y="3714625"/>
              <a:ext cx="609685" cy="609087"/>
            </a:xfrm>
            <a:custGeom>
              <a:avLst/>
              <a:gdLst>
                <a:gd name="connsiteX0" fmla="*/ 243691 w 581370"/>
                <a:gd name="connsiteY0" fmla="*/ 438708 h 580800"/>
                <a:gd name="connsiteX1" fmla="*/ 243691 w 581370"/>
                <a:gd name="connsiteY1" fmla="*/ 473638 h 580800"/>
                <a:gd name="connsiteX2" fmla="*/ 234613 w 581370"/>
                <a:gd name="connsiteY2" fmla="*/ 492569 h 580800"/>
                <a:gd name="connsiteX3" fmla="*/ 184860 w 581370"/>
                <a:gd name="connsiteY3" fmla="*/ 532298 h 580800"/>
                <a:gd name="connsiteX4" fmla="*/ 396599 w 581370"/>
                <a:gd name="connsiteY4" fmla="*/ 532298 h 580800"/>
                <a:gd name="connsiteX5" fmla="*/ 346757 w 581370"/>
                <a:gd name="connsiteY5" fmla="*/ 492569 h 580800"/>
                <a:gd name="connsiteX6" fmla="*/ 337590 w 581370"/>
                <a:gd name="connsiteY6" fmla="*/ 473638 h 580800"/>
                <a:gd name="connsiteX7" fmla="*/ 337590 w 581370"/>
                <a:gd name="connsiteY7" fmla="*/ 438708 h 580800"/>
                <a:gd name="connsiteX8" fmla="*/ 290707 w 581370"/>
                <a:gd name="connsiteY8" fmla="*/ 162801 h 580800"/>
                <a:gd name="connsiteX9" fmla="*/ 234104 w 581370"/>
                <a:gd name="connsiteY9" fmla="*/ 219325 h 580800"/>
                <a:gd name="connsiteX10" fmla="*/ 290707 w 581370"/>
                <a:gd name="connsiteY10" fmla="*/ 275849 h 580800"/>
                <a:gd name="connsiteX11" fmla="*/ 347310 w 581370"/>
                <a:gd name="connsiteY11" fmla="*/ 219325 h 580800"/>
                <a:gd name="connsiteX12" fmla="*/ 290707 w 581370"/>
                <a:gd name="connsiteY12" fmla="*/ 162801 h 580800"/>
                <a:gd name="connsiteX13" fmla="*/ 290262 w 581370"/>
                <a:gd name="connsiteY13" fmla="*/ 81926 h 580800"/>
                <a:gd name="connsiteX14" fmla="*/ 314470 w 581370"/>
                <a:gd name="connsiteY14" fmla="*/ 106100 h 580800"/>
                <a:gd name="connsiteX15" fmla="*/ 314470 w 581370"/>
                <a:gd name="connsiteY15" fmla="*/ 117387 h 580800"/>
                <a:gd name="connsiteX16" fmla="*/ 345441 w 581370"/>
                <a:gd name="connsiteY16" fmla="*/ 130185 h 580800"/>
                <a:gd name="connsiteX17" fmla="*/ 353540 w 581370"/>
                <a:gd name="connsiteY17" fmla="*/ 122097 h 580800"/>
                <a:gd name="connsiteX18" fmla="*/ 387805 w 581370"/>
                <a:gd name="connsiteY18" fmla="*/ 122097 h 580800"/>
                <a:gd name="connsiteX19" fmla="*/ 387805 w 581370"/>
                <a:gd name="connsiteY19" fmla="*/ 156402 h 580800"/>
                <a:gd name="connsiteX20" fmla="*/ 379884 w 581370"/>
                <a:gd name="connsiteY20" fmla="*/ 164312 h 580800"/>
                <a:gd name="connsiteX21" fmla="*/ 392700 w 581370"/>
                <a:gd name="connsiteY21" fmla="*/ 195240 h 580800"/>
                <a:gd name="connsiteX22" fmla="*/ 403914 w 581370"/>
                <a:gd name="connsiteY22" fmla="*/ 195240 h 580800"/>
                <a:gd name="connsiteX23" fmla="*/ 428121 w 581370"/>
                <a:gd name="connsiteY23" fmla="*/ 219414 h 580800"/>
                <a:gd name="connsiteX24" fmla="*/ 403914 w 581370"/>
                <a:gd name="connsiteY24" fmla="*/ 243587 h 580800"/>
                <a:gd name="connsiteX25" fmla="*/ 392700 w 581370"/>
                <a:gd name="connsiteY25" fmla="*/ 243587 h 580800"/>
                <a:gd name="connsiteX26" fmla="*/ 379884 w 581370"/>
                <a:gd name="connsiteY26" fmla="*/ 274515 h 580800"/>
                <a:gd name="connsiteX27" fmla="*/ 387894 w 581370"/>
                <a:gd name="connsiteY27" fmla="*/ 282603 h 580800"/>
                <a:gd name="connsiteX28" fmla="*/ 387894 w 581370"/>
                <a:gd name="connsiteY28" fmla="*/ 316819 h 580800"/>
                <a:gd name="connsiteX29" fmla="*/ 370806 w 581370"/>
                <a:gd name="connsiteY29" fmla="*/ 323929 h 580800"/>
                <a:gd name="connsiteX30" fmla="*/ 353718 w 581370"/>
                <a:gd name="connsiteY30" fmla="*/ 316819 h 580800"/>
                <a:gd name="connsiteX31" fmla="*/ 345708 w 581370"/>
                <a:gd name="connsiteY31" fmla="*/ 308732 h 580800"/>
                <a:gd name="connsiteX32" fmla="*/ 314737 w 581370"/>
                <a:gd name="connsiteY32" fmla="*/ 321530 h 580800"/>
                <a:gd name="connsiteX33" fmla="*/ 314737 w 581370"/>
                <a:gd name="connsiteY33" fmla="*/ 332817 h 580800"/>
                <a:gd name="connsiteX34" fmla="*/ 290529 w 581370"/>
                <a:gd name="connsiteY34" fmla="*/ 356990 h 580800"/>
                <a:gd name="connsiteX35" fmla="*/ 266322 w 581370"/>
                <a:gd name="connsiteY35" fmla="*/ 332817 h 580800"/>
                <a:gd name="connsiteX36" fmla="*/ 266322 w 581370"/>
                <a:gd name="connsiteY36" fmla="*/ 321530 h 580800"/>
                <a:gd name="connsiteX37" fmla="*/ 235350 w 581370"/>
                <a:gd name="connsiteY37" fmla="*/ 308732 h 580800"/>
                <a:gd name="connsiteX38" fmla="*/ 227340 w 581370"/>
                <a:gd name="connsiteY38" fmla="*/ 316730 h 580800"/>
                <a:gd name="connsiteX39" fmla="*/ 210252 w 581370"/>
                <a:gd name="connsiteY39" fmla="*/ 323840 h 580800"/>
                <a:gd name="connsiteX40" fmla="*/ 193165 w 581370"/>
                <a:gd name="connsiteY40" fmla="*/ 316730 h 580800"/>
                <a:gd name="connsiteX41" fmla="*/ 193165 w 581370"/>
                <a:gd name="connsiteY41" fmla="*/ 282425 h 580800"/>
                <a:gd name="connsiteX42" fmla="*/ 201264 w 581370"/>
                <a:gd name="connsiteY42" fmla="*/ 274427 h 580800"/>
                <a:gd name="connsiteX43" fmla="*/ 188448 w 581370"/>
                <a:gd name="connsiteY43" fmla="*/ 243499 h 580800"/>
                <a:gd name="connsiteX44" fmla="*/ 177145 w 581370"/>
                <a:gd name="connsiteY44" fmla="*/ 243499 h 580800"/>
                <a:gd name="connsiteX45" fmla="*/ 152492 w 581370"/>
                <a:gd name="connsiteY45" fmla="*/ 219503 h 580800"/>
                <a:gd name="connsiteX46" fmla="*/ 176700 w 581370"/>
                <a:gd name="connsiteY46" fmla="*/ 195329 h 580800"/>
                <a:gd name="connsiteX47" fmla="*/ 188003 w 581370"/>
                <a:gd name="connsiteY47" fmla="*/ 195329 h 580800"/>
                <a:gd name="connsiteX48" fmla="*/ 200819 w 581370"/>
                <a:gd name="connsiteY48" fmla="*/ 164401 h 580800"/>
                <a:gd name="connsiteX49" fmla="*/ 192720 w 581370"/>
                <a:gd name="connsiteY49" fmla="*/ 156402 h 580800"/>
                <a:gd name="connsiteX50" fmla="*/ 192720 w 581370"/>
                <a:gd name="connsiteY50" fmla="*/ 122097 h 580800"/>
                <a:gd name="connsiteX51" fmla="*/ 226984 w 581370"/>
                <a:gd name="connsiteY51" fmla="*/ 122097 h 580800"/>
                <a:gd name="connsiteX52" fmla="*/ 235083 w 581370"/>
                <a:gd name="connsiteY52" fmla="*/ 130185 h 580800"/>
                <a:gd name="connsiteX53" fmla="*/ 266055 w 581370"/>
                <a:gd name="connsiteY53" fmla="*/ 117387 h 580800"/>
                <a:gd name="connsiteX54" fmla="*/ 266055 w 581370"/>
                <a:gd name="connsiteY54" fmla="*/ 106100 h 580800"/>
                <a:gd name="connsiteX55" fmla="*/ 290262 w 581370"/>
                <a:gd name="connsiteY55" fmla="*/ 81926 h 580800"/>
                <a:gd name="connsiteX56" fmla="*/ 48418 w 581370"/>
                <a:gd name="connsiteY56" fmla="*/ 48350 h 580800"/>
                <a:gd name="connsiteX57" fmla="*/ 48418 w 581370"/>
                <a:gd name="connsiteY57" fmla="*/ 390358 h 580800"/>
                <a:gd name="connsiteX58" fmla="*/ 532952 w 581370"/>
                <a:gd name="connsiteY58" fmla="*/ 390358 h 580800"/>
                <a:gd name="connsiteX59" fmla="*/ 532952 w 581370"/>
                <a:gd name="connsiteY59" fmla="*/ 48350 h 580800"/>
                <a:gd name="connsiteX60" fmla="*/ 24209 w 581370"/>
                <a:gd name="connsiteY60" fmla="*/ 0 h 580800"/>
                <a:gd name="connsiteX61" fmla="*/ 557250 w 581370"/>
                <a:gd name="connsiteY61" fmla="*/ 0 h 580800"/>
                <a:gd name="connsiteX62" fmla="*/ 581370 w 581370"/>
                <a:gd name="connsiteY62" fmla="*/ 24175 h 580800"/>
                <a:gd name="connsiteX63" fmla="*/ 581370 w 581370"/>
                <a:gd name="connsiteY63" fmla="*/ 414533 h 580800"/>
                <a:gd name="connsiteX64" fmla="*/ 557161 w 581370"/>
                <a:gd name="connsiteY64" fmla="*/ 438708 h 580800"/>
                <a:gd name="connsiteX65" fmla="*/ 386008 w 581370"/>
                <a:gd name="connsiteY65" fmla="*/ 438708 h 580800"/>
                <a:gd name="connsiteX66" fmla="*/ 386008 w 581370"/>
                <a:gd name="connsiteY66" fmla="*/ 461994 h 580800"/>
                <a:gd name="connsiteX67" fmla="*/ 480707 w 581370"/>
                <a:gd name="connsiteY67" fmla="*/ 537542 h 580800"/>
                <a:gd name="connsiteX68" fmla="*/ 465666 w 581370"/>
                <a:gd name="connsiteY68" fmla="*/ 580648 h 580800"/>
                <a:gd name="connsiteX69" fmla="*/ 115704 w 581370"/>
                <a:gd name="connsiteY69" fmla="*/ 580648 h 580800"/>
                <a:gd name="connsiteX70" fmla="*/ 100574 w 581370"/>
                <a:gd name="connsiteY70" fmla="*/ 537542 h 580800"/>
                <a:gd name="connsiteX71" fmla="*/ 195274 w 581370"/>
                <a:gd name="connsiteY71" fmla="*/ 461994 h 580800"/>
                <a:gd name="connsiteX72" fmla="*/ 195274 w 581370"/>
                <a:gd name="connsiteY72" fmla="*/ 438708 h 580800"/>
                <a:gd name="connsiteX73" fmla="*/ 24209 w 581370"/>
                <a:gd name="connsiteY73" fmla="*/ 438708 h 580800"/>
                <a:gd name="connsiteX74" fmla="*/ 0 w 581370"/>
                <a:gd name="connsiteY74" fmla="*/ 414533 h 580800"/>
                <a:gd name="connsiteX75" fmla="*/ 0 w 581370"/>
                <a:gd name="connsiteY75" fmla="*/ 24175 h 580800"/>
                <a:gd name="connsiteX76" fmla="*/ 24209 w 581370"/>
                <a:gd name="connsiteY76" fmla="*/ 0 h 5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81370" h="580800">
                  <a:moveTo>
                    <a:pt x="243691" y="438708"/>
                  </a:moveTo>
                  <a:lnTo>
                    <a:pt x="243691" y="473638"/>
                  </a:lnTo>
                  <a:cubicBezTo>
                    <a:pt x="243691" y="481104"/>
                    <a:pt x="240398" y="487947"/>
                    <a:pt x="234613" y="492569"/>
                  </a:cubicBezTo>
                  <a:lnTo>
                    <a:pt x="184860" y="532298"/>
                  </a:lnTo>
                  <a:lnTo>
                    <a:pt x="396599" y="532298"/>
                  </a:lnTo>
                  <a:lnTo>
                    <a:pt x="346757" y="492569"/>
                  </a:lnTo>
                  <a:cubicBezTo>
                    <a:pt x="340883" y="487947"/>
                    <a:pt x="337590" y="481015"/>
                    <a:pt x="337590" y="473638"/>
                  </a:cubicBezTo>
                  <a:lnTo>
                    <a:pt x="337590" y="438708"/>
                  </a:lnTo>
                  <a:close/>
                  <a:moveTo>
                    <a:pt x="290707" y="162801"/>
                  </a:moveTo>
                  <a:cubicBezTo>
                    <a:pt x="259558" y="162801"/>
                    <a:pt x="234104" y="188130"/>
                    <a:pt x="234104" y="219325"/>
                  </a:cubicBezTo>
                  <a:cubicBezTo>
                    <a:pt x="234104" y="250431"/>
                    <a:pt x="259558" y="275849"/>
                    <a:pt x="290707" y="275849"/>
                  </a:cubicBezTo>
                  <a:cubicBezTo>
                    <a:pt x="321946" y="275849"/>
                    <a:pt x="347310" y="250431"/>
                    <a:pt x="347310" y="219325"/>
                  </a:cubicBezTo>
                  <a:cubicBezTo>
                    <a:pt x="347310" y="188130"/>
                    <a:pt x="321946" y="162801"/>
                    <a:pt x="290707" y="162801"/>
                  </a:cubicBezTo>
                  <a:close/>
                  <a:moveTo>
                    <a:pt x="290262" y="81926"/>
                  </a:moveTo>
                  <a:cubicBezTo>
                    <a:pt x="303701" y="81926"/>
                    <a:pt x="314470" y="92769"/>
                    <a:pt x="314470" y="106100"/>
                  </a:cubicBezTo>
                  <a:lnTo>
                    <a:pt x="314470" y="117387"/>
                  </a:lnTo>
                  <a:cubicBezTo>
                    <a:pt x="325595" y="119964"/>
                    <a:pt x="336097" y="124408"/>
                    <a:pt x="345441" y="130185"/>
                  </a:cubicBezTo>
                  <a:lnTo>
                    <a:pt x="353540" y="122097"/>
                  </a:lnTo>
                  <a:cubicBezTo>
                    <a:pt x="362974" y="112677"/>
                    <a:pt x="378282" y="112677"/>
                    <a:pt x="387805" y="122097"/>
                  </a:cubicBezTo>
                  <a:cubicBezTo>
                    <a:pt x="397328" y="131607"/>
                    <a:pt x="397328" y="146893"/>
                    <a:pt x="387805" y="156402"/>
                  </a:cubicBezTo>
                  <a:lnTo>
                    <a:pt x="379884" y="164312"/>
                  </a:lnTo>
                  <a:cubicBezTo>
                    <a:pt x="385669" y="173822"/>
                    <a:pt x="390030" y="184220"/>
                    <a:pt x="392700" y="195240"/>
                  </a:cubicBezTo>
                  <a:lnTo>
                    <a:pt x="403914" y="195240"/>
                  </a:lnTo>
                  <a:cubicBezTo>
                    <a:pt x="417352" y="195240"/>
                    <a:pt x="428121" y="205994"/>
                    <a:pt x="428121" y="219414"/>
                  </a:cubicBezTo>
                  <a:cubicBezTo>
                    <a:pt x="428121" y="232834"/>
                    <a:pt x="417352" y="243587"/>
                    <a:pt x="403914" y="243587"/>
                  </a:cubicBezTo>
                  <a:lnTo>
                    <a:pt x="392700" y="243587"/>
                  </a:lnTo>
                  <a:cubicBezTo>
                    <a:pt x="390030" y="254697"/>
                    <a:pt x="385669" y="265184"/>
                    <a:pt x="379884" y="274515"/>
                  </a:cubicBezTo>
                  <a:lnTo>
                    <a:pt x="387894" y="282603"/>
                  </a:lnTo>
                  <a:cubicBezTo>
                    <a:pt x="397417" y="292024"/>
                    <a:pt x="397417" y="307310"/>
                    <a:pt x="387894" y="316819"/>
                  </a:cubicBezTo>
                  <a:cubicBezTo>
                    <a:pt x="383177" y="321530"/>
                    <a:pt x="377036" y="323929"/>
                    <a:pt x="370806" y="323929"/>
                  </a:cubicBezTo>
                  <a:cubicBezTo>
                    <a:pt x="364665" y="323929"/>
                    <a:pt x="358524" y="321530"/>
                    <a:pt x="353718" y="316819"/>
                  </a:cubicBezTo>
                  <a:lnTo>
                    <a:pt x="345708" y="308732"/>
                  </a:lnTo>
                  <a:cubicBezTo>
                    <a:pt x="336186" y="314598"/>
                    <a:pt x="325773" y="318952"/>
                    <a:pt x="314737" y="321530"/>
                  </a:cubicBezTo>
                  <a:lnTo>
                    <a:pt x="314737" y="332817"/>
                  </a:lnTo>
                  <a:cubicBezTo>
                    <a:pt x="314737" y="346237"/>
                    <a:pt x="303879" y="356990"/>
                    <a:pt x="290529" y="356990"/>
                  </a:cubicBezTo>
                  <a:cubicBezTo>
                    <a:pt x="277090" y="356990"/>
                    <a:pt x="266322" y="346237"/>
                    <a:pt x="266322" y="332817"/>
                  </a:cubicBezTo>
                  <a:lnTo>
                    <a:pt x="266322" y="321530"/>
                  </a:lnTo>
                  <a:cubicBezTo>
                    <a:pt x="255108" y="318952"/>
                    <a:pt x="244695" y="314598"/>
                    <a:pt x="235350" y="308732"/>
                  </a:cubicBezTo>
                  <a:lnTo>
                    <a:pt x="227340" y="316730"/>
                  </a:lnTo>
                  <a:cubicBezTo>
                    <a:pt x="222712" y="321441"/>
                    <a:pt x="216482" y="323840"/>
                    <a:pt x="210252" y="323840"/>
                  </a:cubicBezTo>
                  <a:cubicBezTo>
                    <a:pt x="204111" y="323840"/>
                    <a:pt x="197971" y="321441"/>
                    <a:pt x="193165" y="316730"/>
                  </a:cubicBezTo>
                  <a:cubicBezTo>
                    <a:pt x="183731" y="307221"/>
                    <a:pt x="183731" y="291935"/>
                    <a:pt x="193165" y="282425"/>
                  </a:cubicBezTo>
                  <a:lnTo>
                    <a:pt x="201264" y="274427"/>
                  </a:lnTo>
                  <a:cubicBezTo>
                    <a:pt x="195479" y="264917"/>
                    <a:pt x="191029" y="254519"/>
                    <a:pt x="188448" y="243499"/>
                  </a:cubicBezTo>
                  <a:lnTo>
                    <a:pt x="177145" y="243499"/>
                  </a:lnTo>
                  <a:cubicBezTo>
                    <a:pt x="163795" y="243499"/>
                    <a:pt x="152937" y="232656"/>
                    <a:pt x="152492" y="219503"/>
                  </a:cubicBezTo>
                  <a:cubicBezTo>
                    <a:pt x="152492" y="206172"/>
                    <a:pt x="163261" y="195329"/>
                    <a:pt x="176700" y="195329"/>
                  </a:cubicBezTo>
                  <a:lnTo>
                    <a:pt x="188003" y="195329"/>
                  </a:lnTo>
                  <a:cubicBezTo>
                    <a:pt x="190584" y="184220"/>
                    <a:pt x="194945" y="173822"/>
                    <a:pt x="200819" y="164401"/>
                  </a:cubicBezTo>
                  <a:lnTo>
                    <a:pt x="192720" y="156402"/>
                  </a:lnTo>
                  <a:cubicBezTo>
                    <a:pt x="183197" y="146893"/>
                    <a:pt x="183197" y="131607"/>
                    <a:pt x="192720" y="122097"/>
                  </a:cubicBezTo>
                  <a:cubicBezTo>
                    <a:pt x="202243" y="112677"/>
                    <a:pt x="217550" y="112677"/>
                    <a:pt x="226984" y="122097"/>
                  </a:cubicBezTo>
                  <a:lnTo>
                    <a:pt x="235083" y="130185"/>
                  </a:lnTo>
                  <a:cubicBezTo>
                    <a:pt x="244606" y="124408"/>
                    <a:pt x="255019" y="119964"/>
                    <a:pt x="266055" y="117387"/>
                  </a:cubicBezTo>
                  <a:lnTo>
                    <a:pt x="266055" y="106100"/>
                  </a:lnTo>
                  <a:cubicBezTo>
                    <a:pt x="266055" y="92769"/>
                    <a:pt x="276823" y="81926"/>
                    <a:pt x="290262" y="81926"/>
                  </a:cubicBezTo>
                  <a:close/>
                  <a:moveTo>
                    <a:pt x="48418" y="48350"/>
                  </a:moveTo>
                  <a:lnTo>
                    <a:pt x="48418" y="390358"/>
                  </a:lnTo>
                  <a:lnTo>
                    <a:pt x="532952" y="390358"/>
                  </a:lnTo>
                  <a:lnTo>
                    <a:pt x="532952" y="48350"/>
                  </a:lnTo>
                  <a:close/>
                  <a:moveTo>
                    <a:pt x="24209" y="0"/>
                  </a:moveTo>
                  <a:lnTo>
                    <a:pt x="557250" y="0"/>
                  </a:lnTo>
                  <a:cubicBezTo>
                    <a:pt x="570690" y="0"/>
                    <a:pt x="581459" y="10754"/>
                    <a:pt x="581370" y="24175"/>
                  </a:cubicBezTo>
                  <a:lnTo>
                    <a:pt x="581370" y="414533"/>
                  </a:lnTo>
                  <a:cubicBezTo>
                    <a:pt x="581370" y="427865"/>
                    <a:pt x="570512" y="438708"/>
                    <a:pt x="557161" y="438708"/>
                  </a:cubicBezTo>
                  <a:lnTo>
                    <a:pt x="386008" y="438708"/>
                  </a:lnTo>
                  <a:lnTo>
                    <a:pt x="386008" y="461994"/>
                  </a:lnTo>
                  <a:lnTo>
                    <a:pt x="480707" y="537542"/>
                  </a:lnTo>
                  <a:cubicBezTo>
                    <a:pt x="493257" y="544830"/>
                    <a:pt x="497529" y="578960"/>
                    <a:pt x="465666" y="580648"/>
                  </a:cubicBezTo>
                  <a:lnTo>
                    <a:pt x="115704" y="580648"/>
                  </a:lnTo>
                  <a:cubicBezTo>
                    <a:pt x="103066" y="582870"/>
                    <a:pt x="77433" y="560473"/>
                    <a:pt x="100574" y="537542"/>
                  </a:cubicBezTo>
                  <a:lnTo>
                    <a:pt x="195274" y="461994"/>
                  </a:lnTo>
                  <a:lnTo>
                    <a:pt x="195274" y="438708"/>
                  </a:lnTo>
                  <a:lnTo>
                    <a:pt x="24209" y="438708"/>
                  </a:lnTo>
                  <a:cubicBezTo>
                    <a:pt x="10769" y="438708"/>
                    <a:pt x="0" y="427865"/>
                    <a:pt x="0" y="414533"/>
                  </a:cubicBezTo>
                  <a:lnTo>
                    <a:pt x="0" y="24175"/>
                  </a:lnTo>
                  <a:cubicBezTo>
                    <a:pt x="0" y="10754"/>
                    <a:pt x="10769" y="0"/>
                    <a:pt x="24209" y="0"/>
                  </a:cubicBezTo>
                  <a:close/>
                </a:path>
              </a:pathLst>
            </a:custGeom>
            <a:solidFill>
              <a:srgbClr val="6691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等线"/>
                <a:ea typeface="等线"/>
                <a:cs typeface="Arial"/>
              </a:endParaRPr>
            </a:p>
          </p:txBody>
        </p:sp>
        <p:sp>
          <p:nvSpPr>
            <p:cNvPr id="31" name="文本框 30">
              <a:extLst>
                <a:ext uri="{FF2B5EF4-FFF2-40B4-BE49-F238E27FC236}">
                  <a16:creationId xmlns:a16="http://schemas.microsoft.com/office/drawing/2014/main" id="{4BC974B0-985A-D479-BF62-89DC90E7B23A}"/>
                </a:ext>
              </a:extLst>
            </p:cNvPr>
            <p:cNvSpPr txBox="1"/>
            <p:nvPr/>
          </p:nvSpPr>
          <p:spPr>
            <a:xfrm>
              <a:off x="517677" y="3572189"/>
              <a:ext cx="1210588"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altLang="zh-CN" sz="8000" b="1" i="0" u="none" strike="noStrike" kern="1200" cap="none" spc="0" normalizeH="0" baseline="0" noProof="0" dirty="0">
                  <a:ln>
                    <a:noFill/>
                  </a:ln>
                  <a:gradFill>
                    <a:gsLst>
                      <a:gs pos="94000">
                        <a:srgbClr val="8AB1CE">
                          <a:alpha val="40000"/>
                        </a:srgbClr>
                      </a:gs>
                      <a:gs pos="24000">
                        <a:srgbClr val="6691C0"/>
                      </a:gs>
                    </a:gsLst>
                    <a:lin ang="5400000" scaled="0"/>
                  </a:gradFill>
                  <a:effectLst/>
                  <a:uLnTx/>
                  <a:uFillTx/>
                  <a:latin typeface="Times New Roman" panose="02020603050405020304" pitchFamily="18" charset="0"/>
                  <a:ea typeface="方正小标宋简体" panose="02010601030101010101" pitchFamily="2" charset="-122"/>
                  <a:cs typeface="Times New Roman" panose="02020603050405020304" pitchFamily="18" charset="0"/>
                  <a:sym typeface="+mn-lt"/>
                </a:rPr>
                <a:t>02</a:t>
              </a:r>
              <a:endParaRPr kumimoji="0" lang="zh-CN" altLang="en-US" sz="8000" b="1" i="0" u="none" strike="noStrike" kern="1200" cap="none" spc="0" normalizeH="0" baseline="0" noProof="0" dirty="0">
                <a:ln>
                  <a:noFill/>
                </a:ln>
                <a:gradFill>
                  <a:gsLst>
                    <a:gs pos="94000">
                      <a:srgbClr val="8AB1CE">
                        <a:alpha val="40000"/>
                      </a:srgbClr>
                    </a:gs>
                    <a:gs pos="24000">
                      <a:srgbClr val="6691C0"/>
                    </a:gs>
                  </a:gsLst>
                  <a:lin ang="5400000" scaled="0"/>
                </a:gradFill>
                <a:effectLst/>
                <a:uLnTx/>
                <a:uFillTx/>
                <a:latin typeface="Times New Roman" panose="02020603050405020304" pitchFamily="18" charset="0"/>
                <a:ea typeface="方正小标宋简体" panose="02010601030101010101" pitchFamily="2" charset="-122"/>
                <a:cs typeface="Times New Roman" panose="02020603050405020304" pitchFamily="18" charset="0"/>
                <a:sym typeface="+mn-lt"/>
              </a:endParaRPr>
            </a:p>
          </p:txBody>
        </p:sp>
      </p:grpSp>
      <p:pic>
        <p:nvPicPr>
          <p:cNvPr id="63" name="图形 62">
            <a:extLst>
              <a:ext uri="{FF2B5EF4-FFF2-40B4-BE49-F238E27FC236}">
                <a16:creationId xmlns:a16="http://schemas.microsoft.com/office/drawing/2014/main" id="{B0B902E9-2429-6CE5-7D70-BF5BA0642D9F}"/>
              </a:ext>
            </a:extLst>
          </p:cNvPr>
          <p:cNvPicPr>
            <a:picLocks noChangeAspect="1"/>
          </p:cNvPicPr>
          <p:nvPr>
            <p:custDataLst>
              <p:tags r:id="rId1"/>
            </p:custDataLst>
          </p:nvPr>
        </p:nvPicPr>
        <p:blipFill>
          <a:blip>
            <a:extLst>
              <a:ext uri="{96DAC541-7B7A-43D3-8B79-37D633B846F1}">
                <asvg:svgBlip xmlns:asvg="http://schemas.microsoft.com/office/drawing/2016/SVG/main" r:embed="rId24"/>
              </a:ext>
            </a:extLst>
          </a:blip>
          <a:stretch>
            <a:fillRect/>
          </a:stretch>
        </p:blipFill>
        <p:spPr>
          <a:xfrm>
            <a:off x="2357642" y="2003739"/>
            <a:ext cx="583412" cy="583412"/>
          </a:xfrm>
          <a:prstGeom prst="rect">
            <a:avLst/>
          </a:prstGeom>
        </p:spPr>
      </p:pic>
      <p:pic>
        <p:nvPicPr>
          <p:cNvPr id="65" name="图形 64">
            <a:extLst>
              <a:ext uri="{FF2B5EF4-FFF2-40B4-BE49-F238E27FC236}">
                <a16:creationId xmlns:a16="http://schemas.microsoft.com/office/drawing/2014/main" id="{BA877242-03EA-A479-70EE-C81165B67C74}"/>
              </a:ext>
            </a:extLst>
          </p:cNvPr>
          <p:cNvPicPr>
            <a:picLocks noChangeAspect="1"/>
          </p:cNvPicPr>
          <p:nvPr>
            <p:custDataLst>
              <p:tags r:id="rId2"/>
            </p:custDataLst>
          </p:nvPr>
        </p:nvPicPr>
        <p:blipFill>
          <a:blip>
            <a:extLst>
              <a:ext uri="{96DAC541-7B7A-43D3-8B79-37D633B846F1}">
                <asvg:svgBlip xmlns:asvg="http://schemas.microsoft.com/office/drawing/2016/SVG/main" r:embed="rId25"/>
              </a:ext>
            </a:extLst>
          </a:blip>
          <a:stretch>
            <a:fillRect/>
          </a:stretch>
        </p:blipFill>
        <p:spPr>
          <a:xfrm>
            <a:off x="4966192" y="5245115"/>
            <a:ext cx="730868" cy="730868"/>
          </a:xfrm>
          <a:prstGeom prst="rect">
            <a:avLst/>
          </a:prstGeom>
        </p:spPr>
      </p:pic>
      <p:sp>
        <p:nvSpPr>
          <p:cNvPr id="66" name="图形">
            <a:extLst>
              <a:ext uri="{FF2B5EF4-FFF2-40B4-BE49-F238E27FC236}">
                <a16:creationId xmlns:a16="http://schemas.microsoft.com/office/drawing/2014/main" id="{D31DF091-7F25-70DB-F8CA-0907CB970747}"/>
              </a:ext>
            </a:extLst>
          </p:cNvPr>
          <p:cNvSpPr txBox="1"/>
          <p:nvPr>
            <p:custDataLst>
              <p:tags r:id="rId3"/>
            </p:custDataLst>
          </p:nvPr>
        </p:nvSpPr>
        <p:spPr>
          <a:xfrm>
            <a:off x="6490727" y="3659951"/>
            <a:ext cx="1991275" cy="5834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思源黑体旧字形 Light" panose="020B0300000000000000" charset="-128"/>
                <a:sym typeface="Arial"/>
              </a:rPr>
              <a:t>分析解读</a:t>
            </a:r>
          </a:p>
        </p:txBody>
      </p:sp>
      <p:sp>
        <p:nvSpPr>
          <p:cNvPr id="67" name="图形">
            <a:extLst>
              <a:ext uri="{FF2B5EF4-FFF2-40B4-BE49-F238E27FC236}">
                <a16:creationId xmlns:a16="http://schemas.microsoft.com/office/drawing/2014/main" id="{552D7D1F-3BCB-4A0D-D843-C5EC2FBE0959}"/>
              </a:ext>
            </a:extLst>
          </p:cNvPr>
          <p:cNvSpPr txBox="1"/>
          <p:nvPr>
            <p:custDataLst>
              <p:tags r:id="rId4"/>
            </p:custDataLst>
          </p:nvPr>
        </p:nvSpPr>
        <p:spPr>
          <a:xfrm>
            <a:off x="4664086" y="4313909"/>
            <a:ext cx="5857181" cy="336887"/>
          </a:xfrm>
          <a:prstGeom prst="rect">
            <a:avLst/>
          </a:prstGeom>
          <a:noFill/>
        </p:spPr>
        <p:txBody>
          <a:bodyPr wrap="square" numCol="1" rtlCol="0">
            <a:spAutoFit/>
          </a:bodyPr>
          <a:lstStyle/>
          <a:p>
            <a:pPr marR="0" lvl="0" algn="ctr" defTabSz="914400" rtl="0" eaLnBrk="1" fontAlgn="auto" latinLnBrk="0" hangingPunct="1">
              <a:lnSpc>
                <a:spcPct val="125000"/>
              </a:lnSpc>
              <a:spcBef>
                <a:spcPts val="0"/>
              </a:spcBef>
              <a:spcAft>
                <a:spcPts val="0"/>
              </a:spcAft>
              <a:buClrTx/>
              <a:buSzTx/>
              <a:tabLst/>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人与自然、社会的关系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科技创新的责任性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科技伦理与社会信用</a:t>
            </a:r>
            <a:endParaRPr lang="en-US" altLang="zh-CN"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endParaRPr>
          </a:p>
        </p:txBody>
      </p:sp>
      <p:sp>
        <p:nvSpPr>
          <p:cNvPr id="68" name="图形">
            <a:extLst>
              <a:ext uri="{FF2B5EF4-FFF2-40B4-BE49-F238E27FC236}">
                <a16:creationId xmlns:a16="http://schemas.microsoft.com/office/drawing/2014/main" id="{C1BDCBC1-90F3-0639-4644-885DBEE5B21C}"/>
              </a:ext>
            </a:extLst>
          </p:cNvPr>
          <p:cNvSpPr txBox="1"/>
          <p:nvPr>
            <p:custDataLst>
              <p:tags r:id="rId5"/>
            </p:custDataLst>
          </p:nvPr>
        </p:nvSpPr>
        <p:spPr>
          <a:xfrm>
            <a:off x="7901679" y="5307155"/>
            <a:ext cx="1991275" cy="5834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思源黑体旧字形 Light" panose="020B0300000000000000" charset="-128"/>
                <a:sym typeface="Arial"/>
              </a:rPr>
              <a:t>现实启示</a:t>
            </a:r>
          </a:p>
        </p:txBody>
      </p:sp>
      <p:sp>
        <p:nvSpPr>
          <p:cNvPr id="69" name="图形">
            <a:extLst>
              <a:ext uri="{FF2B5EF4-FFF2-40B4-BE49-F238E27FC236}">
                <a16:creationId xmlns:a16="http://schemas.microsoft.com/office/drawing/2014/main" id="{3A041462-EC0B-49EC-C80D-0FDF982FCD57}"/>
              </a:ext>
            </a:extLst>
          </p:cNvPr>
          <p:cNvSpPr txBox="1"/>
          <p:nvPr>
            <p:custDataLst>
              <p:tags r:id="rId6"/>
            </p:custDataLst>
          </p:nvPr>
        </p:nvSpPr>
        <p:spPr>
          <a:xfrm>
            <a:off x="6745573" y="5961113"/>
            <a:ext cx="4303486" cy="336887"/>
          </a:xfrm>
          <a:prstGeom prst="rect">
            <a:avLst/>
          </a:prstGeom>
          <a:noFill/>
        </p:spPr>
        <p:txBody>
          <a:bodyPr wrap="square" numCol="1" rtlCol="0">
            <a:spAutoFit/>
          </a:bodyPr>
          <a:lstStyle/>
          <a:p>
            <a:pPr marR="0" lvl="0" algn="ctr" defTabSz="914400" rtl="0" eaLnBrk="1" fontAlgn="auto" latinLnBrk="0" hangingPunct="1">
              <a:lnSpc>
                <a:spcPct val="125000"/>
              </a:lnSpc>
              <a:spcBef>
                <a:spcPts val="0"/>
              </a:spcBef>
              <a:spcAft>
                <a:spcPts val="0"/>
              </a:spcAft>
              <a:buClrTx/>
              <a:buSzTx/>
              <a:tabLst/>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Times New Roman" panose="02020603050405020304" pitchFamily="18" charset="0"/>
                <a:ea typeface="汉仪大宋简"/>
                <a:cs typeface="Times New Roman" panose="02020603050405020304" pitchFamily="18" charset="0"/>
                <a:sym typeface="Arial"/>
              </a:rPr>
              <a:t>111</a:t>
            </a:r>
            <a:endParaRPr lang="en-US" altLang="zh-CN" sz="1400" dirty="0">
              <a:solidFill>
                <a:prstClr val="black">
                  <a:lumMod val="85000"/>
                  <a:lumOff val="15000"/>
                </a:prstClr>
              </a:solidFill>
              <a:latin typeface="Times New Roman" panose="02020603050405020304" pitchFamily="18" charset="0"/>
              <a:ea typeface="汉仪大宋简"/>
              <a:cs typeface="Times New Roman" panose="02020603050405020304" pitchFamily="18" charset="0"/>
              <a:sym typeface="Arial"/>
            </a:endParaRPr>
          </a:p>
        </p:txBody>
      </p:sp>
    </p:spTree>
    <p:extLst>
      <p:ext uri="{BB962C8B-B14F-4D97-AF65-F5344CB8AC3E}">
        <p14:creationId xmlns:p14="http://schemas.microsoft.com/office/powerpoint/2010/main" val="1807033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1AE0D-A006-5680-4716-F72F244AD0FD}"/>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5A86E21-104C-A41D-979F-A65B49397114}"/>
              </a:ext>
            </a:extLst>
          </p:cNvPr>
          <p:cNvSpPr/>
          <p:nvPr/>
        </p:nvSpPr>
        <p:spPr>
          <a:xfrm>
            <a:off x="6615953" y="2644599"/>
            <a:ext cx="4857590" cy="4086362"/>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1929F624-5499-F00A-EACC-1FDA80C702D0}"/>
              </a:ext>
            </a:extLst>
          </p:cNvPr>
          <p:cNvSpPr/>
          <p:nvPr/>
        </p:nvSpPr>
        <p:spPr>
          <a:xfrm>
            <a:off x="7898970" y="2388282"/>
            <a:ext cx="2291556" cy="589640"/>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技术发展</a:t>
            </a:r>
          </a:p>
        </p:txBody>
      </p:sp>
      <p:sp>
        <p:nvSpPr>
          <p:cNvPr id="64" name="矩形 63">
            <a:extLst>
              <a:ext uri="{FF2B5EF4-FFF2-40B4-BE49-F238E27FC236}">
                <a16:creationId xmlns:a16="http://schemas.microsoft.com/office/drawing/2014/main" id="{0CE6102D-447C-518C-D9CD-993BF8317B09}"/>
              </a:ext>
            </a:extLst>
          </p:cNvPr>
          <p:cNvSpPr/>
          <p:nvPr/>
        </p:nvSpPr>
        <p:spPr>
          <a:xfrm>
            <a:off x="715103" y="2644599"/>
            <a:ext cx="5752684" cy="4086362"/>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90D6F6FC-ADC3-C15D-EA3B-7848DA63DDA4}"/>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A073C7ED-3B87-3A9F-9464-024F594FD3FA}"/>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49F6AD71-8167-64AB-1456-090C3D69AA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45" name="矩形 44">
            <a:extLst>
              <a:ext uri="{FF2B5EF4-FFF2-40B4-BE49-F238E27FC236}">
                <a16:creationId xmlns:a16="http://schemas.microsoft.com/office/drawing/2014/main" id="{0F642E48-F78D-96F0-F2B1-27A14AEE2F78}"/>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6EE6F252-ECB1-7AC0-5BA2-6BAEDC9DA8A3}"/>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技术背景</a:t>
            </a:r>
          </a:p>
        </p:txBody>
      </p:sp>
      <p:sp>
        <p:nvSpPr>
          <p:cNvPr id="47" name="文本框 46">
            <a:extLst>
              <a:ext uri="{FF2B5EF4-FFF2-40B4-BE49-F238E27FC236}">
                <a16:creationId xmlns:a16="http://schemas.microsoft.com/office/drawing/2014/main" id="{65AFAA1C-28B4-766E-8B0F-AE42E609DCFD}"/>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8" name="文本框 47">
            <a:extLst>
              <a:ext uri="{FF2B5EF4-FFF2-40B4-BE49-F238E27FC236}">
                <a16:creationId xmlns:a16="http://schemas.microsoft.com/office/drawing/2014/main" id="{F401641C-0C4A-E47A-A15D-19A23871A7B2}"/>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49" name="文本框 48">
            <a:extLst>
              <a:ext uri="{FF2B5EF4-FFF2-40B4-BE49-F238E27FC236}">
                <a16:creationId xmlns:a16="http://schemas.microsoft.com/office/drawing/2014/main" id="{70447A05-C9B1-CD02-95ED-9C262726C94D}"/>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pic>
        <p:nvPicPr>
          <p:cNvPr id="50" name="图片 49">
            <a:extLst>
              <a:ext uri="{FF2B5EF4-FFF2-40B4-BE49-F238E27FC236}">
                <a16:creationId xmlns:a16="http://schemas.microsoft.com/office/drawing/2014/main" id="{D66E931B-5336-238A-C39C-5A1D7AD10796}"/>
              </a:ext>
            </a:extLst>
          </p:cNvPr>
          <p:cNvPicPr>
            <a:picLocks noChangeAspect="1"/>
          </p:cNvPicPr>
          <p:nvPr/>
        </p:nvPicPr>
        <p:blipFill>
          <a:blip r:embed="rId5">
            <a:extLst>
              <a:ext uri="{28A0092B-C50C-407E-A947-70E740481C1C}">
                <a14:useLocalDpi xmlns:a14="http://schemas.microsoft.com/office/drawing/2010/main" val="0"/>
              </a:ext>
            </a:extLst>
          </a:blip>
          <a:srcRect l="9560" t="46219" r="6625" b="40290"/>
          <a:stretch>
            <a:fillRect/>
          </a:stretch>
        </p:blipFill>
        <p:spPr>
          <a:xfrm>
            <a:off x="721759" y="1073912"/>
            <a:ext cx="10751784" cy="1096308"/>
          </a:xfrm>
          <a:prstGeom prst="rect">
            <a:avLst/>
          </a:prstGeom>
          <a:effectLst>
            <a:outerShdw blurRad="50800" dist="76200" dir="2700000" algn="tl" rotWithShape="0">
              <a:srgbClr val="0F349D">
                <a:alpha val="40000"/>
              </a:srgbClr>
            </a:outerShdw>
          </a:effectLst>
        </p:spPr>
      </p:pic>
      <p:sp>
        <p:nvSpPr>
          <p:cNvPr id="51" name="图形">
            <a:extLst>
              <a:ext uri="{FF2B5EF4-FFF2-40B4-BE49-F238E27FC236}">
                <a16:creationId xmlns:a16="http://schemas.microsoft.com/office/drawing/2014/main" id="{4C98CCB1-67DF-1449-76B9-1EFF214EC11B}"/>
              </a:ext>
            </a:extLst>
          </p:cNvPr>
          <p:cNvSpPr/>
          <p:nvPr/>
        </p:nvSpPr>
        <p:spPr>
          <a:xfrm>
            <a:off x="721759" y="1073912"/>
            <a:ext cx="10751784" cy="1096309"/>
          </a:xfrm>
          <a:prstGeom prst="rect">
            <a:avLst/>
          </a:prstGeom>
          <a:gradFill>
            <a:gsLst>
              <a:gs pos="0">
                <a:srgbClr val="0F349D"/>
              </a:gs>
              <a:gs pos="100000">
                <a:srgbClr val="0F349D">
                  <a:alpha val="6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sp>
        <p:nvSpPr>
          <p:cNvPr id="55" name="文本框 54">
            <a:extLst>
              <a:ext uri="{FF2B5EF4-FFF2-40B4-BE49-F238E27FC236}">
                <a16:creationId xmlns:a16="http://schemas.microsoft.com/office/drawing/2014/main" id="{91D354BB-AF3F-865F-875A-F5B94EB1B33F}"/>
              </a:ext>
            </a:extLst>
          </p:cNvPr>
          <p:cNvSpPr txBox="1"/>
          <p:nvPr/>
        </p:nvSpPr>
        <p:spPr>
          <a:xfrm>
            <a:off x="1307951" y="1418677"/>
            <a:ext cx="9579040" cy="441724"/>
          </a:xfrm>
          <a:prstGeom prst="rect">
            <a:avLst/>
          </a:prstGeom>
          <a:noFill/>
        </p:spPr>
        <p:txBody>
          <a:bodyPr wrap="square">
            <a:spAutoFit/>
          </a:bodyPr>
          <a:lstStyle>
            <a:defPPr>
              <a:defRPr lang="zh-CN"/>
            </a:defPPr>
            <a:lvl1pPr>
              <a:lnSpc>
                <a:spcPct val="125000"/>
              </a:lnSpc>
              <a:defRPr>
                <a:latin typeface="Times New Roman" panose="02020603050405020304" pitchFamily="18" charset="0"/>
                <a:ea typeface="微软雅黑" panose="020B0503020204020204" pitchFamily="34" charset="-122"/>
              </a:defRPr>
            </a:lvl1pPr>
          </a:lstStyle>
          <a:p>
            <a:pPr algn="ctr"/>
            <a:r>
              <a:rPr lang="zh-CN" altLang="en-US" sz="2000" b="1" dirty="0">
                <a:solidFill>
                  <a:schemeClr val="bg1"/>
                </a:solidFill>
              </a:rPr>
              <a:t>基因测序技术的发展催生了以“个体化医疗”为基础的精准医学的勃兴。</a:t>
            </a:r>
          </a:p>
        </p:txBody>
      </p:sp>
      <p:pic>
        <p:nvPicPr>
          <p:cNvPr id="61" name="图片 60">
            <a:extLst>
              <a:ext uri="{FF2B5EF4-FFF2-40B4-BE49-F238E27FC236}">
                <a16:creationId xmlns:a16="http://schemas.microsoft.com/office/drawing/2014/main" id="{85886009-1041-BB83-9B2B-507DCEA60E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41399" y="3440863"/>
            <a:ext cx="4313405" cy="3085162"/>
          </a:xfrm>
          <a:prstGeom prst="rect">
            <a:avLst/>
          </a:prstGeom>
        </p:spPr>
      </p:pic>
      <p:sp>
        <p:nvSpPr>
          <p:cNvPr id="63" name="矩形: 圆角 62">
            <a:extLst>
              <a:ext uri="{FF2B5EF4-FFF2-40B4-BE49-F238E27FC236}">
                <a16:creationId xmlns:a16="http://schemas.microsoft.com/office/drawing/2014/main" id="{677CB7A8-060D-76A9-75D3-6CC8A4161175}"/>
              </a:ext>
            </a:extLst>
          </p:cNvPr>
          <p:cNvSpPr/>
          <p:nvPr/>
        </p:nvSpPr>
        <p:spPr>
          <a:xfrm>
            <a:off x="2452323" y="2388282"/>
            <a:ext cx="2291556" cy="589640"/>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CRISPR/Cas</a:t>
            </a:r>
            <a:endPar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8" name="文本框 67">
            <a:extLst>
              <a:ext uri="{FF2B5EF4-FFF2-40B4-BE49-F238E27FC236}">
                <a16:creationId xmlns:a16="http://schemas.microsoft.com/office/drawing/2014/main" id="{F6FEB47A-5030-39FE-F488-FB5BA4F7C595}"/>
              </a:ext>
            </a:extLst>
          </p:cNvPr>
          <p:cNvSpPr txBox="1"/>
          <p:nvPr/>
        </p:nvSpPr>
        <p:spPr>
          <a:xfrm>
            <a:off x="963424" y="2994437"/>
            <a:ext cx="5269355" cy="406778"/>
          </a:xfrm>
          <a:prstGeom prst="rect">
            <a:avLst/>
          </a:prstGeom>
          <a:noFill/>
        </p:spPr>
        <p:txBody>
          <a:bodyPr wrap="square">
            <a:spAutoFit/>
          </a:bodyPr>
          <a:lstStyle>
            <a:defPPr>
              <a:defRPr lang="zh-CN"/>
            </a:defPPr>
            <a:lvl1pPr algn="ctr">
              <a:lnSpc>
                <a:spcPct val="125000"/>
              </a:lnSpc>
              <a:defRPr sz="2000" b="1">
                <a:solidFill>
                  <a:schemeClr val="bg1"/>
                </a:solidFill>
                <a:latin typeface="Times New Roman" panose="02020603050405020304" pitchFamily="18" charset="0"/>
                <a:ea typeface="微软雅黑" panose="020B0503020204020204" pitchFamily="34" charset="-122"/>
              </a:defRPr>
            </a:lvl1pPr>
          </a:lstStyle>
          <a:p>
            <a:r>
              <a:rPr lang="zh-CN" altLang="en-US" sz="1800" b="0" dirty="0">
                <a:solidFill>
                  <a:schemeClr val="tx1"/>
                </a:solidFill>
              </a:rPr>
              <a:t>成簇规律间隔短回文重复序列内切酶基因编辑技术</a:t>
            </a:r>
          </a:p>
        </p:txBody>
      </p:sp>
      <p:pic>
        <p:nvPicPr>
          <p:cNvPr id="2" name="图片 1" descr="IMG_256">
            <a:extLst>
              <a:ext uri="{FF2B5EF4-FFF2-40B4-BE49-F238E27FC236}">
                <a16:creationId xmlns:a16="http://schemas.microsoft.com/office/drawing/2014/main" id="{03DD7657-34DB-89F6-ACF0-C0AD850CF6DE}"/>
              </a:ext>
            </a:extLst>
          </p:cNvPr>
          <p:cNvPicPr>
            <a:picLocks noChangeAspect="1"/>
          </p:cNvPicPr>
          <p:nvPr/>
        </p:nvPicPr>
        <p:blipFill>
          <a:blip r:embed="rId7"/>
          <a:srcRect b="29772"/>
          <a:stretch>
            <a:fillRect/>
          </a:stretch>
        </p:blipFill>
        <p:spPr>
          <a:xfrm>
            <a:off x="7330202" y="4139649"/>
            <a:ext cx="3429093" cy="2408161"/>
          </a:xfrm>
          <a:prstGeom prst="rect">
            <a:avLst/>
          </a:prstGeom>
          <a:noFill/>
          <a:ln w="9525">
            <a:noFill/>
          </a:ln>
        </p:spPr>
      </p:pic>
      <p:sp>
        <p:nvSpPr>
          <p:cNvPr id="6" name="文本框 5">
            <a:extLst>
              <a:ext uri="{FF2B5EF4-FFF2-40B4-BE49-F238E27FC236}">
                <a16:creationId xmlns:a16="http://schemas.microsoft.com/office/drawing/2014/main" id="{6D1B7AEE-A981-8EEF-BD67-72EE5E66A0F6}"/>
              </a:ext>
            </a:extLst>
          </p:cNvPr>
          <p:cNvSpPr txBox="1"/>
          <p:nvPr/>
        </p:nvSpPr>
        <p:spPr>
          <a:xfrm>
            <a:off x="6863074" y="2977922"/>
            <a:ext cx="4363349" cy="1099275"/>
          </a:xfrm>
          <a:prstGeom prst="rect">
            <a:avLst/>
          </a:prstGeom>
          <a:noFill/>
        </p:spPr>
        <p:txBody>
          <a:bodyPr wrap="square">
            <a:spAutoFit/>
          </a:bodyPr>
          <a:lstStyle>
            <a:defPPr>
              <a:defRPr lang="zh-CN"/>
            </a:defPPr>
            <a:lvl1pPr algn="ctr">
              <a:lnSpc>
                <a:spcPct val="125000"/>
              </a:lnSpc>
              <a:defRPr b="0">
                <a:latin typeface="Times New Roman" panose="02020603050405020304" pitchFamily="18" charset="0"/>
                <a:ea typeface="微软雅黑" panose="020B0503020204020204" pitchFamily="34" charset="-122"/>
              </a:defRPr>
            </a:lvl1pPr>
          </a:lstStyle>
          <a:p>
            <a:pPr algn="just"/>
            <a:r>
              <a:rPr lang="en-US" altLang="zh-CN" dirty="0"/>
              <a:t>2012</a:t>
            </a:r>
            <a:r>
              <a:rPr lang="zh-CN" altLang="en-US" dirty="0"/>
              <a:t>年，</a:t>
            </a:r>
            <a:r>
              <a:rPr lang="en-US" altLang="zh-CN" dirty="0"/>
              <a:t>Doudna</a:t>
            </a:r>
            <a:r>
              <a:rPr lang="zh-CN" altLang="en-US" dirty="0"/>
              <a:t>和</a:t>
            </a:r>
            <a:r>
              <a:rPr lang="en-US" altLang="zh-CN" dirty="0"/>
              <a:t>Charpentier</a:t>
            </a:r>
            <a:r>
              <a:rPr lang="zh-CN" altLang="en-US" dirty="0"/>
              <a:t>首次证明</a:t>
            </a:r>
            <a:r>
              <a:rPr lang="en-US" altLang="zh-CN" dirty="0"/>
              <a:t>CRISPR/Cas9</a:t>
            </a:r>
            <a:r>
              <a:rPr lang="zh-CN" altLang="en-US" dirty="0"/>
              <a:t>可以在体外对</a:t>
            </a:r>
            <a:r>
              <a:rPr lang="en-US" altLang="zh-CN" dirty="0"/>
              <a:t>DNA</a:t>
            </a:r>
            <a:r>
              <a:rPr lang="zh-CN" altLang="en-US" dirty="0"/>
              <a:t>进行切割，并获得</a:t>
            </a:r>
            <a:r>
              <a:rPr lang="en-US" altLang="zh-CN" dirty="0"/>
              <a:t>2020</a:t>
            </a:r>
            <a:r>
              <a:rPr lang="zh-CN" altLang="en-US" dirty="0"/>
              <a:t>年诺贝尔化学奖。</a:t>
            </a:r>
          </a:p>
        </p:txBody>
      </p:sp>
    </p:spTree>
    <p:extLst>
      <p:ext uri="{BB962C8B-B14F-4D97-AF65-F5344CB8AC3E}">
        <p14:creationId xmlns:p14="http://schemas.microsoft.com/office/powerpoint/2010/main" val="15309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FC395-9499-4CC0-3D2E-71574C48ABEF}"/>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E2E3AD54-1B07-3080-D868-F6D949B2E48B}"/>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A027E08C-4E56-40E5-3497-DA3D6A755C1B}"/>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6A24BBF8-C158-F2AD-9268-4791743B9D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45" name="矩形 44">
            <a:extLst>
              <a:ext uri="{FF2B5EF4-FFF2-40B4-BE49-F238E27FC236}">
                <a16:creationId xmlns:a16="http://schemas.microsoft.com/office/drawing/2014/main" id="{74F141DF-CD8B-A7A5-21CC-7AA98DFFEAB5}"/>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CFE18200-8997-5329-3B62-5C1027E5617B}"/>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技术背景</a:t>
            </a:r>
          </a:p>
        </p:txBody>
      </p:sp>
      <p:sp>
        <p:nvSpPr>
          <p:cNvPr id="47" name="文本框 46">
            <a:extLst>
              <a:ext uri="{FF2B5EF4-FFF2-40B4-BE49-F238E27FC236}">
                <a16:creationId xmlns:a16="http://schemas.microsoft.com/office/drawing/2014/main" id="{86B51331-9F03-93AB-28C8-FD2A2ED7D060}"/>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8" name="文本框 47">
            <a:extLst>
              <a:ext uri="{FF2B5EF4-FFF2-40B4-BE49-F238E27FC236}">
                <a16:creationId xmlns:a16="http://schemas.microsoft.com/office/drawing/2014/main" id="{C7078FB7-44B3-60DF-692F-8692DC85BD2A}"/>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49" name="文本框 48">
            <a:extLst>
              <a:ext uri="{FF2B5EF4-FFF2-40B4-BE49-F238E27FC236}">
                <a16:creationId xmlns:a16="http://schemas.microsoft.com/office/drawing/2014/main" id="{DD55751A-F090-C905-68EF-8D709EE9DA57}"/>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
        <p:nvSpPr>
          <p:cNvPr id="63" name="矩形: 圆角 62">
            <a:extLst>
              <a:ext uri="{FF2B5EF4-FFF2-40B4-BE49-F238E27FC236}">
                <a16:creationId xmlns:a16="http://schemas.microsoft.com/office/drawing/2014/main" id="{990DE540-4EAE-BB3C-7E76-881B7B6BC96B}"/>
              </a:ext>
            </a:extLst>
          </p:cNvPr>
          <p:cNvSpPr/>
          <p:nvPr/>
        </p:nvSpPr>
        <p:spPr>
          <a:xfrm>
            <a:off x="1443630" y="1009241"/>
            <a:ext cx="2291556" cy="589640"/>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技术原理</a:t>
            </a:r>
          </a:p>
        </p:txBody>
      </p:sp>
      <p:pic>
        <p:nvPicPr>
          <p:cNvPr id="2" name="图片 1" descr="CRISPR Illustrations_4square (1)">
            <a:extLst>
              <a:ext uri="{FF2B5EF4-FFF2-40B4-BE49-F238E27FC236}">
                <a16:creationId xmlns:a16="http://schemas.microsoft.com/office/drawing/2014/main" id="{15573A2D-F4E8-4FC6-F5B4-D6E866B772DC}"/>
              </a:ext>
            </a:extLst>
          </p:cNvPr>
          <p:cNvPicPr>
            <a:picLocks noChangeAspect="1"/>
          </p:cNvPicPr>
          <p:nvPr/>
        </p:nvPicPr>
        <p:blipFill>
          <a:blip r:embed="rId5"/>
          <a:stretch>
            <a:fillRect/>
          </a:stretch>
        </p:blipFill>
        <p:spPr>
          <a:xfrm>
            <a:off x="325480" y="1755094"/>
            <a:ext cx="4527856" cy="4527856"/>
          </a:xfrm>
          <a:prstGeom prst="rect">
            <a:avLst/>
          </a:prstGeom>
          <a:effectLst>
            <a:outerShdw blurRad="50800" dist="38100" dir="2700000" algn="tl" rotWithShape="0">
              <a:prstClr val="black">
                <a:alpha val="40000"/>
              </a:prstClr>
            </a:outerShdw>
          </a:effectLst>
        </p:spPr>
      </p:pic>
      <p:sp>
        <p:nvSpPr>
          <p:cNvPr id="6" name="文本框 5">
            <a:extLst>
              <a:ext uri="{FF2B5EF4-FFF2-40B4-BE49-F238E27FC236}">
                <a16:creationId xmlns:a16="http://schemas.microsoft.com/office/drawing/2014/main" id="{875859E7-AABB-CB23-37E8-7959A5554A3E}"/>
              </a:ext>
            </a:extLst>
          </p:cNvPr>
          <p:cNvSpPr txBox="1"/>
          <p:nvPr/>
        </p:nvSpPr>
        <p:spPr>
          <a:xfrm>
            <a:off x="-8392" y="6382160"/>
            <a:ext cx="5195600" cy="369332"/>
          </a:xfrm>
          <a:prstGeom prst="rect">
            <a:avLst/>
          </a:prstGeom>
          <a:noFill/>
        </p:spPr>
        <p:txBody>
          <a:bodyPr wrap="square">
            <a:spAutoFit/>
          </a:bodyPr>
          <a:lstStyle>
            <a:defPPr>
              <a:defRPr lang="zh-CN"/>
            </a:defPPr>
            <a:lvl1pPr algn="ctr">
              <a:lnSpc>
                <a:spcPct val="125000"/>
              </a:lnSpc>
              <a:defRPr sz="1600">
                <a:latin typeface="仿宋" panose="02010609060101010101" pitchFamily="49" charset="-122"/>
                <a:ea typeface="仿宋" panose="02010609060101010101" pitchFamily="49" charset="-122"/>
              </a:defRPr>
            </a:lvl1pPr>
          </a:lstStyle>
          <a:p>
            <a:r>
              <a:rPr lang="zh-CN" altLang="en-US" dirty="0"/>
              <a:t>图 </a:t>
            </a:r>
            <a:r>
              <a:rPr lang="en-US" altLang="zh-CN" dirty="0"/>
              <a:t>CRISPR-Cas9</a:t>
            </a:r>
            <a:r>
              <a:rPr lang="zh-CN" altLang="en-US" dirty="0"/>
              <a:t>系统作为基因编辑工具原理示意图</a:t>
            </a:r>
          </a:p>
        </p:txBody>
      </p:sp>
      <p:grpSp>
        <p:nvGrpSpPr>
          <p:cNvPr id="18" name="组合 17">
            <a:extLst>
              <a:ext uri="{FF2B5EF4-FFF2-40B4-BE49-F238E27FC236}">
                <a16:creationId xmlns:a16="http://schemas.microsoft.com/office/drawing/2014/main" id="{B350EBDB-22C7-61AB-A774-F44190719450}"/>
              </a:ext>
            </a:extLst>
          </p:cNvPr>
          <p:cNvGrpSpPr/>
          <p:nvPr/>
        </p:nvGrpSpPr>
        <p:grpSpPr>
          <a:xfrm>
            <a:off x="5057865" y="1104314"/>
            <a:ext cx="6927809" cy="1010601"/>
            <a:chOff x="5057865" y="1104314"/>
            <a:chExt cx="6927809" cy="1010601"/>
          </a:xfrm>
        </p:grpSpPr>
        <p:sp>
          <p:nvSpPr>
            <p:cNvPr id="13" name="矩形: 圆角 12">
              <a:extLst>
                <a:ext uri="{FF2B5EF4-FFF2-40B4-BE49-F238E27FC236}">
                  <a16:creationId xmlns:a16="http://schemas.microsoft.com/office/drawing/2014/main" id="{EA71CAD5-9026-A142-D4DE-0F08F9CE4685}"/>
                </a:ext>
              </a:extLst>
            </p:cNvPr>
            <p:cNvSpPr/>
            <p:nvPr/>
          </p:nvSpPr>
          <p:spPr>
            <a:xfrm>
              <a:off x="5261317" y="1104314"/>
              <a:ext cx="6724357" cy="1010601"/>
            </a:xfrm>
            <a:prstGeom prst="roundRect">
              <a:avLst/>
            </a:prstGeom>
            <a:solidFill>
              <a:schemeClr val="bg1"/>
            </a:solidFill>
            <a:ln>
              <a:solidFill>
                <a:srgbClr val="C2CB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Oval 7">
              <a:extLst>
                <a:ext uri="{FF2B5EF4-FFF2-40B4-BE49-F238E27FC236}">
                  <a16:creationId xmlns:a16="http://schemas.microsoft.com/office/drawing/2014/main" id="{CC6FAC10-0A60-80F3-6CC9-7BB8677A26EE}"/>
                </a:ext>
              </a:extLst>
            </p:cNvPr>
            <p:cNvSpPr/>
            <p:nvPr/>
          </p:nvSpPr>
          <p:spPr>
            <a:xfrm>
              <a:off x="5057865" y="1387141"/>
              <a:ext cx="444946" cy="444946"/>
            </a:xfrm>
            <a:prstGeom prst="ellipse">
              <a:avLst/>
            </a:prstGeom>
            <a:solidFill>
              <a:srgbClr val="C2CBDF"/>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457200"/>
              <a:r>
                <a:rPr lang="en-GB" altLang="zh-CN"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rPr>
                <a:t>1</a:t>
              </a:r>
              <a:endParaRPr lang="zh-CN" altLang="en-US"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sp>
          <p:nvSpPr>
            <p:cNvPr id="11" name="文本框 10">
              <a:extLst>
                <a:ext uri="{FF2B5EF4-FFF2-40B4-BE49-F238E27FC236}">
                  <a16:creationId xmlns:a16="http://schemas.microsoft.com/office/drawing/2014/main" id="{E26BB4E2-F65C-6C6A-2A4E-DC826901896C}"/>
                </a:ext>
              </a:extLst>
            </p:cNvPr>
            <p:cNvSpPr txBox="1"/>
            <p:nvPr/>
          </p:nvSpPr>
          <p:spPr>
            <a:xfrm>
              <a:off x="5556738" y="1286449"/>
              <a:ext cx="6308843" cy="646331"/>
            </a:xfrm>
            <a:prstGeom prst="rect">
              <a:avLst/>
            </a:prstGeom>
            <a:noFill/>
          </p:spPr>
          <p:txBody>
            <a:bodyPr wrap="square">
              <a:spAutoFit/>
            </a:bodyPr>
            <a:lstStyle>
              <a:defPPr>
                <a:defRPr lang="zh-CN"/>
              </a:defPPr>
              <a:lvl1pPr>
                <a:defRPr sz="2000" b="1" kern="100">
                  <a:effectLst/>
                  <a:latin typeface="Times New Roman" panose="02020603050405020304" pitchFamily="18" charset="0"/>
                  <a:ea typeface="微软雅黑" panose="020B0503020204020204" pitchFamily="34" charset="-122"/>
                </a:defRPr>
              </a:lvl1pPr>
            </a:lstStyle>
            <a:p>
              <a:pPr algn="just"/>
              <a:r>
                <a:rPr lang="zh-CN" altLang="en-US" sz="1800" b="0" dirty="0"/>
                <a:t>强力的切割装置</a:t>
              </a:r>
              <a:r>
                <a:rPr lang="en-US" altLang="zh-CN" sz="1800" b="0" dirty="0"/>
                <a:t>——</a:t>
              </a:r>
              <a:r>
                <a:rPr lang="en-US" altLang="zh-CN" sz="1800" dirty="0"/>
                <a:t>Cas9</a:t>
              </a:r>
              <a:r>
                <a:rPr lang="zh-CN" altLang="en-US" sz="1800" dirty="0"/>
                <a:t>酶</a:t>
              </a:r>
              <a:r>
                <a:rPr lang="zh-CN" altLang="en-US" sz="1800" b="0" dirty="0"/>
                <a:t>，能够切断双链</a:t>
              </a:r>
              <a:r>
                <a:rPr lang="en-US" altLang="zh-CN" sz="1800" b="0" dirty="0"/>
                <a:t>DNA</a:t>
              </a:r>
              <a:r>
                <a:rPr lang="zh-CN" altLang="en-US" sz="1800" b="0" dirty="0"/>
                <a:t>；精准的靶向装置</a:t>
              </a:r>
              <a:r>
                <a:rPr lang="en-US" altLang="zh-CN" sz="1800" b="0" dirty="0"/>
                <a:t>——</a:t>
              </a:r>
              <a:r>
                <a:rPr lang="zh-CN" altLang="en-US" sz="1800" dirty="0"/>
                <a:t>一小段</a:t>
              </a:r>
              <a:r>
                <a:rPr lang="en-US" altLang="zh-CN" sz="1800" dirty="0"/>
                <a:t>RNA</a:t>
              </a:r>
              <a:r>
                <a:rPr lang="zh-CN" altLang="en-US" sz="1800" b="0" dirty="0"/>
                <a:t>，被编程后可以找到特定的</a:t>
              </a:r>
              <a:r>
                <a:rPr lang="en-US" altLang="zh-CN" sz="1800" b="0" dirty="0"/>
                <a:t>DNA</a:t>
              </a:r>
              <a:r>
                <a:rPr lang="zh-CN" altLang="en-US" sz="1800" b="0" dirty="0"/>
                <a:t>序列。</a:t>
              </a:r>
              <a:endParaRPr lang="zh-CN" altLang="zh-CN" sz="1800" b="0" dirty="0"/>
            </a:p>
          </p:txBody>
        </p:sp>
      </p:grpSp>
      <p:grpSp>
        <p:nvGrpSpPr>
          <p:cNvPr id="17" name="组合 16">
            <a:extLst>
              <a:ext uri="{FF2B5EF4-FFF2-40B4-BE49-F238E27FC236}">
                <a16:creationId xmlns:a16="http://schemas.microsoft.com/office/drawing/2014/main" id="{F4C46E22-C7DA-1365-9082-EE72C119FA56}"/>
              </a:ext>
            </a:extLst>
          </p:cNvPr>
          <p:cNvGrpSpPr/>
          <p:nvPr/>
        </p:nvGrpSpPr>
        <p:grpSpPr>
          <a:xfrm>
            <a:off x="5057865" y="2248840"/>
            <a:ext cx="6927809" cy="628001"/>
            <a:chOff x="5057865" y="2466891"/>
            <a:chExt cx="6927809" cy="628001"/>
          </a:xfrm>
        </p:grpSpPr>
        <p:sp>
          <p:nvSpPr>
            <p:cNvPr id="14" name="矩形: 圆角 13">
              <a:extLst>
                <a:ext uri="{FF2B5EF4-FFF2-40B4-BE49-F238E27FC236}">
                  <a16:creationId xmlns:a16="http://schemas.microsoft.com/office/drawing/2014/main" id="{3D0C659B-5AD0-584B-2C09-36CB6E2C1DF7}"/>
                </a:ext>
              </a:extLst>
            </p:cNvPr>
            <p:cNvSpPr/>
            <p:nvPr/>
          </p:nvSpPr>
          <p:spPr>
            <a:xfrm>
              <a:off x="5261317" y="2466891"/>
              <a:ext cx="6724357" cy="628001"/>
            </a:xfrm>
            <a:prstGeom prst="roundRect">
              <a:avLst/>
            </a:prstGeom>
            <a:solidFill>
              <a:schemeClr val="bg1"/>
            </a:solidFill>
            <a:ln>
              <a:solidFill>
                <a:srgbClr val="8AB1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Oval 7">
              <a:extLst>
                <a:ext uri="{FF2B5EF4-FFF2-40B4-BE49-F238E27FC236}">
                  <a16:creationId xmlns:a16="http://schemas.microsoft.com/office/drawing/2014/main" id="{3AD4190E-9D8F-7650-D004-D2240ED44D2D}"/>
                </a:ext>
              </a:extLst>
            </p:cNvPr>
            <p:cNvSpPr/>
            <p:nvPr/>
          </p:nvSpPr>
          <p:spPr>
            <a:xfrm>
              <a:off x="5057865" y="2558418"/>
              <a:ext cx="444946" cy="444946"/>
            </a:xfrm>
            <a:prstGeom prst="ellipse">
              <a:avLst/>
            </a:prstGeom>
            <a:solidFill>
              <a:srgbClr val="8AB1CE"/>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457200"/>
              <a:r>
                <a:rPr lang="en-GB" altLang="zh-CN"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rPr>
                <a:t>2</a:t>
              </a:r>
              <a:endParaRPr lang="zh-CN" altLang="en-US"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sp>
          <p:nvSpPr>
            <p:cNvPr id="16" name="文本框 15">
              <a:extLst>
                <a:ext uri="{FF2B5EF4-FFF2-40B4-BE49-F238E27FC236}">
                  <a16:creationId xmlns:a16="http://schemas.microsoft.com/office/drawing/2014/main" id="{3E82FE52-4483-FBC2-231A-9C4D4F60F6D2}"/>
                </a:ext>
              </a:extLst>
            </p:cNvPr>
            <p:cNvSpPr txBox="1"/>
            <p:nvPr/>
          </p:nvSpPr>
          <p:spPr>
            <a:xfrm>
              <a:off x="5676831" y="2596225"/>
              <a:ext cx="6308843" cy="369332"/>
            </a:xfrm>
            <a:prstGeom prst="rect">
              <a:avLst/>
            </a:prstGeom>
            <a:noFill/>
          </p:spPr>
          <p:txBody>
            <a:bodyPr wrap="square">
              <a:spAutoFit/>
            </a:bodyPr>
            <a:lstStyle>
              <a:defPPr>
                <a:defRPr lang="zh-CN"/>
              </a:defPPr>
              <a:lvl1pPr>
                <a:defRPr sz="2000" b="1" kern="100">
                  <a:effectLst/>
                  <a:latin typeface="Times New Roman" panose="02020603050405020304" pitchFamily="18" charset="0"/>
                  <a:ea typeface="微软雅黑" panose="020B0503020204020204" pitchFamily="34" charset="-122"/>
                </a:defRPr>
              </a:lvl1pPr>
            </a:lstStyle>
            <a:p>
              <a:pPr algn="just"/>
              <a:r>
                <a:rPr lang="en-US" altLang="zh-CN" sz="1800" b="0" dirty="0"/>
                <a:t>CRISPR</a:t>
              </a:r>
              <a:r>
                <a:rPr lang="zh-CN" altLang="en-US" sz="1800" b="0" dirty="0"/>
                <a:t>系统进入细胞后，会定位到目标</a:t>
              </a:r>
              <a:r>
                <a:rPr lang="en-US" altLang="zh-CN" sz="1800" b="0" dirty="0"/>
                <a:t>DNA</a:t>
              </a:r>
              <a:r>
                <a:rPr lang="zh-CN" altLang="en-US" sz="1800" b="0" dirty="0"/>
                <a:t>序列。</a:t>
              </a:r>
              <a:endParaRPr lang="zh-CN" altLang="zh-CN" sz="1800" b="0" dirty="0"/>
            </a:p>
          </p:txBody>
        </p:sp>
      </p:grpSp>
      <p:grpSp>
        <p:nvGrpSpPr>
          <p:cNvPr id="19" name="组合 18">
            <a:extLst>
              <a:ext uri="{FF2B5EF4-FFF2-40B4-BE49-F238E27FC236}">
                <a16:creationId xmlns:a16="http://schemas.microsoft.com/office/drawing/2014/main" id="{E060BCF1-AC0E-DC07-50B7-FF1C121238D6}"/>
              </a:ext>
            </a:extLst>
          </p:cNvPr>
          <p:cNvGrpSpPr/>
          <p:nvPr/>
        </p:nvGrpSpPr>
        <p:grpSpPr>
          <a:xfrm>
            <a:off x="5057865" y="3071120"/>
            <a:ext cx="6927809" cy="628001"/>
            <a:chOff x="5057865" y="2466891"/>
            <a:chExt cx="6927809" cy="628001"/>
          </a:xfrm>
        </p:grpSpPr>
        <p:sp>
          <p:nvSpPr>
            <p:cNvPr id="20" name="矩形: 圆角 19">
              <a:extLst>
                <a:ext uri="{FF2B5EF4-FFF2-40B4-BE49-F238E27FC236}">
                  <a16:creationId xmlns:a16="http://schemas.microsoft.com/office/drawing/2014/main" id="{6BFB411F-B4C7-5F90-E4F9-E94FE2AC65B3}"/>
                </a:ext>
              </a:extLst>
            </p:cNvPr>
            <p:cNvSpPr/>
            <p:nvPr/>
          </p:nvSpPr>
          <p:spPr>
            <a:xfrm>
              <a:off x="5261317" y="2466891"/>
              <a:ext cx="6724357" cy="628001"/>
            </a:xfrm>
            <a:prstGeom prst="roundRect">
              <a:avLst/>
            </a:prstGeom>
            <a:solidFill>
              <a:schemeClr val="bg1"/>
            </a:solidFill>
            <a:ln>
              <a:solidFill>
                <a:srgbClr val="6691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Oval 7">
              <a:extLst>
                <a:ext uri="{FF2B5EF4-FFF2-40B4-BE49-F238E27FC236}">
                  <a16:creationId xmlns:a16="http://schemas.microsoft.com/office/drawing/2014/main" id="{162FAF53-EB6A-57DC-E2AF-2BD1F1F646CA}"/>
                </a:ext>
              </a:extLst>
            </p:cNvPr>
            <p:cNvSpPr/>
            <p:nvPr/>
          </p:nvSpPr>
          <p:spPr>
            <a:xfrm>
              <a:off x="5057865" y="2558418"/>
              <a:ext cx="444946" cy="444946"/>
            </a:xfrm>
            <a:prstGeom prst="ellipse">
              <a:avLst/>
            </a:prstGeom>
            <a:solidFill>
              <a:srgbClr val="6691C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457200"/>
              <a:r>
                <a:rPr lang="en-GB" altLang="zh-CN"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rPr>
                <a:t>3</a:t>
              </a:r>
              <a:endParaRPr lang="zh-CN" altLang="en-US"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sp>
          <p:nvSpPr>
            <p:cNvPr id="22" name="文本框 21">
              <a:extLst>
                <a:ext uri="{FF2B5EF4-FFF2-40B4-BE49-F238E27FC236}">
                  <a16:creationId xmlns:a16="http://schemas.microsoft.com/office/drawing/2014/main" id="{32F6DD2C-A81E-D71C-DF01-BEEF492DDF1E}"/>
                </a:ext>
              </a:extLst>
            </p:cNvPr>
            <p:cNvSpPr txBox="1"/>
            <p:nvPr/>
          </p:nvSpPr>
          <p:spPr>
            <a:xfrm>
              <a:off x="5676831" y="2596225"/>
              <a:ext cx="6308843" cy="369332"/>
            </a:xfrm>
            <a:prstGeom prst="rect">
              <a:avLst/>
            </a:prstGeom>
            <a:noFill/>
          </p:spPr>
          <p:txBody>
            <a:bodyPr wrap="square">
              <a:spAutoFit/>
            </a:bodyPr>
            <a:lstStyle>
              <a:defPPr>
                <a:defRPr lang="zh-CN"/>
              </a:defPPr>
              <a:lvl1pPr>
                <a:defRPr sz="2000" b="1" kern="100">
                  <a:effectLst/>
                  <a:latin typeface="Times New Roman" panose="02020603050405020304" pitchFamily="18" charset="0"/>
                  <a:ea typeface="微软雅黑" panose="020B0503020204020204" pitchFamily="34" charset="-122"/>
                </a:defRPr>
              </a:lvl1pPr>
            </a:lstStyle>
            <a:p>
              <a:pPr algn="just"/>
              <a:r>
                <a:rPr lang="en-US" altLang="zh-CN" sz="1800" b="0" dirty="0"/>
                <a:t>Cas9</a:t>
              </a:r>
              <a:r>
                <a:rPr lang="zh-CN" altLang="en-US" sz="1800" b="0" dirty="0"/>
                <a:t>酶切断</a:t>
              </a:r>
              <a:r>
                <a:rPr lang="en-US" altLang="zh-CN" sz="1800" b="0" dirty="0"/>
                <a:t>DNA</a:t>
              </a:r>
              <a:r>
                <a:rPr lang="zh-CN" altLang="en-US" sz="1800" b="0" dirty="0"/>
                <a:t>的两条链。</a:t>
              </a:r>
            </a:p>
          </p:txBody>
        </p:sp>
      </p:grpSp>
      <p:grpSp>
        <p:nvGrpSpPr>
          <p:cNvPr id="23" name="组合 22">
            <a:extLst>
              <a:ext uri="{FF2B5EF4-FFF2-40B4-BE49-F238E27FC236}">
                <a16:creationId xmlns:a16="http://schemas.microsoft.com/office/drawing/2014/main" id="{297067A6-7B84-AF46-C1BD-270CC6057208}"/>
              </a:ext>
            </a:extLst>
          </p:cNvPr>
          <p:cNvGrpSpPr/>
          <p:nvPr/>
        </p:nvGrpSpPr>
        <p:grpSpPr>
          <a:xfrm>
            <a:off x="5057865" y="3871875"/>
            <a:ext cx="6927809" cy="1010601"/>
            <a:chOff x="5057865" y="1104314"/>
            <a:chExt cx="6927809" cy="1010601"/>
          </a:xfrm>
        </p:grpSpPr>
        <p:sp>
          <p:nvSpPr>
            <p:cNvPr id="24" name="矩形: 圆角 23">
              <a:extLst>
                <a:ext uri="{FF2B5EF4-FFF2-40B4-BE49-F238E27FC236}">
                  <a16:creationId xmlns:a16="http://schemas.microsoft.com/office/drawing/2014/main" id="{2C333659-E840-404D-FB10-F42391FE68E2}"/>
                </a:ext>
              </a:extLst>
            </p:cNvPr>
            <p:cNvSpPr/>
            <p:nvPr/>
          </p:nvSpPr>
          <p:spPr>
            <a:xfrm>
              <a:off x="5261317" y="1104314"/>
              <a:ext cx="6724357" cy="101060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Oval 7">
              <a:extLst>
                <a:ext uri="{FF2B5EF4-FFF2-40B4-BE49-F238E27FC236}">
                  <a16:creationId xmlns:a16="http://schemas.microsoft.com/office/drawing/2014/main" id="{19A14F16-488C-8479-F6AB-2BFB89492BFC}"/>
                </a:ext>
              </a:extLst>
            </p:cNvPr>
            <p:cNvSpPr/>
            <p:nvPr/>
          </p:nvSpPr>
          <p:spPr>
            <a:xfrm>
              <a:off x="5057865" y="1387141"/>
              <a:ext cx="444946" cy="444946"/>
            </a:xfrm>
            <a:prstGeom prst="ellipse">
              <a:avLst/>
            </a:prstGeom>
            <a:solidFill>
              <a:srgbClr val="0F349D"/>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457200"/>
              <a:r>
                <a:rPr lang="en-GB" altLang="zh-CN"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rPr>
                <a:t>4</a:t>
              </a:r>
              <a:endParaRPr lang="zh-CN" altLang="en-US" b="1" kern="0" dirty="0">
                <a:solidFill>
                  <a:prstClr val="white"/>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sp>
          <p:nvSpPr>
            <p:cNvPr id="27" name="文本框 26">
              <a:extLst>
                <a:ext uri="{FF2B5EF4-FFF2-40B4-BE49-F238E27FC236}">
                  <a16:creationId xmlns:a16="http://schemas.microsoft.com/office/drawing/2014/main" id="{A8E01B0B-50F4-FE51-1CD1-CD27F661A7CA}"/>
                </a:ext>
              </a:extLst>
            </p:cNvPr>
            <p:cNvSpPr txBox="1"/>
            <p:nvPr/>
          </p:nvSpPr>
          <p:spPr>
            <a:xfrm>
              <a:off x="5556738" y="1286449"/>
              <a:ext cx="6308843" cy="646331"/>
            </a:xfrm>
            <a:prstGeom prst="rect">
              <a:avLst/>
            </a:prstGeom>
            <a:noFill/>
          </p:spPr>
          <p:txBody>
            <a:bodyPr wrap="square">
              <a:spAutoFit/>
            </a:bodyPr>
            <a:lstStyle>
              <a:defPPr>
                <a:defRPr lang="zh-CN"/>
              </a:defPPr>
              <a:lvl1pPr>
                <a:defRPr sz="2000" b="1" kern="100">
                  <a:effectLst/>
                  <a:latin typeface="Times New Roman" panose="02020603050405020304" pitchFamily="18" charset="0"/>
                  <a:ea typeface="微软雅黑" panose="020B0503020204020204" pitchFamily="34" charset="-122"/>
                </a:defRPr>
              </a:lvl1pPr>
            </a:lstStyle>
            <a:p>
              <a:pPr algn="just"/>
              <a:r>
                <a:rPr lang="zh-CN" altLang="en-US" sz="1800" b="0" dirty="0"/>
                <a:t>人为引入新遗传物质，而细胞在修复断裂</a:t>
              </a:r>
              <a:r>
                <a:rPr lang="en-US" altLang="zh-CN" sz="1800" b="0" dirty="0"/>
                <a:t>DNA</a:t>
              </a:r>
              <a:r>
                <a:rPr lang="zh-CN" altLang="en-US" sz="1800" b="0" dirty="0"/>
                <a:t>时，会自动将它们整合到缺口处。</a:t>
              </a:r>
              <a:endParaRPr lang="zh-CN" altLang="zh-CN" sz="1800" b="0" dirty="0"/>
            </a:p>
          </p:txBody>
        </p:sp>
      </p:grpSp>
      <p:sp>
        <p:nvSpPr>
          <p:cNvPr id="28" name="矩形 27">
            <a:extLst>
              <a:ext uri="{FF2B5EF4-FFF2-40B4-BE49-F238E27FC236}">
                <a16:creationId xmlns:a16="http://schemas.microsoft.com/office/drawing/2014/main" id="{4DA7D233-61F6-3859-5378-B97E052E1A95}"/>
              </a:ext>
            </a:extLst>
          </p:cNvPr>
          <p:cNvSpPr/>
          <p:nvPr/>
        </p:nvSpPr>
        <p:spPr>
          <a:xfrm>
            <a:off x="5056788" y="5064610"/>
            <a:ext cx="6928886" cy="1670777"/>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28662052-84C1-01A2-B513-ABE5DB0B6B11}"/>
              </a:ext>
            </a:extLst>
          </p:cNvPr>
          <p:cNvGrpSpPr/>
          <p:nvPr/>
        </p:nvGrpSpPr>
        <p:grpSpPr>
          <a:xfrm>
            <a:off x="5518068" y="5272095"/>
            <a:ext cx="6006327" cy="1255806"/>
            <a:chOff x="5368746" y="5272095"/>
            <a:chExt cx="6006327" cy="1255806"/>
          </a:xfrm>
        </p:grpSpPr>
        <p:sp>
          <p:nvSpPr>
            <p:cNvPr id="29" name="矩形: 圆角 28">
              <a:extLst>
                <a:ext uri="{FF2B5EF4-FFF2-40B4-BE49-F238E27FC236}">
                  <a16:creationId xmlns:a16="http://schemas.microsoft.com/office/drawing/2014/main" id="{87854128-04D2-A90C-081B-3F99C29F0A30}"/>
                </a:ext>
              </a:extLst>
            </p:cNvPr>
            <p:cNvSpPr/>
            <p:nvPr/>
          </p:nvSpPr>
          <p:spPr>
            <a:xfrm>
              <a:off x="5368746" y="5272095"/>
              <a:ext cx="489623" cy="1255806"/>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应用</a:t>
              </a:r>
            </a:p>
          </p:txBody>
        </p:sp>
        <p:sp>
          <p:nvSpPr>
            <p:cNvPr id="30" name="矩形: 圆角 29">
              <a:extLst>
                <a:ext uri="{FF2B5EF4-FFF2-40B4-BE49-F238E27FC236}">
                  <a16:creationId xmlns:a16="http://schemas.microsoft.com/office/drawing/2014/main" id="{8B8F8231-A30A-5A93-B709-D16FD7119977}"/>
                </a:ext>
              </a:extLst>
            </p:cNvPr>
            <p:cNvSpPr/>
            <p:nvPr/>
          </p:nvSpPr>
          <p:spPr>
            <a:xfrm>
              <a:off x="6044456" y="5280550"/>
              <a:ext cx="1653988" cy="48159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基因功能研究</a:t>
              </a:r>
            </a:p>
          </p:txBody>
        </p:sp>
        <p:sp>
          <p:nvSpPr>
            <p:cNvPr id="31" name="矩形: 圆角 30">
              <a:extLst>
                <a:ext uri="{FF2B5EF4-FFF2-40B4-BE49-F238E27FC236}">
                  <a16:creationId xmlns:a16="http://schemas.microsoft.com/office/drawing/2014/main" id="{A71992A6-FA14-435A-F90C-785134F55709}"/>
                </a:ext>
              </a:extLst>
            </p:cNvPr>
            <p:cNvSpPr/>
            <p:nvPr/>
          </p:nvSpPr>
          <p:spPr>
            <a:xfrm>
              <a:off x="7882771" y="5280550"/>
              <a:ext cx="1653988" cy="48159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疾病模型构建</a:t>
              </a:r>
            </a:p>
          </p:txBody>
        </p:sp>
        <p:sp>
          <p:nvSpPr>
            <p:cNvPr id="32" name="矩形: 圆角 31">
              <a:extLst>
                <a:ext uri="{FF2B5EF4-FFF2-40B4-BE49-F238E27FC236}">
                  <a16:creationId xmlns:a16="http://schemas.microsoft.com/office/drawing/2014/main" id="{8B3C118C-4286-BF01-14C9-E0B71B36E546}"/>
                </a:ext>
              </a:extLst>
            </p:cNvPr>
            <p:cNvSpPr/>
            <p:nvPr/>
          </p:nvSpPr>
          <p:spPr>
            <a:xfrm>
              <a:off x="9721085" y="5280550"/>
              <a:ext cx="1653988" cy="48159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遗传病治疗</a:t>
              </a:r>
            </a:p>
          </p:txBody>
        </p:sp>
        <p:sp>
          <p:nvSpPr>
            <p:cNvPr id="33" name="矩形: 圆角 32">
              <a:extLst>
                <a:ext uri="{FF2B5EF4-FFF2-40B4-BE49-F238E27FC236}">
                  <a16:creationId xmlns:a16="http://schemas.microsoft.com/office/drawing/2014/main" id="{D0652483-D70F-0C17-C74F-E761836B0B31}"/>
                </a:ext>
              </a:extLst>
            </p:cNvPr>
            <p:cNvSpPr/>
            <p:nvPr/>
          </p:nvSpPr>
          <p:spPr>
            <a:xfrm>
              <a:off x="6044456" y="6040204"/>
              <a:ext cx="1653988" cy="48159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作物改良</a:t>
              </a:r>
            </a:p>
          </p:txBody>
        </p:sp>
        <p:sp>
          <p:nvSpPr>
            <p:cNvPr id="35" name="矩形: 圆角 34">
              <a:extLst>
                <a:ext uri="{FF2B5EF4-FFF2-40B4-BE49-F238E27FC236}">
                  <a16:creationId xmlns:a16="http://schemas.microsoft.com/office/drawing/2014/main" id="{07F5A592-EE05-66AA-76FC-BBF51B224429}"/>
                </a:ext>
              </a:extLst>
            </p:cNvPr>
            <p:cNvSpPr/>
            <p:nvPr/>
          </p:nvSpPr>
          <p:spPr>
            <a:xfrm>
              <a:off x="7882771" y="6040204"/>
              <a:ext cx="1653988" cy="48159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抗病育种</a:t>
              </a:r>
            </a:p>
          </p:txBody>
        </p:sp>
        <p:sp>
          <p:nvSpPr>
            <p:cNvPr id="36" name="矩形: 圆角 35">
              <a:extLst>
                <a:ext uri="{FF2B5EF4-FFF2-40B4-BE49-F238E27FC236}">
                  <a16:creationId xmlns:a16="http://schemas.microsoft.com/office/drawing/2014/main" id="{E99B5930-B5A3-594B-F82D-7A28533592E0}"/>
                </a:ext>
              </a:extLst>
            </p:cNvPr>
            <p:cNvSpPr/>
            <p:nvPr/>
          </p:nvSpPr>
          <p:spPr>
            <a:xfrm>
              <a:off x="9721085" y="6040204"/>
              <a:ext cx="1653988" cy="481591"/>
            </a:xfrm>
            <a:prstGeom prst="roundRect">
              <a:avLst/>
            </a:prstGeom>
            <a:solidFill>
              <a:schemeClr val="bg1"/>
            </a:solidFill>
            <a:ln>
              <a:solidFill>
                <a:srgbClr val="0F34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环境管理</a:t>
              </a:r>
            </a:p>
          </p:txBody>
        </p:sp>
      </p:grpSp>
    </p:spTree>
    <p:extLst>
      <p:ext uri="{BB962C8B-B14F-4D97-AF65-F5344CB8AC3E}">
        <p14:creationId xmlns:p14="http://schemas.microsoft.com/office/powerpoint/2010/main" val="446178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41612-21D1-77FD-FD36-9144DE24B791}"/>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AEB38F5B-69E1-B6A2-A532-52F4B8590A96}"/>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C419EA57-EB1C-A6A5-F83B-3B616950D335}"/>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50CDA69F-1704-9E55-64FF-9EA79D4734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pic>
        <p:nvPicPr>
          <p:cNvPr id="2" name="图片 1" descr="IMG_256">
            <a:extLst>
              <a:ext uri="{FF2B5EF4-FFF2-40B4-BE49-F238E27FC236}">
                <a16:creationId xmlns:a16="http://schemas.microsoft.com/office/drawing/2014/main" id="{DB14AEA7-C5B7-1581-E419-C857AD69BF90}"/>
              </a:ext>
            </a:extLst>
          </p:cNvPr>
          <p:cNvPicPr>
            <a:picLocks noChangeAspect="1"/>
          </p:cNvPicPr>
          <p:nvPr/>
        </p:nvPicPr>
        <p:blipFill>
          <a:blip r:embed="rId5"/>
          <a:srcRect t="17120" b="3446"/>
          <a:stretch>
            <a:fillRect/>
          </a:stretch>
        </p:blipFill>
        <p:spPr>
          <a:xfrm>
            <a:off x="3490841" y="4010993"/>
            <a:ext cx="4413858" cy="2415209"/>
          </a:xfrm>
          <a:prstGeom prst="rect">
            <a:avLst/>
          </a:prstGeom>
          <a:noFill/>
          <a:ln w="9525">
            <a:noFill/>
          </a:ln>
          <a:effectLst>
            <a:outerShdw blurRad="50800" dist="38100" dir="2700000" algn="tl" rotWithShape="0">
              <a:prstClr val="black">
                <a:alpha val="40000"/>
              </a:prstClr>
            </a:outerShdw>
          </a:effectLst>
        </p:spPr>
      </p:pic>
      <p:sp>
        <p:nvSpPr>
          <p:cNvPr id="4" name="文本框 3">
            <a:extLst>
              <a:ext uri="{FF2B5EF4-FFF2-40B4-BE49-F238E27FC236}">
                <a16:creationId xmlns:a16="http://schemas.microsoft.com/office/drawing/2014/main" id="{40FA1CDC-BF3B-6D46-7C0D-0759F6B5C491}"/>
              </a:ext>
            </a:extLst>
          </p:cNvPr>
          <p:cNvSpPr txBox="1"/>
          <p:nvPr/>
        </p:nvSpPr>
        <p:spPr>
          <a:xfrm>
            <a:off x="784654" y="6500210"/>
            <a:ext cx="9826231" cy="357790"/>
          </a:xfrm>
          <a:prstGeom prst="rect">
            <a:avLst/>
          </a:prstGeom>
          <a:noFill/>
        </p:spPr>
        <p:txBody>
          <a:bodyPr wrap="square">
            <a:spAutoFit/>
          </a:bodyPr>
          <a:lstStyle>
            <a:defPPr>
              <a:defRPr lang="zh-CN"/>
            </a:defPPr>
            <a:lvl1pPr>
              <a:lnSpc>
                <a:spcPct val="125000"/>
              </a:lnSpc>
              <a:defRPr>
                <a:latin typeface="Times New Roman" panose="02020603050405020304" pitchFamily="18" charset="0"/>
                <a:ea typeface="微软雅黑" panose="020B0503020204020204" pitchFamily="34" charset="-122"/>
              </a:defRPr>
            </a:lvl1pPr>
          </a:lstStyle>
          <a:p>
            <a:pPr algn="ctr"/>
            <a:r>
              <a:rPr lang="zh-CN" altLang="en-US" sz="1600" dirty="0">
                <a:latin typeface="仿宋" panose="02010609060101010101" pitchFamily="49" charset="-122"/>
                <a:ea typeface="仿宋" panose="02010609060101010101" pitchFamily="49" charset="-122"/>
              </a:rPr>
              <a:t>图 </a:t>
            </a:r>
            <a:r>
              <a:rPr lang="en-US" altLang="zh-CN" sz="1600" dirty="0">
                <a:latin typeface="仿宋" panose="02010609060101010101" pitchFamily="49" charset="-122"/>
                <a:ea typeface="仿宋" panose="02010609060101010101" pitchFamily="49" charset="-122"/>
              </a:rPr>
              <a:t>2018</a:t>
            </a:r>
            <a:r>
              <a:rPr lang="zh-CN" altLang="en-US" sz="1600" dirty="0">
                <a:latin typeface="仿宋" panose="02010609060101010101" pitchFamily="49" charset="-122"/>
                <a:ea typeface="仿宋" panose="02010609060101010101" pitchFamily="49" charset="-122"/>
              </a:rPr>
              <a:t>年</a:t>
            </a:r>
            <a:r>
              <a:rPr lang="en-US" altLang="zh-CN" sz="1600" dirty="0">
                <a:latin typeface="仿宋" panose="02010609060101010101" pitchFamily="49" charset="-122"/>
                <a:ea typeface="仿宋" panose="02010609060101010101" pitchFamily="49" charset="-122"/>
              </a:rPr>
              <a:t>10</a:t>
            </a:r>
            <a:r>
              <a:rPr lang="zh-CN" altLang="en-US" sz="1600" dirty="0">
                <a:latin typeface="仿宋" panose="02010609060101010101" pitchFamily="49" charset="-122"/>
                <a:ea typeface="仿宋" panose="02010609060101010101" pitchFamily="49" charset="-122"/>
              </a:rPr>
              <a:t>月</a:t>
            </a:r>
            <a:r>
              <a:rPr lang="en-US" altLang="zh-CN" sz="1600" dirty="0">
                <a:latin typeface="仿宋" panose="02010609060101010101" pitchFamily="49" charset="-122"/>
                <a:ea typeface="仿宋" panose="02010609060101010101" pitchFamily="49" charset="-122"/>
              </a:rPr>
              <a:t>9</a:t>
            </a:r>
            <a:r>
              <a:rPr lang="zh-CN" altLang="en-US" sz="1600" dirty="0">
                <a:latin typeface="仿宋" panose="02010609060101010101" pitchFamily="49" charset="-122"/>
                <a:ea typeface="仿宋" panose="02010609060101010101" pitchFamily="49" charset="-122"/>
              </a:rPr>
              <a:t>日</a:t>
            </a:r>
            <a:r>
              <a:rPr lang="en-US" altLang="zh-CN" sz="1600" dirty="0">
                <a:latin typeface="仿宋" panose="02010609060101010101" pitchFamily="49" charset="-122"/>
                <a:ea typeface="仿宋" panose="02010609060101010101" pitchFamily="49" charset="-122"/>
              </a:rPr>
              <a:t>,</a:t>
            </a:r>
            <a:r>
              <a:rPr lang="zh-CN" altLang="en-US" sz="1600" dirty="0">
                <a:latin typeface="仿宋" panose="02010609060101010101" pitchFamily="49" charset="-122"/>
                <a:ea typeface="仿宋" panose="02010609060101010101" pitchFamily="49" charset="-122"/>
              </a:rPr>
              <a:t>中国广东省深圳一实验室</a:t>
            </a:r>
            <a:r>
              <a:rPr lang="en-US" altLang="zh-CN" sz="1600" dirty="0">
                <a:latin typeface="仿宋" panose="02010609060101010101" pitchFamily="49" charset="-122"/>
                <a:ea typeface="仿宋" panose="02010609060101010101" pitchFamily="49" charset="-122"/>
              </a:rPr>
              <a:t>,</a:t>
            </a:r>
            <a:r>
              <a:rPr lang="zh-CN" altLang="en-US" sz="1600" dirty="0">
                <a:latin typeface="仿宋" panose="02010609060101010101" pitchFamily="49" charset="-122"/>
                <a:ea typeface="仿宋" panose="02010609060101010101" pitchFamily="49" charset="-122"/>
              </a:rPr>
              <a:t>一台显示器显示胚胎被玻璃移液管固定在显微镜下的视频画面</a:t>
            </a:r>
          </a:p>
        </p:txBody>
      </p:sp>
      <p:sp>
        <p:nvSpPr>
          <p:cNvPr id="5" name="矩形 4">
            <a:extLst>
              <a:ext uri="{FF2B5EF4-FFF2-40B4-BE49-F238E27FC236}">
                <a16:creationId xmlns:a16="http://schemas.microsoft.com/office/drawing/2014/main" id="{0C7B4D4C-D3BA-3F31-45E5-7AFC88253EFE}"/>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DE58890-0417-37E8-0679-55970E59834F}"/>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事件起始</a:t>
            </a:r>
          </a:p>
        </p:txBody>
      </p:sp>
      <p:grpSp>
        <p:nvGrpSpPr>
          <p:cNvPr id="38" name="组合 37">
            <a:extLst>
              <a:ext uri="{FF2B5EF4-FFF2-40B4-BE49-F238E27FC236}">
                <a16:creationId xmlns:a16="http://schemas.microsoft.com/office/drawing/2014/main" id="{C73E0FD2-CDF0-F162-47D6-2F72D3AC3346}"/>
              </a:ext>
            </a:extLst>
          </p:cNvPr>
          <p:cNvGrpSpPr/>
          <p:nvPr/>
        </p:nvGrpSpPr>
        <p:grpSpPr>
          <a:xfrm>
            <a:off x="243105" y="1070852"/>
            <a:ext cx="2291139" cy="585984"/>
            <a:chOff x="251612" y="1070852"/>
            <a:chExt cx="2291139" cy="585984"/>
          </a:xfrm>
        </p:grpSpPr>
        <p:sp>
          <p:nvSpPr>
            <p:cNvPr id="24" name="任意多边形: 形状 23">
              <a:extLst>
                <a:ext uri="{FF2B5EF4-FFF2-40B4-BE49-F238E27FC236}">
                  <a16:creationId xmlns:a16="http://schemas.microsoft.com/office/drawing/2014/main" id="{E1A915E4-2877-19A1-C6BB-8AD205CFAD90}"/>
                </a:ext>
              </a:extLst>
            </p:cNvPr>
            <p:cNvSpPr/>
            <p:nvPr/>
          </p:nvSpPr>
          <p:spPr>
            <a:xfrm rot="5400000">
              <a:off x="1104190" y="218274"/>
              <a:ext cx="585984" cy="2291139"/>
            </a:xfrm>
            <a:custGeom>
              <a:avLst/>
              <a:gdLst>
                <a:gd name="connsiteX0" fmla="*/ 0 w 585984"/>
                <a:gd name="connsiteY0" fmla="*/ 2672537 h 2672537"/>
                <a:gd name="connsiteX1" fmla="*/ 0 w 585984"/>
                <a:gd name="connsiteY1" fmla="*/ 379587 h 2672537"/>
                <a:gd name="connsiteX2" fmla="*/ 6140 w 585984"/>
                <a:gd name="connsiteY2" fmla="*/ 379587 h 2672537"/>
                <a:gd name="connsiteX3" fmla="*/ 296062 w 585984"/>
                <a:gd name="connsiteY3" fmla="*/ 0 h 2672537"/>
                <a:gd name="connsiteX4" fmla="*/ 585984 w 585984"/>
                <a:gd name="connsiteY4" fmla="*/ 379587 h 2672537"/>
                <a:gd name="connsiteX5" fmla="*/ 585984 w 585984"/>
                <a:gd name="connsiteY5" fmla="*/ 379587 h 2672537"/>
                <a:gd name="connsiteX6" fmla="*/ 585983 w 585984"/>
                <a:gd name="connsiteY6" fmla="*/ 2672536 h 2672537"/>
                <a:gd name="connsiteX7" fmla="*/ 296061 w 585984"/>
                <a:gd name="connsiteY7" fmla="*/ 2292950 h 2672537"/>
                <a:gd name="connsiteX8" fmla="*/ 6139 w 585984"/>
                <a:gd name="connsiteY8" fmla="*/ 2672536 h 2672537"/>
                <a:gd name="connsiteX9" fmla="*/ 585983 w 585984"/>
                <a:gd name="connsiteY9" fmla="*/ 2672536 h 2672537"/>
                <a:gd name="connsiteX10" fmla="*/ 585983 w 585984"/>
                <a:gd name="connsiteY10" fmla="*/ 2672537 h 26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84" h="2672537">
                  <a:moveTo>
                    <a:pt x="0" y="2672537"/>
                  </a:moveTo>
                  <a:lnTo>
                    <a:pt x="0" y="379587"/>
                  </a:lnTo>
                  <a:lnTo>
                    <a:pt x="6140" y="379587"/>
                  </a:lnTo>
                  <a:lnTo>
                    <a:pt x="296062" y="0"/>
                  </a:lnTo>
                  <a:lnTo>
                    <a:pt x="585984" y="379587"/>
                  </a:lnTo>
                  <a:lnTo>
                    <a:pt x="585984" y="379587"/>
                  </a:lnTo>
                  <a:lnTo>
                    <a:pt x="585983" y="2672536"/>
                  </a:lnTo>
                  <a:lnTo>
                    <a:pt x="296061" y="2292950"/>
                  </a:lnTo>
                  <a:lnTo>
                    <a:pt x="6139" y="2672536"/>
                  </a:lnTo>
                  <a:lnTo>
                    <a:pt x="585983" y="2672536"/>
                  </a:lnTo>
                  <a:lnTo>
                    <a:pt x="585983" y="2672537"/>
                  </a:lnTo>
                  <a:close/>
                </a:path>
              </a:pathLst>
            </a:custGeom>
            <a:gradFill flip="none" rotWithShape="1">
              <a:gsLst>
                <a:gs pos="16000">
                  <a:srgbClr val="C2CBDF"/>
                </a:gs>
                <a:gs pos="100000">
                  <a:srgbClr val="EEEFEF">
                    <a:alpha val="70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44" name="文本框 43">
              <a:extLst>
                <a:ext uri="{FF2B5EF4-FFF2-40B4-BE49-F238E27FC236}">
                  <a16:creationId xmlns:a16="http://schemas.microsoft.com/office/drawing/2014/main" id="{44D3F900-D278-915C-DA32-870B736DEEAC}"/>
                </a:ext>
              </a:extLst>
            </p:cNvPr>
            <p:cNvSpPr txBox="1"/>
            <p:nvPr/>
          </p:nvSpPr>
          <p:spPr>
            <a:xfrm>
              <a:off x="472580" y="1160454"/>
              <a:ext cx="1790583" cy="406778"/>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2016</a:t>
              </a:r>
              <a:r>
                <a:rPr lang="zh-CN" altLang="en-US" b="1" dirty="0">
                  <a:latin typeface="Times New Roman" panose="02020603050405020304" pitchFamily="18" charset="0"/>
                  <a:ea typeface="微软雅黑" panose="020B0503020204020204" pitchFamily="34" charset="-122"/>
                </a:rPr>
                <a:t>年</a:t>
              </a:r>
              <a:r>
                <a:rPr lang="en-US" altLang="zh-CN" b="1" dirty="0">
                  <a:latin typeface="Times New Roman" panose="02020603050405020304" pitchFamily="18" charset="0"/>
                  <a:ea typeface="微软雅黑" panose="020B0503020204020204" pitchFamily="34" charset="-122"/>
                </a:rPr>
                <a:t>6</a:t>
              </a:r>
              <a:r>
                <a:rPr lang="zh-CN" altLang="en-US" b="1" dirty="0">
                  <a:latin typeface="Times New Roman" panose="02020603050405020304" pitchFamily="18" charset="0"/>
                  <a:ea typeface="微软雅黑" panose="020B0503020204020204" pitchFamily="34" charset="-122"/>
                </a:rPr>
                <a:t>月</a:t>
              </a:r>
            </a:p>
          </p:txBody>
        </p:sp>
      </p:grpSp>
      <p:grpSp>
        <p:nvGrpSpPr>
          <p:cNvPr id="37" name="组合 36">
            <a:extLst>
              <a:ext uri="{FF2B5EF4-FFF2-40B4-BE49-F238E27FC236}">
                <a16:creationId xmlns:a16="http://schemas.microsoft.com/office/drawing/2014/main" id="{F9BDB365-5AB1-1403-F7E8-F1E9785BBB65}"/>
              </a:ext>
            </a:extLst>
          </p:cNvPr>
          <p:cNvGrpSpPr/>
          <p:nvPr/>
        </p:nvGrpSpPr>
        <p:grpSpPr>
          <a:xfrm>
            <a:off x="2401906" y="1070852"/>
            <a:ext cx="2291139" cy="585984"/>
            <a:chOff x="2354856" y="1070852"/>
            <a:chExt cx="2291139" cy="585984"/>
          </a:xfrm>
        </p:grpSpPr>
        <p:sp>
          <p:nvSpPr>
            <p:cNvPr id="25" name="任意多边形: 形状 24">
              <a:extLst>
                <a:ext uri="{FF2B5EF4-FFF2-40B4-BE49-F238E27FC236}">
                  <a16:creationId xmlns:a16="http://schemas.microsoft.com/office/drawing/2014/main" id="{96384B46-63AB-5307-8847-1E805B49058D}"/>
                </a:ext>
              </a:extLst>
            </p:cNvPr>
            <p:cNvSpPr/>
            <p:nvPr/>
          </p:nvSpPr>
          <p:spPr>
            <a:xfrm rot="5400000">
              <a:off x="3207434" y="218274"/>
              <a:ext cx="585984" cy="2291139"/>
            </a:xfrm>
            <a:custGeom>
              <a:avLst/>
              <a:gdLst>
                <a:gd name="connsiteX0" fmla="*/ 0 w 585984"/>
                <a:gd name="connsiteY0" fmla="*/ 2672537 h 2672537"/>
                <a:gd name="connsiteX1" fmla="*/ 0 w 585984"/>
                <a:gd name="connsiteY1" fmla="*/ 379587 h 2672537"/>
                <a:gd name="connsiteX2" fmla="*/ 6140 w 585984"/>
                <a:gd name="connsiteY2" fmla="*/ 379587 h 2672537"/>
                <a:gd name="connsiteX3" fmla="*/ 296062 w 585984"/>
                <a:gd name="connsiteY3" fmla="*/ 0 h 2672537"/>
                <a:gd name="connsiteX4" fmla="*/ 585984 w 585984"/>
                <a:gd name="connsiteY4" fmla="*/ 379587 h 2672537"/>
                <a:gd name="connsiteX5" fmla="*/ 585984 w 585984"/>
                <a:gd name="connsiteY5" fmla="*/ 379587 h 2672537"/>
                <a:gd name="connsiteX6" fmla="*/ 585983 w 585984"/>
                <a:gd name="connsiteY6" fmla="*/ 2672536 h 2672537"/>
                <a:gd name="connsiteX7" fmla="*/ 296061 w 585984"/>
                <a:gd name="connsiteY7" fmla="*/ 2292950 h 2672537"/>
                <a:gd name="connsiteX8" fmla="*/ 6139 w 585984"/>
                <a:gd name="connsiteY8" fmla="*/ 2672536 h 2672537"/>
                <a:gd name="connsiteX9" fmla="*/ 585983 w 585984"/>
                <a:gd name="connsiteY9" fmla="*/ 2672536 h 2672537"/>
                <a:gd name="connsiteX10" fmla="*/ 585983 w 585984"/>
                <a:gd name="connsiteY10" fmla="*/ 2672537 h 26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84" h="2672537">
                  <a:moveTo>
                    <a:pt x="0" y="2672537"/>
                  </a:moveTo>
                  <a:lnTo>
                    <a:pt x="0" y="379587"/>
                  </a:lnTo>
                  <a:lnTo>
                    <a:pt x="6140" y="379587"/>
                  </a:lnTo>
                  <a:lnTo>
                    <a:pt x="296062" y="0"/>
                  </a:lnTo>
                  <a:lnTo>
                    <a:pt x="585984" y="379587"/>
                  </a:lnTo>
                  <a:lnTo>
                    <a:pt x="585984" y="379587"/>
                  </a:lnTo>
                  <a:lnTo>
                    <a:pt x="585983" y="2672536"/>
                  </a:lnTo>
                  <a:lnTo>
                    <a:pt x="296061" y="2292950"/>
                  </a:lnTo>
                  <a:lnTo>
                    <a:pt x="6139" y="2672536"/>
                  </a:lnTo>
                  <a:lnTo>
                    <a:pt x="585983" y="2672536"/>
                  </a:lnTo>
                  <a:lnTo>
                    <a:pt x="585983" y="2672537"/>
                  </a:lnTo>
                  <a:close/>
                </a:path>
              </a:pathLst>
            </a:custGeom>
            <a:gradFill>
              <a:gsLst>
                <a:gs pos="16000">
                  <a:srgbClr val="8AB1CE"/>
                </a:gs>
                <a:gs pos="100000">
                  <a:srgbClr val="C2CBD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文本框 29">
              <a:extLst>
                <a:ext uri="{FF2B5EF4-FFF2-40B4-BE49-F238E27FC236}">
                  <a16:creationId xmlns:a16="http://schemas.microsoft.com/office/drawing/2014/main" id="{DDD5341C-7C6A-75CF-6956-35FCD6EB38C6}"/>
                </a:ext>
              </a:extLst>
            </p:cNvPr>
            <p:cNvSpPr txBox="1"/>
            <p:nvPr/>
          </p:nvSpPr>
          <p:spPr>
            <a:xfrm>
              <a:off x="2585594" y="1160454"/>
              <a:ext cx="1790583" cy="406778"/>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2017</a:t>
              </a:r>
              <a:r>
                <a:rPr lang="zh-CN" altLang="en-US" b="1" dirty="0">
                  <a:latin typeface="Times New Roman" panose="02020603050405020304" pitchFamily="18" charset="0"/>
                  <a:ea typeface="微软雅黑" panose="020B0503020204020204" pitchFamily="34" charset="-122"/>
                </a:rPr>
                <a:t>年</a:t>
              </a:r>
              <a:r>
                <a:rPr lang="en-US" altLang="zh-CN" b="1" dirty="0">
                  <a:latin typeface="Times New Roman" panose="02020603050405020304" pitchFamily="18" charset="0"/>
                  <a:ea typeface="微软雅黑" panose="020B0503020204020204" pitchFamily="34" charset="-122"/>
                </a:rPr>
                <a:t>3</a:t>
              </a:r>
              <a:r>
                <a:rPr lang="zh-CN" altLang="en-US" b="1" dirty="0">
                  <a:latin typeface="Times New Roman" panose="02020603050405020304" pitchFamily="18" charset="0"/>
                  <a:ea typeface="微软雅黑" panose="020B0503020204020204" pitchFamily="34" charset="-122"/>
                </a:rPr>
                <a:t>月</a:t>
              </a:r>
            </a:p>
          </p:txBody>
        </p:sp>
      </p:grpSp>
      <p:grpSp>
        <p:nvGrpSpPr>
          <p:cNvPr id="36" name="组合 35">
            <a:extLst>
              <a:ext uri="{FF2B5EF4-FFF2-40B4-BE49-F238E27FC236}">
                <a16:creationId xmlns:a16="http://schemas.microsoft.com/office/drawing/2014/main" id="{F83515D7-319F-37EA-6362-06A2E01CA8D2}"/>
              </a:ext>
            </a:extLst>
          </p:cNvPr>
          <p:cNvGrpSpPr/>
          <p:nvPr/>
        </p:nvGrpSpPr>
        <p:grpSpPr>
          <a:xfrm>
            <a:off x="4552200" y="1070852"/>
            <a:ext cx="2291139" cy="585984"/>
            <a:chOff x="4458100" y="1070852"/>
            <a:chExt cx="2291139" cy="585984"/>
          </a:xfrm>
        </p:grpSpPr>
        <p:sp>
          <p:nvSpPr>
            <p:cNvPr id="27" name="任意多边形: 形状 26">
              <a:extLst>
                <a:ext uri="{FF2B5EF4-FFF2-40B4-BE49-F238E27FC236}">
                  <a16:creationId xmlns:a16="http://schemas.microsoft.com/office/drawing/2014/main" id="{6C4382A9-FD6B-F0CC-AF7C-EF0FD7FC3BB9}"/>
                </a:ext>
              </a:extLst>
            </p:cNvPr>
            <p:cNvSpPr/>
            <p:nvPr/>
          </p:nvSpPr>
          <p:spPr>
            <a:xfrm rot="5400000">
              <a:off x="5310678" y="218274"/>
              <a:ext cx="585984" cy="2291139"/>
            </a:xfrm>
            <a:custGeom>
              <a:avLst/>
              <a:gdLst>
                <a:gd name="connsiteX0" fmla="*/ 0 w 585984"/>
                <a:gd name="connsiteY0" fmla="*/ 2672537 h 2672537"/>
                <a:gd name="connsiteX1" fmla="*/ 0 w 585984"/>
                <a:gd name="connsiteY1" fmla="*/ 379587 h 2672537"/>
                <a:gd name="connsiteX2" fmla="*/ 6140 w 585984"/>
                <a:gd name="connsiteY2" fmla="*/ 379587 h 2672537"/>
                <a:gd name="connsiteX3" fmla="*/ 296062 w 585984"/>
                <a:gd name="connsiteY3" fmla="*/ 0 h 2672537"/>
                <a:gd name="connsiteX4" fmla="*/ 585984 w 585984"/>
                <a:gd name="connsiteY4" fmla="*/ 379587 h 2672537"/>
                <a:gd name="connsiteX5" fmla="*/ 585984 w 585984"/>
                <a:gd name="connsiteY5" fmla="*/ 379587 h 2672537"/>
                <a:gd name="connsiteX6" fmla="*/ 585983 w 585984"/>
                <a:gd name="connsiteY6" fmla="*/ 2672536 h 2672537"/>
                <a:gd name="connsiteX7" fmla="*/ 296061 w 585984"/>
                <a:gd name="connsiteY7" fmla="*/ 2292950 h 2672537"/>
                <a:gd name="connsiteX8" fmla="*/ 6139 w 585984"/>
                <a:gd name="connsiteY8" fmla="*/ 2672536 h 2672537"/>
                <a:gd name="connsiteX9" fmla="*/ 585983 w 585984"/>
                <a:gd name="connsiteY9" fmla="*/ 2672536 h 2672537"/>
                <a:gd name="connsiteX10" fmla="*/ 585983 w 585984"/>
                <a:gd name="connsiteY10" fmla="*/ 2672537 h 26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84" h="2672537">
                  <a:moveTo>
                    <a:pt x="0" y="2672537"/>
                  </a:moveTo>
                  <a:lnTo>
                    <a:pt x="0" y="379587"/>
                  </a:lnTo>
                  <a:lnTo>
                    <a:pt x="6140" y="379587"/>
                  </a:lnTo>
                  <a:lnTo>
                    <a:pt x="296062" y="0"/>
                  </a:lnTo>
                  <a:lnTo>
                    <a:pt x="585984" y="379587"/>
                  </a:lnTo>
                  <a:lnTo>
                    <a:pt x="585984" y="379587"/>
                  </a:lnTo>
                  <a:lnTo>
                    <a:pt x="585983" y="2672536"/>
                  </a:lnTo>
                  <a:lnTo>
                    <a:pt x="296061" y="2292950"/>
                  </a:lnTo>
                  <a:lnTo>
                    <a:pt x="6139" y="2672536"/>
                  </a:lnTo>
                  <a:lnTo>
                    <a:pt x="585983" y="2672536"/>
                  </a:lnTo>
                  <a:lnTo>
                    <a:pt x="585983" y="2672537"/>
                  </a:lnTo>
                  <a:close/>
                </a:path>
              </a:pathLst>
            </a:custGeom>
            <a:gradFill>
              <a:gsLst>
                <a:gs pos="16000">
                  <a:srgbClr val="6691C0"/>
                </a:gs>
                <a:gs pos="100000">
                  <a:srgbClr val="8AB1CE"/>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文本框 30">
              <a:extLst>
                <a:ext uri="{FF2B5EF4-FFF2-40B4-BE49-F238E27FC236}">
                  <a16:creationId xmlns:a16="http://schemas.microsoft.com/office/drawing/2014/main" id="{C4577A62-9BB2-EB8B-00FB-EA8AA0966447}"/>
                </a:ext>
              </a:extLst>
            </p:cNvPr>
            <p:cNvSpPr txBox="1"/>
            <p:nvPr/>
          </p:nvSpPr>
          <p:spPr>
            <a:xfrm>
              <a:off x="4698608" y="1160454"/>
              <a:ext cx="1790583" cy="406778"/>
            </a:xfrm>
            <a:prstGeom prst="rect">
              <a:avLst/>
            </a:prstGeom>
            <a:noFill/>
          </p:spPr>
          <p:txBody>
            <a:bodyPr wrap="square">
              <a:spAutoFit/>
            </a:bodyPr>
            <a:lstStyle/>
            <a:p>
              <a:pPr algn="ctr">
                <a:lnSpc>
                  <a:spcPct val="125000"/>
                </a:lnSpc>
              </a:pPr>
              <a:r>
                <a:rPr lang="en-US" altLang="zh-CN" b="1" dirty="0">
                  <a:solidFill>
                    <a:schemeClr val="bg1"/>
                  </a:solidFill>
                  <a:latin typeface="Times New Roman" panose="02020603050405020304" pitchFamily="18" charset="0"/>
                  <a:ea typeface="微软雅黑" panose="020B0503020204020204" pitchFamily="34" charset="-122"/>
                </a:rPr>
                <a:t>2017</a:t>
              </a:r>
              <a:r>
                <a:rPr lang="zh-CN" altLang="en-US" b="1" dirty="0">
                  <a:solidFill>
                    <a:schemeClr val="bg1"/>
                  </a:solidFill>
                  <a:latin typeface="Times New Roman" panose="02020603050405020304" pitchFamily="18" charset="0"/>
                  <a:ea typeface="微软雅黑" panose="020B0503020204020204" pitchFamily="34" charset="-122"/>
                </a:rPr>
                <a:t>年</a:t>
              </a:r>
              <a:r>
                <a:rPr lang="en-US" altLang="zh-CN" b="1" dirty="0">
                  <a:solidFill>
                    <a:schemeClr val="bg1"/>
                  </a:solidFill>
                  <a:latin typeface="Times New Roman" panose="02020603050405020304" pitchFamily="18" charset="0"/>
                  <a:ea typeface="微软雅黑" panose="020B0503020204020204" pitchFamily="34" charset="-122"/>
                </a:rPr>
                <a:t>8</a:t>
              </a:r>
              <a:r>
                <a:rPr lang="zh-CN" altLang="en-US" b="1" dirty="0">
                  <a:solidFill>
                    <a:schemeClr val="bg1"/>
                  </a:solidFill>
                  <a:latin typeface="Times New Roman" panose="02020603050405020304" pitchFamily="18" charset="0"/>
                  <a:ea typeface="微软雅黑" panose="020B0503020204020204" pitchFamily="34" charset="-122"/>
                </a:rPr>
                <a:t>月</a:t>
              </a:r>
            </a:p>
          </p:txBody>
        </p:sp>
      </p:grpSp>
      <p:grpSp>
        <p:nvGrpSpPr>
          <p:cNvPr id="35" name="组合 34">
            <a:extLst>
              <a:ext uri="{FF2B5EF4-FFF2-40B4-BE49-F238E27FC236}">
                <a16:creationId xmlns:a16="http://schemas.microsoft.com/office/drawing/2014/main" id="{10C2C9C4-A781-0D26-DABF-91D2F8DDF51A}"/>
              </a:ext>
            </a:extLst>
          </p:cNvPr>
          <p:cNvGrpSpPr/>
          <p:nvPr/>
        </p:nvGrpSpPr>
        <p:grpSpPr>
          <a:xfrm>
            <a:off x="6702494" y="1070852"/>
            <a:ext cx="2291139" cy="585984"/>
            <a:chOff x="6561343" y="1070852"/>
            <a:chExt cx="2291139" cy="585984"/>
          </a:xfrm>
        </p:grpSpPr>
        <p:sp>
          <p:nvSpPr>
            <p:cNvPr id="28" name="任意多边形: 形状 27">
              <a:extLst>
                <a:ext uri="{FF2B5EF4-FFF2-40B4-BE49-F238E27FC236}">
                  <a16:creationId xmlns:a16="http://schemas.microsoft.com/office/drawing/2014/main" id="{EAECD43E-614A-1CA0-C74D-FA8882871674}"/>
                </a:ext>
              </a:extLst>
            </p:cNvPr>
            <p:cNvSpPr/>
            <p:nvPr/>
          </p:nvSpPr>
          <p:spPr>
            <a:xfrm rot="5400000">
              <a:off x="7413921" y="218274"/>
              <a:ext cx="585984" cy="2291139"/>
            </a:xfrm>
            <a:custGeom>
              <a:avLst/>
              <a:gdLst>
                <a:gd name="connsiteX0" fmla="*/ 0 w 585984"/>
                <a:gd name="connsiteY0" fmla="*/ 2672537 h 2672537"/>
                <a:gd name="connsiteX1" fmla="*/ 0 w 585984"/>
                <a:gd name="connsiteY1" fmla="*/ 379587 h 2672537"/>
                <a:gd name="connsiteX2" fmla="*/ 6140 w 585984"/>
                <a:gd name="connsiteY2" fmla="*/ 379587 h 2672537"/>
                <a:gd name="connsiteX3" fmla="*/ 296062 w 585984"/>
                <a:gd name="connsiteY3" fmla="*/ 0 h 2672537"/>
                <a:gd name="connsiteX4" fmla="*/ 585984 w 585984"/>
                <a:gd name="connsiteY4" fmla="*/ 379587 h 2672537"/>
                <a:gd name="connsiteX5" fmla="*/ 585984 w 585984"/>
                <a:gd name="connsiteY5" fmla="*/ 379587 h 2672537"/>
                <a:gd name="connsiteX6" fmla="*/ 585983 w 585984"/>
                <a:gd name="connsiteY6" fmla="*/ 2672536 h 2672537"/>
                <a:gd name="connsiteX7" fmla="*/ 296061 w 585984"/>
                <a:gd name="connsiteY7" fmla="*/ 2292950 h 2672537"/>
                <a:gd name="connsiteX8" fmla="*/ 6139 w 585984"/>
                <a:gd name="connsiteY8" fmla="*/ 2672536 h 2672537"/>
                <a:gd name="connsiteX9" fmla="*/ 585983 w 585984"/>
                <a:gd name="connsiteY9" fmla="*/ 2672536 h 2672537"/>
                <a:gd name="connsiteX10" fmla="*/ 585983 w 585984"/>
                <a:gd name="connsiteY10" fmla="*/ 2672537 h 26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84" h="2672537">
                  <a:moveTo>
                    <a:pt x="0" y="2672537"/>
                  </a:moveTo>
                  <a:lnTo>
                    <a:pt x="0" y="379587"/>
                  </a:lnTo>
                  <a:lnTo>
                    <a:pt x="6140" y="379587"/>
                  </a:lnTo>
                  <a:lnTo>
                    <a:pt x="296062" y="0"/>
                  </a:lnTo>
                  <a:lnTo>
                    <a:pt x="585984" y="379587"/>
                  </a:lnTo>
                  <a:lnTo>
                    <a:pt x="585984" y="379587"/>
                  </a:lnTo>
                  <a:lnTo>
                    <a:pt x="585983" y="2672536"/>
                  </a:lnTo>
                  <a:lnTo>
                    <a:pt x="296061" y="2292950"/>
                  </a:lnTo>
                  <a:lnTo>
                    <a:pt x="6139" y="2672536"/>
                  </a:lnTo>
                  <a:lnTo>
                    <a:pt x="585983" y="2672536"/>
                  </a:lnTo>
                  <a:lnTo>
                    <a:pt x="585983" y="2672537"/>
                  </a:lnTo>
                  <a:close/>
                </a:path>
              </a:pathLst>
            </a:custGeom>
            <a:gradFill>
              <a:gsLst>
                <a:gs pos="16000">
                  <a:srgbClr val="0F349D"/>
                </a:gs>
                <a:gs pos="100000">
                  <a:srgbClr val="6691C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2" name="文本框 31">
              <a:extLst>
                <a:ext uri="{FF2B5EF4-FFF2-40B4-BE49-F238E27FC236}">
                  <a16:creationId xmlns:a16="http://schemas.microsoft.com/office/drawing/2014/main" id="{EF358A16-72FC-E42E-3DF3-F912CD7848B1}"/>
                </a:ext>
              </a:extLst>
            </p:cNvPr>
            <p:cNvSpPr txBox="1"/>
            <p:nvPr/>
          </p:nvSpPr>
          <p:spPr>
            <a:xfrm>
              <a:off x="6811621" y="1160454"/>
              <a:ext cx="1790583" cy="406778"/>
            </a:xfrm>
            <a:prstGeom prst="rect">
              <a:avLst/>
            </a:prstGeom>
            <a:noFill/>
          </p:spPr>
          <p:txBody>
            <a:bodyPr wrap="square">
              <a:spAutoFit/>
            </a:bodyPr>
            <a:lstStyle/>
            <a:p>
              <a:pPr algn="ctr">
                <a:lnSpc>
                  <a:spcPct val="125000"/>
                </a:lnSpc>
              </a:pPr>
              <a:r>
                <a:rPr lang="en-US" altLang="zh-CN" b="1" dirty="0">
                  <a:solidFill>
                    <a:schemeClr val="bg1"/>
                  </a:solidFill>
                  <a:latin typeface="Times New Roman" panose="02020603050405020304" pitchFamily="18" charset="0"/>
                  <a:ea typeface="微软雅黑" panose="020B0503020204020204" pitchFamily="34" charset="-122"/>
                </a:rPr>
                <a:t>2018</a:t>
              </a:r>
              <a:r>
                <a:rPr lang="zh-CN" altLang="en-US" b="1" dirty="0">
                  <a:solidFill>
                    <a:schemeClr val="bg1"/>
                  </a:solidFill>
                  <a:latin typeface="Times New Roman" panose="02020603050405020304" pitchFamily="18" charset="0"/>
                  <a:ea typeface="微软雅黑" panose="020B0503020204020204" pitchFamily="34" charset="-122"/>
                </a:rPr>
                <a:t>年</a:t>
              </a:r>
              <a:r>
                <a:rPr lang="en-US" altLang="zh-CN" b="1" dirty="0">
                  <a:solidFill>
                    <a:schemeClr val="bg1"/>
                  </a:solidFill>
                  <a:latin typeface="Times New Roman" panose="02020603050405020304" pitchFamily="18" charset="0"/>
                  <a:ea typeface="微软雅黑" panose="020B0503020204020204" pitchFamily="34" charset="-122"/>
                </a:rPr>
                <a:t>11</a:t>
              </a:r>
              <a:r>
                <a:rPr lang="zh-CN" altLang="en-US" b="1" dirty="0">
                  <a:solidFill>
                    <a:schemeClr val="bg1"/>
                  </a:solidFill>
                  <a:latin typeface="Times New Roman" panose="02020603050405020304" pitchFamily="18" charset="0"/>
                  <a:ea typeface="微软雅黑" panose="020B0503020204020204" pitchFamily="34" charset="-122"/>
                </a:rPr>
                <a:t>月</a:t>
              </a:r>
            </a:p>
          </p:txBody>
        </p:sp>
      </p:grpSp>
      <p:grpSp>
        <p:nvGrpSpPr>
          <p:cNvPr id="39" name="组合 38">
            <a:extLst>
              <a:ext uri="{FF2B5EF4-FFF2-40B4-BE49-F238E27FC236}">
                <a16:creationId xmlns:a16="http://schemas.microsoft.com/office/drawing/2014/main" id="{D64EBDD3-87F9-650B-612C-39F8D1CE02F8}"/>
              </a:ext>
            </a:extLst>
          </p:cNvPr>
          <p:cNvGrpSpPr/>
          <p:nvPr/>
        </p:nvGrpSpPr>
        <p:grpSpPr>
          <a:xfrm>
            <a:off x="9286148" y="1070852"/>
            <a:ext cx="2291137" cy="585984"/>
            <a:chOff x="9286147" y="1070852"/>
            <a:chExt cx="2291137" cy="585984"/>
          </a:xfrm>
        </p:grpSpPr>
        <p:sp>
          <p:nvSpPr>
            <p:cNvPr id="29" name="任意多边形: 形状 28">
              <a:extLst>
                <a:ext uri="{FF2B5EF4-FFF2-40B4-BE49-F238E27FC236}">
                  <a16:creationId xmlns:a16="http://schemas.microsoft.com/office/drawing/2014/main" id="{C1323944-566C-4633-3FB9-5D57125AF1C0}"/>
                </a:ext>
              </a:extLst>
            </p:cNvPr>
            <p:cNvSpPr/>
            <p:nvPr/>
          </p:nvSpPr>
          <p:spPr>
            <a:xfrm rot="16200000" flipH="1">
              <a:off x="10138724" y="218275"/>
              <a:ext cx="585984" cy="2291137"/>
            </a:xfrm>
            <a:custGeom>
              <a:avLst/>
              <a:gdLst>
                <a:gd name="connsiteX0" fmla="*/ 0 w 585984"/>
                <a:gd name="connsiteY0" fmla="*/ 2672537 h 2672537"/>
                <a:gd name="connsiteX1" fmla="*/ 0 w 585984"/>
                <a:gd name="connsiteY1" fmla="*/ 379587 h 2672537"/>
                <a:gd name="connsiteX2" fmla="*/ 6140 w 585984"/>
                <a:gd name="connsiteY2" fmla="*/ 379587 h 2672537"/>
                <a:gd name="connsiteX3" fmla="*/ 296062 w 585984"/>
                <a:gd name="connsiteY3" fmla="*/ 0 h 2672537"/>
                <a:gd name="connsiteX4" fmla="*/ 585984 w 585984"/>
                <a:gd name="connsiteY4" fmla="*/ 379587 h 2672537"/>
                <a:gd name="connsiteX5" fmla="*/ 585984 w 585984"/>
                <a:gd name="connsiteY5" fmla="*/ 379587 h 2672537"/>
                <a:gd name="connsiteX6" fmla="*/ 585983 w 585984"/>
                <a:gd name="connsiteY6" fmla="*/ 2672536 h 2672537"/>
                <a:gd name="connsiteX7" fmla="*/ 296061 w 585984"/>
                <a:gd name="connsiteY7" fmla="*/ 2292950 h 2672537"/>
                <a:gd name="connsiteX8" fmla="*/ 6139 w 585984"/>
                <a:gd name="connsiteY8" fmla="*/ 2672536 h 2672537"/>
                <a:gd name="connsiteX9" fmla="*/ 585983 w 585984"/>
                <a:gd name="connsiteY9" fmla="*/ 2672536 h 2672537"/>
                <a:gd name="connsiteX10" fmla="*/ 585983 w 585984"/>
                <a:gd name="connsiteY10" fmla="*/ 2672537 h 26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84" h="2672537">
                  <a:moveTo>
                    <a:pt x="0" y="2672537"/>
                  </a:moveTo>
                  <a:lnTo>
                    <a:pt x="0" y="379587"/>
                  </a:lnTo>
                  <a:lnTo>
                    <a:pt x="6140" y="379587"/>
                  </a:lnTo>
                  <a:lnTo>
                    <a:pt x="296062" y="0"/>
                  </a:lnTo>
                  <a:lnTo>
                    <a:pt x="585984" y="379587"/>
                  </a:lnTo>
                  <a:lnTo>
                    <a:pt x="585984" y="379587"/>
                  </a:lnTo>
                  <a:lnTo>
                    <a:pt x="585983" y="2672536"/>
                  </a:lnTo>
                  <a:lnTo>
                    <a:pt x="296061" y="2292950"/>
                  </a:lnTo>
                  <a:lnTo>
                    <a:pt x="6139" y="2672536"/>
                  </a:lnTo>
                  <a:lnTo>
                    <a:pt x="585983" y="2672536"/>
                  </a:lnTo>
                  <a:lnTo>
                    <a:pt x="585983" y="2672537"/>
                  </a:lnTo>
                  <a:close/>
                </a:path>
              </a:pathLst>
            </a:custGeom>
            <a:gradFill>
              <a:gsLst>
                <a:gs pos="16000">
                  <a:srgbClr val="0F349D"/>
                </a:gs>
                <a:gs pos="100000">
                  <a:srgbClr val="6691C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文本框 32">
              <a:extLst>
                <a:ext uri="{FF2B5EF4-FFF2-40B4-BE49-F238E27FC236}">
                  <a16:creationId xmlns:a16="http://schemas.microsoft.com/office/drawing/2014/main" id="{5713335A-D249-AB4D-C435-1745CE3564F2}"/>
                </a:ext>
              </a:extLst>
            </p:cNvPr>
            <p:cNvSpPr txBox="1"/>
            <p:nvPr/>
          </p:nvSpPr>
          <p:spPr>
            <a:xfrm>
              <a:off x="9527233" y="1160454"/>
              <a:ext cx="1790583" cy="406778"/>
            </a:xfrm>
            <a:prstGeom prst="rect">
              <a:avLst/>
            </a:prstGeom>
            <a:noFill/>
          </p:spPr>
          <p:txBody>
            <a:bodyPr wrap="square">
              <a:spAutoFit/>
            </a:bodyPr>
            <a:lstStyle/>
            <a:p>
              <a:pPr algn="ctr">
                <a:lnSpc>
                  <a:spcPct val="125000"/>
                </a:lnSpc>
              </a:pPr>
              <a:r>
                <a:rPr lang="en-US" altLang="zh-CN" b="1" dirty="0">
                  <a:solidFill>
                    <a:schemeClr val="bg1"/>
                  </a:solidFill>
                  <a:latin typeface="Times New Roman" panose="02020603050405020304" pitchFamily="18" charset="0"/>
                  <a:ea typeface="微软雅黑" panose="020B0503020204020204" pitchFamily="34" charset="-122"/>
                </a:rPr>
                <a:t>2017</a:t>
              </a:r>
              <a:r>
                <a:rPr lang="zh-CN" altLang="en-US" b="1" dirty="0">
                  <a:solidFill>
                    <a:schemeClr val="bg1"/>
                  </a:solidFill>
                  <a:latin typeface="Times New Roman" panose="02020603050405020304" pitchFamily="18" charset="0"/>
                  <a:ea typeface="微软雅黑" panose="020B0503020204020204" pitchFamily="34" charset="-122"/>
                </a:rPr>
                <a:t>年</a:t>
              </a:r>
              <a:r>
                <a:rPr lang="en-US" altLang="zh-CN" b="1" dirty="0">
                  <a:solidFill>
                    <a:schemeClr val="bg1"/>
                  </a:solidFill>
                  <a:latin typeface="Times New Roman" panose="02020603050405020304" pitchFamily="18" charset="0"/>
                  <a:ea typeface="微软雅黑" panose="020B0503020204020204" pitchFamily="34" charset="-122"/>
                </a:rPr>
                <a:t>2</a:t>
              </a:r>
              <a:r>
                <a:rPr lang="zh-CN" altLang="en-US" b="1" dirty="0">
                  <a:solidFill>
                    <a:schemeClr val="bg1"/>
                  </a:solidFill>
                  <a:latin typeface="Times New Roman" panose="02020603050405020304" pitchFamily="18" charset="0"/>
                  <a:ea typeface="微软雅黑" panose="020B0503020204020204" pitchFamily="34" charset="-122"/>
                </a:rPr>
                <a:t>月</a:t>
              </a:r>
            </a:p>
          </p:txBody>
        </p:sp>
      </p:grpSp>
      <p:sp>
        <p:nvSpPr>
          <p:cNvPr id="47" name="矩形 46">
            <a:extLst>
              <a:ext uri="{FF2B5EF4-FFF2-40B4-BE49-F238E27FC236}">
                <a16:creationId xmlns:a16="http://schemas.microsoft.com/office/drawing/2014/main" id="{BF12D1BE-F165-10FF-93C8-3FDF9CFBB596}"/>
              </a:ext>
            </a:extLst>
          </p:cNvPr>
          <p:cNvSpPr/>
          <p:nvPr/>
        </p:nvSpPr>
        <p:spPr>
          <a:xfrm>
            <a:off x="374392" y="2239112"/>
            <a:ext cx="2028565" cy="3792718"/>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5C26223B-3F71-4DA0-58D7-555BE25E7CE7}"/>
              </a:ext>
            </a:extLst>
          </p:cNvPr>
          <p:cNvSpPr txBox="1"/>
          <p:nvPr/>
        </p:nvSpPr>
        <p:spPr>
          <a:xfrm>
            <a:off x="455863" y="2450278"/>
            <a:ext cx="1865623" cy="3292183"/>
          </a:xfrm>
          <a:prstGeom prst="rect">
            <a:avLst/>
          </a:prstGeom>
          <a:noFill/>
        </p:spPr>
        <p:txBody>
          <a:bodyPr wrap="square">
            <a:spAutoFit/>
          </a:bodyPr>
          <a:lstStyle>
            <a:defPPr>
              <a:defRPr lang="zh-CN"/>
            </a:defPPr>
            <a:lvl1pPr algn="ctr">
              <a:lnSpc>
                <a:spcPct val="125000"/>
              </a:lnSpc>
              <a:defRPr b="1">
                <a:latin typeface="Times New Roman" panose="02020603050405020304" pitchFamily="18" charset="0"/>
                <a:ea typeface="微软雅黑" panose="020B0503020204020204" pitchFamily="34" charset="-122"/>
              </a:defRPr>
            </a:lvl1pPr>
          </a:lstStyle>
          <a:p>
            <a:pPr>
              <a:spcAft>
                <a:spcPts val="1200"/>
              </a:spcAft>
            </a:pPr>
            <a:r>
              <a:rPr lang="zh-CN" altLang="en-US" b="0" dirty="0"/>
              <a:t>贺建奎开始私自组织项目团队</a:t>
            </a:r>
            <a:endParaRPr lang="en-US" altLang="zh-CN" b="0" dirty="0"/>
          </a:p>
          <a:p>
            <a:pPr>
              <a:spcAft>
                <a:spcPts val="1200"/>
              </a:spcAft>
            </a:pPr>
            <a:r>
              <a:rPr lang="zh-CN" altLang="en-US" b="0" dirty="0"/>
              <a:t>蓄意逃避监管</a:t>
            </a:r>
            <a:endParaRPr lang="en-US" altLang="zh-CN" b="0" dirty="0"/>
          </a:p>
          <a:p>
            <a:pPr>
              <a:spcAft>
                <a:spcPts val="1200"/>
              </a:spcAft>
            </a:pPr>
            <a:r>
              <a:rPr lang="zh-CN" altLang="en-US" b="0" dirty="0"/>
              <a:t>使用安全与有效性不确切的技术</a:t>
            </a:r>
            <a:endParaRPr lang="en-US" altLang="zh-CN" b="0" dirty="0"/>
          </a:p>
          <a:p>
            <a:pPr>
              <a:spcAft>
                <a:spcPts val="1200"/>
              </a:spcAft>
            </a:pPr>
            <a:r>
              <a:rPr lang="zh-CN" altLang="en-US" b="0" dirty="0"/>
              <a:t>实施国家</a:t>
            </a:r>
            <a:r>
              <a:rPr lang="zh-CN" altLang="en-US" dirty="0"/>
              <a:t>明令禁止的人类胚胎基因编辑活动</a:t>
            </a:r>
          </a:p>
        </p:txBody>
      </p:sp>
      <p:sp>
        <p:nvSpPr>
          <p:cNvPr id="48" name="矩形 47">
            <a:extLst>
              <a:ext uri="{FF2B5EF4-FFF2-40B4-BE49-F238E27FC236}">
                <a16:creationId xmlns:a16="http://schemas.microsoft.com/office/drawing/2014/main" id="{22018D98-BB99-CC3E-113C-0610913FB200}"/>
              </a:ext>
            </a:extLst>
          </p:cNvPr>
          <p:cNvSpPr/>
          <p:nvPr/>
        </p:nvSpPr>
        <p:spPr>
          <a:xfrm>
            <a:off x="2527522" y="2239110"/>
            <a:ext cx="2028565" cy="1614457"/>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D9AAA809-E170-D2B2-F5BB-0752A96DD39E}"/>
              </a:ext>
            </a:extLst>
          </p:cNvPr>
          <p:cNvSpPr txBox="1"/>
          <p:nvPr/>
        </p:nvSpPr>
        <p:spPr>
          <a:xfrm>
            <a:off x="2580699" y="2450278"/>
            <a:ext cx="1922211" cy="1253164"/>
          </a:xfrm>
          <a:prstGeom prst="rect">
            <a:avLst/>
          </a:prstGeom>
          <a:noFill/>
        </p:spPr>
        <p:txBody>
          <a:bodyPr wrap="square">
            <a:spAutoFit/>
          </a:bodyPr>
          <a:lstStyle>
            <a:defPPr>
              <a:defRPr lang="zh-CN"/>
            </a:defPPr>
            <a:lvl1pPr algn="ctr">
              <a:lnSpc>
                <a:spcPct val="125000"/>
              </a:lnSpc>
              <a:defRPr b="1">
                <a:latin typeface="Times New Roman" panose="02020603050405020304" pitchFamily="18" charset="0"/>
                <a:ea typeface="微软雅黑" panose="020B0503020204020204" pitchFamily="34" charset="-122"/>
              </a:defRPr>
            </a:lvl1pPr>
          </a:lstStyle>
          <a:p>
            <a:pPr>
              <a:spcAft>
                <a:spcPts val="600"/>
              </a:spcAft>
            </a:pPr>
            <a:r>
              <a:rPr lang="zh-CN" altLang="en-US" b="0" dirty="0"/>
              <a:t>伪造伦理审查书</a:t>
            </a:r>
            <a:endParaRPr lang="en-US" altLang="zh-CN" b="0" dirty="0"/>
          </a:p>
          <a:p>
            <a:pPr>
              <a:spcAft>
                <a:spcPts val="600"/>
              </a:spcAft>
            </a:pPr>
            <a:r>
              <a:rPr lang="zh-CN" altLang="en-US" b="0" dirty="0"/>
              <a:t>招募</a:t>
            </a:r>
            <a:r>
              <a:rPr lang="en-US" altLang="zh-CN" b="0" dirty="0"/>
              <a:t>8</a:t>
            </a:r>
            <a:r>
              <a:rPr lang="zh-CN" altLang="en-US" b="0" dirty="0"/>
              <a:t>对夫妇</a:t>
            </a:r>
            <a:endParaRPr lang="en-US" altLang="zh-CN" b="0" dirty="0"/>
          </a:p>
          <a:p>
            <a:pPr>
              <a:spcAft>
                <a:spcPts val="600"/>
              </a:spcAft>
            </a:pPr>
            <a:r>
              <a:rPr lang="zh-CN" altLang="en-US" b="0" dirty="0"/>
              <a:t>策划顶替验血</a:t>
            </a:r>
          </a:p>
        </p:txBody>
      </p:sp>
      <p:sp>
        <p:nvSpPr>
          <p:cNvPr id="49" name="矩形 48">
            <a:extLst>
              <a:ext uri="{FF2B5EF4-FFF2-40B4-BE49-F238E27FC236}">
                <a16:creationId xmlns:a16="http://schemas.microsoft.com/office/drawing/2014/main" id="{60F86B29-B960-307A-8C13-5CE5C1E3A416}"/>
              </a:ext>
            </a:extLst>
          </p:cNvPr>
          <p:cNvSpPr/>
          <p:nvPr/>
        </p:nvSpPr>
        <p:spPr>
          <a:xfrm>
            <a:off x="4680652" y="2261712"/>
            <a:ext cx="2028565" cy="1614457"/>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365DEA6D-E3D0-3212-B270-85279EA7478D}"/>
              </a:ext>
            </a:extLst>
          </p:cNvPr>
          <p:cNvSpPr txBox="1"/>
          <p:nvPr/>
        </p:nvSpPr>
        <p:spPr>
          <a:xfrm>
            <a:off x="4733829" y="2700347"/>
            <a:ext cx="1922211" cy="753027"/>
          </a:xfrm>
          <a:prstGeom prst="rect">
            <a:avLst/>
          </a:prstGeom>
          <a:noFill/>
        </p:spPr>
        <p:txBody>
          <a:bodyPr wrap="square">
            <a:spAutoFit/>
          </a:bodyPr>
          <a:lstStyle>
            <a:defPPr>
              <a:defRPr lang="zh-CN"/>
            </a:defPPr>
            <a:lvl1pPr algn="ctr">
              <a:lnSpc>
                <a:spcPct val="125000"/>
              </a:lnSpc>
              <a:defRPr b="1">
                <a:latin typeface="Times New Roman" panose="02020603050405020304" pitchFamily="18" charset="0"/>
                <a:ea typeface="微软雅黑" panose="020B0503020204020204" pitchFamily="34" charset="-122"/>
              </a:defRPr>
            </a:lvl1pPr>
          </a:lstStyle>
          <a:p>
            <a:r>
              <a:rPr lang="zh-CN" altLang="en-US" b="0" dirty="0"/>
              <a:t>注射试剂</a:t>
            </a:r>
            <a:endParaRPr lang="en-US" altLang="zh-CN" b="0" dirty="0"/>
          </a:p>
          <a:p>
            <a:r>
              <a:rPr lang="zh-CN" altLang="en-US" b="0" dirty="0"/>
              <a:t>囊胚移植</a:t>
            </a:r>
          </a:p>
        </p:txBody>
      </p:sp>
      <p:sp>
        <p:nvSpPr>
          <p:cNvPr id="50" name="矩形 49">
            <a:extLst>
              <a:ext uri="{FF2B5EF4-FFF2-40B4-BE49-F238E27FC236}">
                <a16:creationId xmlns:a16="http://schemas.microsoft.com/office/drawing/2014/main" id="{CA445D5A-0E15-BC51-05D2-F4B55BD1A2AD}"/>
              </a:ext>
            </a:extLst>
          </p:cNvPr>
          <p:cNvSpPr/>
          <p:nvPr/>
        </p:nvSpPr>
        <p:spPr>
          <a:xfrm>
            <a:off x="6833781" y="2261712"/>
            <a:ext cx="2028565" cy="1614457"/>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F11B1E83-433C-5BE3-EFC1-2347254D912E}"/>
              </a:ext>
            </a:extLst>
          </p:cNvPr>
          <p:cNvSpPr txBox="1"/>
          <p:nvPr/>
        </p:nvSpPr>
        <p:spPr>
          <a:xfrm>
            <a:off x="6886958" y="2661875"/>
            <a:ext cx="1922211" cy="829971"/>
          </a:xfrm>
          <a:prstGeom prst="rect">
            <a:avLst/>
          </a:prstGeom>
          <a:noFill/>
        </p:spPr>
        <p:txBody>
          <a:bodyPr wrap="square">
            <a:spAutoFit/>
          </a:bodyPr>
          <a:lstStyle>
            <a:defPPr>
              <a:defRPr lang="zh-CN"/>
            </a:defPPr>
            <a:lvl1pPr algn="ctr">
              <a:lnSpc>
                <a:spcPct val="125000"/>
              </a:lnSpc>
              <a:defRPr b="1">
                <a:latin typeface="Times New Roman" panose="02020603050405020304" pitchFamily="18" charset="0"/>
                <a:ea typeface="微软雅黑" panose="020B0503020204020204" pitchFamily="34" charset="-122"/>
              </a:defRPr>
            </a:lvl1pPr>
          </a:lstStyle>
          <a:p>
            <a:pPr>
              <a:spcAft>
                <a:spcPts val="600"/>
              </a:spcAft>
            </a:pPr>
            <a:r>
              <a:rPr lang="en-US" altLang="zh-CN" b="0" dirty="0"/>
              <a:t>2</a:t>
            </a:r>
            <a:r>
              <a:rPr lang="zh-CN" altLang="en-US" b="0" dirty="0"/>
              <a:t>名志愿者怀孕</a:t>
            </a:r>
            <a:endParaRPr lang="en-US" altLang="zh-CN" b="0" dirty="0"/>
          </a:p>
          <a:p>
            <a:pPr>
              <a:spcAft>
                <a:spcPts val="600"/>
              </a:spcAft>
            </a:pPr>
            <a:r>
              <a:rPr lang="zh-CN" altLang="en-US" dirty="0"/>
              <a:t>双胞胎女婴出生</a:t>
            </a:r>
          </a:p>
        </p:txBody>
      </p:sp>
      <p:sp>
        <p:nvSpPr>
          <p:cNvPr id="51" name="矩形 50">
            <a:extLst>
              <a:ext uri="{FF2B5EF4-FFF2-40B4-BE49-F238E27FC236}">
                <a16:creationId xmlns:a16="http://schemas.microsoft.com/office/drawing/2014/main" id="{96AAB82B-B6DF-9B92-8589-69C05296327F}"/>
              </a:ext>
            </a:extLst>
          </p:cNvPr>
          <p:cNvSpPr/>
          <p:nvPr/>
        </p:nvSpPr>
        <p:spPr>
          <a:xfrm>
            <a:off x="9347194" y="2209184"/>
            <a:ext cx="2169044" cy="3792718"/>
          </a:xfrm>
          <a:prstGeom prst="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EED0D65-99EB-C14E-E38D-02E1B2A9B65A}"/>
              </a:ext>
            </a:extLst>
          </p:cNvPr>
          <p:cNvSpPr txBox="1"/>
          <p:nvPr/>
        </p:nvSpPr>
        <p:spPr>
          <a:xfrm>
            <a:off x="9442473" y="2450278"/>
            <a:ext cx="1978487" cy="3446072"/>
          </a:xfrm>
          <a:prstGeom prst="rect">
            <a:avLst/>
          </a:prstGeom>
          <a:noFill/>
        </p:spPr>
        <p:txBody>
          <a:bodyPr wrap="square">
            <a:spAutoFit/>
          </a:bodyPr>
          <a:lstStyle>
            <a:defPPr>
              <a:defRPr lang="zh-CN"/>
            </a:defPPr>
            <a:lvl1pPr algn="ctr">
              <a:lnSpc>
                <a:spcPct val="125000"/>
              </a:lnSpc>
              <a:defRPr b="1">
                <a:latin typeface="Times New Roman" panose="02020603050405020304" pitchFamily="18" charset="0"/>
                <a:ea typeface="微软雅黑" panose="020B0503020204020204" pitchFamily="34" charset="-122"/>
              </a:defRPr>
            </a:lvl1pPr>
          </a:lstStyle>
          <a:p>
            <a:pPr>
              <a:spcAft>
                <a:spcPts val="1200"/>
              </a:spcAft>
            </a:pPr>
            <a:r>
              <a:rPr lang="zh-CN" altLang="en-US" b="0" dirty="0"/>
              <a:t>人类胚胎基因编辑安全性报告</a:t>
            </a:r>
            <a:endParaRPr lang="en-US" altLang="zh-CN" b="0" dirty="0"/>
          </a:p>
          <a:p>
            <a:pPr>
              <a:spcAft>
                <a:spcPts val="1200"/>
              </a:spcAft>
            </a:pPr>
            <a:r>
              <a:rPr lang="zh-CN" altLang="en-US" b="0" dirty="0"/>
              <a:t>五个安全性问题</a:t>
            </a:r>
            <a:endParaRPr lang="en-US" altLang="zh-CN" b="0" dirty="0"/>
          </a:p>
          <a:p>
            <a:pPr>
              <a:spcAft>
                <a:spcPts val="1200"/>
              </a:spcAft>
            </a:pPr>
            <a:r>
              <a:rPr lang="zh-CN" altLang="en-US" b="0" dirty="0"/>
              <a:t>“极其不负责任”</a:t>
            </a:r>
            <a:endParaRPr lang="en-US" altLang="zh-CN" b="0" dirty="0"/>
          </a:p>
          <a:p>
            <a:pPr>
              <a:spcAft>
                <a:spcPts val="1200"/>
              </a:spcAft>
            </a:pPr>
            <a:r>
              <a:rPr lang="zh-CN" altLang="en-US" b="0" dirty="0"/>
              <a:t>“知晓风险、</a:t>
            </a:r>
            <a:r>
              <a:rPr lang="en-US" altLang="zh-CN" b="0" dirty="0"/>
              <a:t>      </a:t>
            </a:r>
            <a:r>
              <a:rPr lang="zh-CN" altLang="en-US" b="0" dirty="0"/>
              <a:t>反对人体实验”</a:t>
            </a:r>
            <a:endParaRPr lang="en-US" altLang="zh-CN" b="0" dirty="0"/>
          </a:p>
          <a:p>
            <a:pPr>
              <a:spcAft>
                <a:spcPts val="1200"/>
              </a:spcAft>
            </a:pPr>
            <a:r>
              <a:rPr lang="zh-CN" altLang="en-US" dirty="0"/>
              <a:t>私下实验筹备已在推进</a:t>
            </a:r>
          </a:p>
        </p:txBody>
      </p:sp>
      <p:grpSp>
        <p:nvGrpSpPr>
          <p:cNvPr id="64" name="组合 63">
            <a:extLst>
              <a:ext uri="{FF2B5EF4-FFF2-40B4-BE49-F238E27FC236}">
                <a16:creationId xmlns:a16="http://schemas.microsoft.com/office/drawing/2014/main" id="{DCDDF134-3A13-1628-7BD5-7470A544023C}"/>
              </a:ext>
            </a:extLst>
          </p:cNvPr>
          <p:cNvGrpSpPr/>
          <p:nvPr/>
        </p:nvGrpSpPr>
        <p:grpSpPr>
          <a:xfrm>
            <a:off x="1336510" y="1653436"/>
            <a:ext cx="104328" cy="671880"/>
            <a:chOff x="1336510" y="1653127"/>
            <a:chExt cx="104328" cy="671880"/>
          </a:xfrm>
        </p:grpSpPr>
        <p:cxnSp>
          <p:nvCxnSpPr>
            <p:cNvPr id="58" name="直接连接符 57">
              <a:extLst>
                <a:ext uri="{FF2B5EF4-FFF2-40B4-BE49-F238E27FC236}">
                  <a16:creationId xmlns:a16="http://schemas.microsoft.com/office/drawing/2014/main" id="{BC26540F-F7A0-CB76-2E32-1816EB3859B4}"/>
                </a:ext>
              </a:extLst>
            </p:cNvPr>
            <p:cNvCxnSpPr>
              <a:cxnSpLocks/>
              <a:endCxn id="47" idx="0"/>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3331A7B4-1DA3-ADCF-F9B0-B841694B541A}"/>
                </a:ext>
              </a:extLst>
            </p:cNvPr>
            <p:cNvSpPr/>
            <p:nvPr/>
          </p:nvSpPr>
          <p:spPr>
            <a:xfrm>
              <a:off x="1336510" y="2220679"/>
              <a:ext cx="104328" cy="104328"/>
            </a:xfrm>
            <a:prstGeom prst="ellipse">
              <a:avLst/>
            </a:prstGeom>
            <a:solidFill>
              <a:srgbClr val="C2CB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 name="组合 64">
            <a:extLst>
              <a:ext uri="{FF2B5EF4-FFF2-40B4-BE49-F238E27FC236}">
                <a16:creationId xmlns:a16="http://schemas.microsoft.com/office/drawing/2014/main" id="{52C7817C-42F9-7B9F-C859-CBD9DCA665FE}"/>
              </a:ext>
            </a:extLst>
          </p:cNvPr>
          <p:cNvGrpSpPr/>
          <p:nvPr/>
        </p:nvGrpSpPr>
        <p:grpSpPr>
          <a:xfrm>
            <a:off x="7795899" y="1653436"/>
            <a:ext cx="104328" cy="671880"/>
            <a:chOff x="1336510" y="1653127"/>
            <a:chExt cx="104328" cy="671880"/>
          </a:xfrm>
        </p:grpSpPr>
        <p:cxnSp>
          <p:nvCxnSpPr>
            <p:cNvPr id="66" name="直接连接符 65">
              <a:extLst>
                <a:ext uri="{FF2B5EF4-FFF2-40B4-BE49-F238E27FC236}">
                  <a16:creationId xmlns:a16="http://schemas.microsoft.com/office/drawing/2014/main" id="{AF53F5C7-1891-37C1-27F8-4899507F7060}"/>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椭圆 66">
              <a:extLst>
                <a:ext uri="{FF2B5EF4-FFF2-40B4-BE49-F238E27FC236}">
                  <a16:creationId xmlns:a16="http://schemas.microsoft.com/office/drawing/2014/main" id="{15FD6026-6EAC-621F-B279-3ACB4F09F989}"/>
                </a:ext>
              </a:extLst>
            </p:cNvPr>
            <p:cNvSpPr/>
            <p:nvPr/>
          </p:nvSpPr>
          <p:spPr>
            <a:xfrm>
              <a:off x="1336510" y="2220679"/>
              <a:ext cx="104328" cy="104328"/>
            </a:xfrm>
            <a:prstGeom prst="ellipse">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8" name="组合 67">
            <a:extLst>
              <a:ext uri="{FF2B5EF4-FFF2-40B4-BE49-F238E27FC236}">
                <a16:creationId xmlns:a16="http://schemas.microsoft.com/office/drawing/2014/main" id="{17576DDB-409C-C7C7-A945-705F57379A0F}"/>
              </a:ext>
            </a:extLst>
          </p:cNvPr>
          <p:cNvGrpSpPr/>
          <p:nvPr/>
        </p:nvGrpSpPr>
        <p:grpSpPr>
          <a:xfrm>
            <a:off x="3475771" y="1653436"/>
            <a:ext cx="104328" cy="671880"/>
            <a:chOff x="1336510" y="1653127"/>
            <a:chExt cx="104328" cy="671880"/>
          </a:xfrm>
        </p:grpSpPr>
        <p:cxnSp>
          <p:nvCxnSpPr>
            <p:cNvPr id="69" name="直接连接符 68">
              <a:extLst>
                <a:ext uri="{FF2B5EF4-FFF2-40B4-BE49-F238E27FC236}">
                  <a16:creationId xmlns:a16="http://schemas.microsoft.com/office/drawing/2014/main" id="{82EFCCF6-F542-0378-FBC8-0A4BD3E19A9F}"/>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686044F0-13E4-E44B-3106-1EB522DC6C0A}"/>
                </a:ext>
              </a:extLst>
            </p:cNvPr>
            <p:cNvSpPr/>
            <p:nvPr/>
          </p:nvSpPr>
          <p:spPr>
            <a:xfrm>
              <a:off x="1336510" y="2220679"/>
              <a:ext cx="104328" cy="104328"/>
            </a:xfrm>
            <a:prstGeom prst="ellipse">
              <a:avLst/>
            </a:prstGeom>
            <a:solidFill>
              <a:srgbClr val="8AB1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 name="组合 70">
            <a:extLst>
              <a:ext uri="{FF2B5EF4-FFF2-40B4-BE49-F238E27FC236}">
                <a16:creationId xmlns:a16="http://schemas.microsoft.com/office/drawing/2014/main" id="{4BFD1CD6-46C8-8F81-0956-F1A736A55DBB}"/>
              </a:ext>
            </a:extLst>
          </p:cNvPr>
          <p:cNvGrpSpPr/>
          <p:nvPr/>
        </p:nvGrpSpPr>
        <p:grpSpPr>
          <a:xfrm>
            <a:off x="5582409" y="1653436"/>
            <a:ext cx="104328" cy="671880"/>
            <a:chOff x="1336510" y="1653127"/>
            <a:chExt cx="104328" cy="671880"/>
          </a:xfrm>
          <a:solidFill>
            <a:srgbClr val="6691C0"/>
          </a:solidFill>
        </p:grpSpPr>
        <p:cxnSp>
          <p:nvCxnSpPr>
            <p:cNvPr id="72" name="直接连接符 71">
              <a:extLst>
                <a:ext uri="{FF2B5EF4-FFF2-40B4-BE49-F238E27FC236}">
                  <a16:creationId xmlns:a16="http://schemas.microsoft.com/office/drawing/2014/main" id="{F4738ECA-D207-67CE-C8A8-60D788237CEA}"/>
                </a:ext>
              </a:extLst>
            </p:cNvPr>
            <p:cNvCxnSpPr>
              <a:cxnSpLocks/>
            </p:cNvCxnSpPr>
            <p:nvPr/>
          </p:nvCxnSpPr>
          <p:spPr>
            <a:xfrm>
              <a:off x="1388675" y="1653127"/>
              <a:ext cx="0" cy="585985"/>
            </a:xfrm>
            <a:prstGeom prst="line">
              <a:avLst/>
            </a:prstGeom>
            <a:grp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椭圆 72">
              <a:extLst>
                <a:ext uri="{FF2B5EF4-FFF2-40B4-BE49-F238E27FC236}">
                  <a16:creationId xmlns:a16="http://schemas.microsoft.com/office/drawing/2014/main" id="{C59FB944-D489-9B9C-D967-6E55A1C96909}"/>
                </a:ext>
              </a:extLst>
            </p:cNvPr>
            <p:cNvSpPr/>
            <p:nvPr/>
          </p:nvSpPr>
          <p:spPr>
            <a:xfrm>
              <a:off x="1336510" y="2220679"/>
              <a:ext cx="104328" cy="104328"/>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a:extLst>
              <a:ext uri="{FF2B5EF4-FFF2-40B4-BE49-F238E27FC236}">
                <a16:creationId xmlns:a16="http://schemas.microsoft.com/office/drawing/2014/main" id="{7B3CC7AA-2617-AF0C-2BEF-673DA92025B7}"/>
              </a:ext>
            </a:extLst>
          </p:cNvPr>
          <p:cNvGrpSpPr/>
          <p:nvPr/>
        </p:nvGrpSpPr>
        <p:grpSpPr>
          <a:xfrm>
            <a:off x="10379552" y="1653436"/>
            <a:ext cx="104328" cy="671880"/>
            <a:chOff x="1336510" y="1653127"/>
            <a:chExt cx="104328" cy="671880"/>
          </a:xfrm>
        </p:grpSpPr>
        <p:cxnSp>
          <p:nvCxnSpPr>
            <p:cNvPr id="75" name="直接连接符 74">
              <a:extLst>
                <a:ext uri="{FF2B5EF4-FFF2-40B4-BE49-F238E27FC236}">
                  <a16:creationId xmlns:a16="http://schemas.microsoft.com/office/drawing/2014/main" id="{80F02047-4706-6352-59B2-0BCBBDDDAF16}"/>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13A8352D-2497-C570-CEB3-5BC60B87AC43}"/>
                </a:ext>
              </a:extLst>
            </p:cNvPr>
            <p:cNvSpPr/>
            <p:nvPr/>
          </p:nvSpPr>
          <p:spPr>
            <a:xfrm>
              <a:off x="1336510" y="2220679"/>
              <a:ext cx="104328" cy="104328"/>
            </a:xfrm>
            <a:prstGeom prst="ellipse">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77" name="文本框 76">
            <a:extLst>
              <a:ext uri="{FF2B5EF4-FFF2-40B4-BE49-F238E27FC236}">
                <a16:creationId xmlns:a16="http://schemas.microsoft.com/office/drawing/2014/main" id="{A5BBEDF8-8E1B-0DE5-7DB1-5FFFBBB9C655}"/>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78" name="文本框 77">
            <a:extLst>
              <a:ext uri="{FF2B5EF4-FFF2-40B4-BE49-F238E27FC236}">
                <a16:creationId xmlns:a16="http://schemas.microsoft.com/office/drawing/2014/main" id="{A18B3A0B-15AC-9012-6D90-92C153CF5E29}"/>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79" name="文本框 78">
            <a:extLst>
              <a:ext uri="{FF2B5EF4-FFF2-40B4-BE49-F238E27FC236}">
                <a16:creationId xmlns:a16="http://schemas.microsoft.com/office/drawing/2014/main" id="{81692435-C49C-8E1B-23D3-5DA98A0D9731}"/>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Tree>
    <p:extLst>
      <p:ext uri="{BB962C8B-B14F-4D97-AF65-F5344CB8AC3E}">
        <p14:creationId xmlns:p14="http://schemas.microsoft.com/office/powerpoint/2010/main" val="3313005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A99C3-FB03-71E4-042E-D17836E0D6D9}"/>
            </a:ext>
          </a:extLst>
        </p:cNvPr>
        <p:cNvGrpSpPr/>
        <p:nvPr/>
      </p:nvGrpSpPr>
      <p:grpSpPr>
        <a:xfrm>
          <a:off x="0" y="0"/>
          <a:ext cx="0" cy="0"/>
          <a:chOff x="0" y="0"/>
          <a:chExt cx="0" cy="0"/>
        </a:xfrm>
      </p:grpSpPr>
      <p:sp>
        <p:nvSpPr>
          <p:cNvPr id="35" name="矩形: 圆角 34">
            <a:extLst>
              <a:ext uri="{FF2B5EF4-FFF2-40B4-BE49-F238E27FC236}">
                <a16:creationId xmlns:a16="http://schemas.microsoft.com/office/drawing/2014/main" id="{5BA53313-6F37-ABCA-F3C3-234F5946C4B7}"/>
              </a:ext>
            </a:extLst>
          </p:cNvPr>
          <p:cNvSpPr/>
          <p:nvPr/>
        </p:nvSpPr>
        <p:spPr>
          <a:xfrm>
            <a:off x="1586397" y="3411725"/>
            <a:ext cx="6354765" cy="3230043"/>
          </a:xfrm>
          <a:prstGeom prst="roundRect">
            <a:avLst>
              <a:gd name="adj" fmla="val 10967"/>
            </a:avLst>
          </a:prstGeom>
          <a:solidFill>
            <a:schemeClr val="bg1"/>
          </a:solidFill>
          <a:ln w="28575">
            <a:solidFill>
              <a:srgbClr val="8AB1CE"/>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CFA2E46D-B880-7363-3985-F88F84C20819}"/>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06B1A781-8803-3EF6-4412-A269C7DC0CC4}"/>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C9E89740-DC39-11A1-5A3A-A855BE64A6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pic>
        <p:nvPicPr>
          <p:cNvPr id="2" name="图片 1" descr="IMG_256">
            <a:extLst>
              <a:ext uri="{FF2B5EF4-FFF2-40B4-BE49-F238E27FC236}">
                <a16:creationId xmlns:a16="http://schemas.microsoft.com/office/drawing/2014/main" id="{66ECDA4F-C6A0-B6AE-D6C9-E7DE8E9EDC46}"/>
              </a:ext>
            </a:extLst>
          </p:cNvPr>
          <p:cNvPicPr>
            <a:picLocks noChangeAspect="1"/>
          </p:cNvPicPr>
          <p:nvPr/>
        </p:nvPicPr>
        <p:blipFill>
          <a:blip r:embed="rId5"/>
          <a:stretch>
            <a:fillRect/>
          </a:stretch>
        </p:blipFill>
        <p:spPr>
          <a:xfrm>
            <a:off x="8717542" y="1004471"/>
            <a:ext cx="2784796" cy="1918370"/>
          </a:xfrm>
          <a:prstGeom prst="rect">
            <a:avLst/>
          </a:prstGeom>
          <a:noFill/>
          <a:ln w="9525">
            <a:noFill/>
          </a:ln>
          <a:effectLst>
            <a:outerShdw blurRad="50800" dist="38100" dir="2700000" algn="tl" rotWithShape="0">
              <a:prstClr val="black">
                <a:alpha val="40000"/>
              </a:prstClr>
            </a:outerShdw>
          </a:effectLst>
        </p:spPr>
      </p:pic>
      <p:sp>
        <p:nvSpPr>
          <p:cNvPr id="3" name="文本框 2">
            <a:extLst>
              <a:ext uri="{FF2B5EF4-FFF2-40B4-BE49-F238E27FC236}">
                <a16:creationId xmlns:a16="http://schemas.microsoft.com/office/drawing/2014/main" id="{D94E4403-1A95-5363-CE05-3B770C6256BF}"/>
              </a:ext>
            </a:extLst>
          </p:cNvPr>
          <p:cNvSpPr txBox="1"/>
          <p:nvPr/>
        </p:nvSpPr>
        <p:spPr>
          <a:xfrm>
            <a:off x="8759546" y="2945406"/>
            <a:ext cx="2700789" cy="357790"/>
          </a:xfrm>
          <a:prstGeom prst="rect">
            <a:avLst/>
          </a:prstGeom>
          <a:noFill/>
        </p:spPr>
        <p:txBody>
          <a:bodyPr wrap="square">
            <a:spAutoFit/>
          </a:bodyPr>
          <a:lstStyle>
            <a:defPPr>
              <a:defRPr lang="zh-CN"/>
            </a:defPPr>
            <a:lvl1pPr algn="ctr">
              <a:lnSpc>
                <a:spcPct val="125000"/>
              </a:lnSpc>
              <a:defRPr sz="1600">
                <a:latin typeface="仿宋" panose="02010609060101010101" pitchFamily="49" charset="-122"/>
                <a:ea typeface="仿宋" panose="02010609060101010101" pitchFamily="49" charset="-122"/>
              </a:defRPr>
            </a:lvl1pPr>
          </a:lstStyle>
          <a:p>
            <a:r>
              <a:rPr lang="zh-CN" altLang="en-US" dirty="0"/>
              <a:t>图 贺建奎接受美联社采访</a:t>
            </a:r>
          </a:p>
        </p:txBody>
      </p:sp>
      <p:sp>
        <p:nvSpPr>
          <p:cNvPr id="8" name="矩形 7">
            <a:extLst>
              <a:ext uri="{FF2B5EF4-FFF2-40B4-BE49-F238E27FC236}">
                <a16:creationId xmlns:a16="http://schemas.microsoft.com/office/drawing/2014/main" id="{C2B09D5A-CCEB-A439-C4C7-7D5447CAA9ED}"/>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5DE5B49-FC5F-0190-E42A-EA519A94F04B}"/>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事件曝光</a:t>
            </a:r>
          </a:p>
        </p:txBody>
      </p:sp>
      <p:cxnSp>
        <p:nvCxnSpPr>
          <p:cNvPr id="14" name="直接连接符 13">
            <a:extLst>
              <a:ext uri="{FF2B5EF4-FFF2-40B4-BE49-F238E27FC236}">
                <a16:creationId xmlns:a16="http://schemas.microsoft.com/office/drawing/2014/main" id="{651532E2-9A2A-8ECD-37D3-D182CEC019AA}"/>
              </a:ext>
            </a:extLst>
          </p:cNvPr>
          <p:cNvCxnSpPr>
            <a:cxnSpLocks/>
          </p:cNvCxnSpPr>
          <p:nvPr/>
        </p:nvCxnSpPr>
        <p:spPr>
          <a:xfrm>
            <a:off x="963267" y="1484678"/>
            <a:ext cx="0" cy="5118186"/>
          </a:xfrm>
          <a:prstGeom prst="line">
            <a:avLst/>
          </a:prstGeom>
          <a:ln w="19050">
            <a:solidFill>
              <a:srgbClr val="C2CBDF"/>
            </a:solidFill>
          </a:ln>
        </p:spPr>
        <p:style>
          <a:lnRef idx="1">
            <a:schemeClr val="accent1"/>
          </a:lnRef>
          <a:fillRef idx="0">
            <a:schemeClr val="accent1"/>
          </a:fillRef>
          <a:effectRef idx="0">
            <a:schemeClr val="accent1"/>
          </a:effectRef>
          <a:fontRef idx="minor">
            <a:schemeClr val="tx1"/>
          </a:fontRef>
        </p:style>
      </p:cxnSp>
      <p:sp>
        <p:nvSpPr>
          <p:cNvPr id="17" name="矩形: 圆角 16">
            <a:extLst>
              <a:ext uri="{FF2B5EF4-FFF2-40B4-BE49-F238E27FC236}">
                <a16:creationId xmlns:a16="http://schemas.microsoft.com/office/drawing/2014/main" id="{22EA7DBD-DE2A-59AE-8756-DD1AF6AB9F69}"/>
              </a:ext>
            </a:extLst>
          </p:cNvPr>
          <p:cNvSpPr/>
          <p:nvPr/>
        </p:nvSpPr>
        <p:spPr>
          <a:xfrm>
            <a:off x="369289" y="1065603"/>
            <a:ext cx="1187956" cy="589640"/>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2018</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年</a:t>
            </a:r>
          </a:p>
        </p:txBody>
      </p:sp>
      <p:sp>
        <p:nvSpPr>
          <p:cNvPr id="32" name="矩形: 圆角 31">
            <a:extLst>
              <a:ext uri="{FF2B5EF4-FFF2-40B4-BE49-F238E27FC236}">
                <a16:creationId xmlns:a16="http://schemas.microsoft.com/office/drawing/2014/main" id="{B85E21FF-80F5-14BB-DC16-4CDE4046AFC1}"/>
              </a:ext>
            </a:extLst>
          </p:cNvPr>
          <p:cNvSpPr/>
          <p:nvPr/>
        </p:nvSpPr>
        <p:spPr>
          <a:xfrm>
            <a:off x="1586397" y="1717466"/>
            <a:ext cx="6354765" cy="1272381"/>
          </a:xfrm>
          <a:prstGeom prst="roundRect">
            <a:avLst/>
          </a:prstGeom>
          <a:solidFill>
            <a:schemeClr val="bg1"/>
          </a:solidFill>
          <a:ln w="28575">
            <a:solidFill>
              <a:srgbClr val="C2CBDF"/>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0CDCB4B4-1E22-DF4A-2B08-8FF4DE305F79}"/>
              </a:ext>
            </a:extLst>
          </p:cNvPr>
          <p:cNvSpPr txBox="1"/>
          <p:nvPr/>
        </p:nvSpPr>
        <p:spPr>
          <a:xfrm>
            <a:off x="1753114" y="1840695"/>
            <a:ext cx="6144071" cy="1025922"/>
          </a:xfrm>
          <a:prstGeom prst="rect">
            <a:avLst/>
          </a:prstGeom>
          <a:noFill/>
        </p:spPr>
        <p:txBody>
          <a:bodyPr wrap="square">
            <a:spAutoFit/>
          </a:bodyPr>
          <a:lstStyle>
            <a:defPPr>
              <a:defRPr lang="zh-CN"/>
            </a:defPPr>
            <a:lvl1pPr>
              <a:lnSpc>
                <a:spcPct val="125000"/>
              </a:lnSpc>
              <a:defRPr>
                <a:latin typeface="Times New Roman" panose="02020603050405020304" pitchFamily="18" charset="0"/>
                <a:ea typeface="微软雅黑" panose="020B0503020204020204" pitchFamily="34" charset="-122"/>
              </a:defRPr>
            </a:lvl1pPr>
          </a:lstStyle>
          <a:p>
            <a:r>
              <a:rPr lang="zh-CN" altLang="en-US" b="1" dirty="0"/>
              <a:t>贺建奎团队发布视频 </a:t>
            </a:r>
            <a:r>
              <a:rPr lang="en-US" altLang="zh-CN" b="1" dirty="0"/>
              <a:t>+ </a:t>
            </a:r>
            <a:r>
              <a:rPr lang="zh-CN" altLang="en-US" b="1" dirty="0"/>
              <a:t>美联社独家专访</a:t>
            </a:r>
            <a:endParaRPr lang="en-US" altLang="zh-CN" b="1" dirty="0"/>
          </a:p>
          <a:p>
            <a:pPr marL="285750" indent="-285750">
              <a:buFont typeface="Wingdings" panose="05000000000000000000" pitchFamily="2" charset="2"/>
              <a:buChar char="p"/>
            </a:pPr>
            <a:r>
              <a:rPr lang="zh-CN" altLang="en-US" sz="1600" dirty="0"/>
              <a:t>“我感到有强烈的责任，不仅是做第一个，还要成为一个范例”</a:t>
            </a:r>
            <a:endParaRPr lang="en-US" altLang="zh-CN" sz="1600" dirty="0"/>
          </a:p>
          <a:p>
            <a:pPr marL="285750" indent="-285750">
              <a:buFont typeface="Wingdings" panose="05000000000000000000" pitchFamily="2" charset="2"/>
              <a:buChar char="p"/>
            </a:pPr>
            <a:r>
              <a:rPr lang="zh-CN" altLang="en-US" sz="1600" dirty="0"/>
              <a:t>“社会将决定接下来怎么做”</a:t>
            </a:r>
          </a:p>
        </p:txBody>
      </p:sp>
      <p:sp>
        <p:nvSpPr>
          <p:cNvPr id="28" name="文本框 27">
            <a:extLst>
              <a:ext uri="{FF2B5EF4-FFF2-40B4-BE49-F238E27FC236}">
                <a16:creationId xmlns:a16="http://schemas.microsoft.com/office/drawing/2014/main" id="{63344452-5589-2AC5-E657-CA275E68F394}"/>
              </a:ext>
            </a:extLst>
          </p:cNvPr>
          <p:cNvSpPr txBox="1"/>
          <p:nvPr/>
        </p:nvSpPr>
        <p:spPr>
          <a:xfrm>
            <a:off x="1753114" y="3534543"/>
            <a:ext cx="6144069" cy="2984407"/>
          </a:xfrm>
          <a:prstGeom prst="rect">
            <a:avLst/>
          </a:prstGeom>
          <a:noFill/>
        </p:spPr>
        <p:txBody>
          <a:bodyPr wrap="square">
            <a:spAutoFit/>
          </a:bodyPr>
          <a:lstStyle>
            <a:defPPr>
              <a:defRPr lang="zh-CN"/>
            </a:defPPr>
            <a:lvl1pPr>
              <a:lnSpc>
                <a:spcPct val="125000"/>
              </a:lnSpc>
              <a:defRPr>
                <a:latin typeface="Times New Roman" panose="02020603050405020304" pitchFamily="18" charset="0"/>
                <a:ea typeface="微软雅黑" panose="020B0503020204020204" pitchFamily="34" charset="-122"/>
              </a:defRPr>
            </a:lvl1pPr>
          </a:lstStyle>
          <a:p>
            <a:r>
              <a:rPr lang="zh-CN" altLang="en-US" b="1" dirty="0"/>
              <a:t>人民网深圳频道首发报道</a:t>
            </a:r>
            <a:endParaRPr lang="en-US" altLang="zh-CN" b="1" dirty="0"/>
          </a:p>
          <a:p>
            <a:pPr marL="285750" indent="-285750">
              <a:spcAft>
                <a:spcPts val="1200"/>
              </a:spcAft>
              <a:buFont typeface="Wingdings" panose="05000000000000000000" pitchFamily="2" charset="2"/>
              <a:buChar char="p"/>
            </a:pPr>
            <a:r>
              <a:rPr lang="zh-CN" altLang="en-US" sz="1700" dirty="0"/>
              <a:t>初期呈现正面态度</a:t>
            </a:r>
          </a:p>
          <a:p>
            <a:r>
              <a:rPr lang="en-US" altLang="zh-CN" b="1" dirty="0"/>
              <a:t>122</a:t>
            </a:r>
            <a:r>
              <a:rPr lang="zh-CN" altLang="en-US" b="1" dirty="0"/>
              <a:t>位中国科学家联名谴责 </a:t>
            </a:r>
            <a:endParaRPr lang="en-US" altLang="zh-CN" b="1" dirty="0"/>
          </a:p>
          <a:p>
            <a:pPr marL="285750" indent="-285750">
              <a:buFont typeface="Wingdings" panose="05000000000000000000" pitchFamily="2" charset="2"/>
              <a:buChar char="p"/>
            </a:pPr>
            <a:r>
              <a:rPr lang="zh-CN" altLang="en-US" sz="1700" dirty="0"/>
              <a:t>“生物医学伦理审查形同虚设”</a:t>
            </a:r>
            <a:endParaRPr lang="en-US" altLang="zh-CN" sz="1700" dirty="0"/>
          </a:p>
          <a:p>
            <a:pPr marL="285750" indent="-285750">
              <a:buFont typeface="Wingdings" panose="05000000000000000000" pitchFamily="2" charset="2"/>
              <a:buChar char="p"/>
            </a:pPr>
            <a:r>
              <a:rPr lang="zh-CN" altLang="en-US" sz="1700" dirty="0"/>
              <a:t>“只能用疯狂形容”</a:t>
            </a:r>
            <a:endParaRPr lang="en-US" altLang="zh-CN" sz="1700" dirty="0"/>
          </a:p>
          <a:p>
            <a:pPr marL="285750" indent="-285750">
              <a:buFont typeface="Wingdings" panose="05000000000000000000" pitchFamily="2" charset="2"/>
              <a:buChar char="p"/>
            </a:pPr>
            <a:r>
              <a:rPr lang="zh-CN" altLang="en-US" sz="1700" dirty="0"/>
              <a:t>王立铭：“这项技术打开的到底是潘多拉魔盒，还是阿拉丁的神灯？在今天这个注定要永载史册的日子，我请你和我一起好好思考。”</a:t>
            </a:r>
          </a:p>
        </p:txBody>
      </p:sp>
      <p:grpSp>
        <p:nvGrpSpPr>
          <p:cNvPr id="40" name="组合 39">
            <a:extLst>
              <a:ext uri="{FF2B5EF4-FFF2-40B4-BE49-F238E27FC236}">
                <a16:creationId xmlns:a16="http://schemas.microsoft.com/office/drawing/2014/main" id="{B90BCB2D-D677-2B46-0638-B75500B69025}"/>
              </a:ext>
            </a:extLst>
          </p:cNvPr>
          <p:cNvGrpSpPr/>
          <p:nvPr/>
        </p:nvGrpSpPr>
        <p:grpSpPr>
          <a:xfrm>
            <a:off x="290995" y="1928989"/>
            <a:ext cx="1400749" cy="518182"/>
            <a:chOff x="70063" y="1928989"/>
            <a:chExt cx="1400749" cy="518182"/>
          </a:xfrm>
        </p:grpSpPr>
        <p:sp>
          <p:nvSpPr>
            <p:cNvPr id="44" name="文本框 43">
              <a:extLst>
                <a:ext uri="{FF2B5EF4-FFF2-40B4-BE49-F238E27FC236}">
                  <a16:creationId xmlns:a16="http://schemas.microsoft.com/office/drawing/2014/main" id="{B7D3547B-8DFA-70B6-A66B-02CB808AD80A}"/>
                </a:ext>
              </a:extLst>
            </p:cNvPr>
            <p:cNvSpPr txBox="1"/>
            <p:nvPr/>
          </p:nvSpPr>
          <p:spPr>
            <a:xfrm>
              <a:off x="70063" y="1928989"/>
              <a:ext cx="1400749" cy="406778"/>
            </a:xfrm>
            <a:prstGeom prst="rect">
              <a:avLst/>
            </a:prstGeom>
            <a:noFill/>
          </p:spPr>
          <p:txBody>
            <a:bodyPr wrap="square">
              <a:spAutoFit/>
            </a:bodyPr>
            <a:lstStyle/>
            <a:p>
              <a:pPr algn="ctr">
                <a:lnSpc>
                  <a:spcPct val="125000"/>
                </a:lnSpc>
              </a:pPr>
              <a:r>
                <a:rPr lang="en-US" altLang="zh-CN" dirty="0">
                  <a:latin typeface="Times New Roman" panose="02020603050405020304" pitchFamily="18" charset="0"/>
                  <a:ea typeface="微软雅黑" panose="020B0503020204020204" pitchFamily="34" charset="-122"/>
                </a:rPr>
                <a:t>11</a:t>
              </a:r>
              <a:r>
                <a:rPr lang="zh-CN" altLang="en-US" dirty="0">
                  <a:latin typeface="Times New Roman" panose="02020603050405020304" pitchFamily="18" charset="0"/>
                  <a:ea typeface="微软雅黑" panose="020B0503020204020204" pitchFamily="34" charset="-122"/>
                </a:rPr>
                <a:t>月</a:t>
              </a:r>
              <a:r>
                <a:rPr lang="en-US" altLang="zh-CN" dirty="0">
                  <a:latin typeface="Times New Roman" panose="02020603050405020304" pitchFamily="18" charset="0"/>
                  <a:ea typeface="微软雅黑" panose="020B0503020204020204" pitchFamily="34" charset="-122"/>
                </a:rPr>
                <a:t>25</a:t>
              </a:r>
              <a:r>
                <a:rPr lang="zh-CN" altLang="en-US" dirty="0">
                  <a:latin typeface="Times New Roman" panose="02020603050405020304" pitchFamily="18" charset="0"/>
                  <a:ea typeface="微软雅黑" panose="020B0503020204020204" pitchFamily="34" charset="-122"/>
                </a:rPr>
                <a:t>日</a:t>
              </a:r>
            </a:p>
          </p:txBody>
        </p:sp>
        <p:grpSp>
          <p:nvGrpSpPr>
            <p:cNvPr id="29" name="组合 28">
              <a:extLst>
                <a:ext uri="{FF2B5EF4-FFF2-40B4-BE49-F238E27FC236}">
                  <a16:creationId xmlns:a16="http://schemas.microsoft.com/office/drawing/2014/main" id="{8233136E-D6FD-0D94-64DA-A55E43AF4D9B}"/>
                </a:ext>
              </a:extLst>
            </p:cNvPr>
            <p:cNvGrpSpPr/>
            <p:nvPr/>
          </p:nvGrpSpPr>
          <p:grpSpPr>
            <a:xfrm rot="5400000" flipH="1">
              <a:off x="977360" y="2059067"/>
              <a:ext cx="104328" cy="671880"/>
              <a:chOff x="1336510" y="1653127"/>
              <a:chExt cx="104328" cy="671880"/>
            </a:xfrm>
          </p:grpSpPr>
          <p:cxnSp>
            <p:nvCxnSpPr>
              <p:cNvPr id="30" name="直接连接符 29">
                <a:extLst>
                  <a:ext uri="{FF2B5EF4-FFF2-40B4-BE49-F238E27FC236}">
                    <a16:creationId xmlns:a16="http://schemas.microsoft.com/office/drawing/2014/main" id="{18ED1F5A-F381-5BBC-4016-8CB1C1D41C1B}"/>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5850CC13-25BF-D026-CA58-F819ED41D868}"/>
                  </a:ext>
                </a:extLst>
              </p:cNvPr>
              <p:cNvSpPr/>
              <p:nvPr/>
            </p:nvSpPr>
            <p:spPr>
              <a:xfrm>
                <a:off x="1336510" y="2220679"/>
                <a:ext cx="104328" cy="104328"/>
              </a:xfrm>
              <a:prstGeom prst="ellipse">
                <a:avLst/>
              </a:prstGeom>
              <a:solidFill>
                <a:srgbClr val="C2CB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9" name="组合 38">
            <a:extLst>
              <a:ext uri="{FF2B5EF4-FFF2-40B4-BE49-F238E27FC236}">
                <a16:creationId xmlns:a16="http://schemas.microsoft.com/office/drawing/2014/main" id="{26964401-6F60-0084-7A58-63953D5954F6}"/>
              </a:ext>
            </a:extLst>
          </p:cNvPr>
          <p:cNvGrpSpPr/>
          <p:nvPr/>
        </p:nvGrpSpPr>
        <p:grpSpPr>
          <a:xfrm>
            <a:off x="441784" y="4765425"/>
            <a:ext cx="1309719" cy="522642"/>
            <a:chOff x="220852" y="4170619"/>
            <a:chExt cx="1309719" cy="522642"/>
          </a:xfrm>
        </p:grpSpPr>
        <p:sp>
          <p:nvSpPr>
            <p:cNvPr id="4" name="文本框 3">
              <a:extLst>
                <a:ext uri="{FF2B5EF4-FFF2-40B4-BE49-F238E27FC236}">
                  <a16:creationId xmlns:a16="http://schemas.microsoft.com/office/drawing/2014/main" id="{1E68005D-5806-CCEE-F87D-7D5E0932E9AB}"/>
                </a:ext>
              </a:extLst>
            </p:cNvPr>
            <p:cNvSpPr txBox="1"/>
            <p:nvPr/>
          </p:nvSpPr>
          <p:spPr>
            <a:xfrm>
              <a:off x="220852" y="4170619"/>
              <a:ext cx="1309719" cy="406778"/>
            </a:xfrm>
            <a:prstGeom prst="rect">
              <a:avLst/>
            </a:prstGeom>
            <a:noFill/>
          </p:spPr>
          <p:txBody>
            <a:bodyPr wrap="square">
              <a:spAutoFit/>
            </a:bodyPr>
            <a:lstStyle/>
            <a:p>
              <a:pPr>
                <a:lnSpc>
                  <a:spcPct val="125000"/>
                </a:lnSpc>
              </a:pPr>
              <a:r>
                <a:rPr lang="en-US" altLang="zh-CN" dirty="0">
                  <a:latin typeface="Times New Roman" panose="02020603050405020304" pitchFamily="18" charset="0"/>
                  <a:ea typeface="微软雅黑" panose="020B0503020204020204" pitchFamily="34" charset="-122"/>
                </a:rPr>
                <a:t>11</a:t>
              </a:r>
              <a:r>
                <a:rPr lang="zh-CN" altLang="en-US" dirty="0">
                  <a:latin typeface="Times New Roman" panose="02020603050405020304" pitchFamily="18" charset="0"/>
                  <a:ea typeface="微软雅黑" panose="020B0503020204020204" pitchFamily="34" charset="-122"/>
                </a:rPr>
                <a:t>月</a:t>
              </a:r>
              <a:r>
                <a:rPr lang="en-US" altLang="zh-CN" dirty="0">
                  <a:latin typeface="Times New Roman" panose="02020603050405020304" pitchFamily="18" charset="0"/>
                  <a:ea typeface="微软雅黑" panose="020B0503020204020204" pitchFamily="34" charset="-122"/>
                </a:rPr>
                <a:t>26</a:t>
              </a:r>
              <a:r>
                <a:rPr lang="zh-CN" altLang="en-US" dirty="0">
                  <a:latin typeface="Times New Roman" panose="02020603050405020304" pitchFamily="18" charset="0"/>
                  <a:ea typeface="微软雅黑" panose="020B0503020204020204" pitchFamily="34" charset="-122"/>
                </a:rPr>
                <a:t>日</a:t>
              </a:r>
            </a:p>
          </p:txBody>
        </p:sp>
        <p:grpSp>
          <p:nvGrpSpPr>
            <p:cNvPr id="36" name="组合 35">
              <a:extLst>
                <a:ext uri="{FF2B5EF4-FFF2-40B4-BE49-F238E27FC236}">
                  <a16:creationId xmlns:a16="http://schemas.microsoft.com/office/drawing/2014/main" id="{B75C8307-296A-F5CB-938C-DC0125BE1D4A}"/>
                </a:ext>
              </a:extLst>
            </p:cNvPr>
            <p:cNvGrpSpPr/>
            <p:nvPr/>
          </p:nvGrpSpPr>
          <p:grpSpPr>
            <a:xfrm rot="5400000">
              <a:off x="977360" y="4305157"/>
              <a:ext cx="104328" cy="671880"/>
              <a:chOff x="1336510" y="1653127"/>
              <a:chExt cx="104328" cy="671880"/>
            </a:xfrm>
          </p:grpSpPr>
          <p:cxnSp>
            <p:nvCxnSpPr>
              <p:cNvPr id="37" name="直接连接符 36">
                <a:extLst>
                  <a:ext uri="{FF2B5EF4-FFF2-40B4-BE49-F238E27FC236}">
                    <a16:creationId xmlns:a16="http://schemas.microsoft.com/office/drawing/2014/main" id="{0D8F6AA4-C071-6AFE-9B33-4624AEC9D3C8}"/>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5D452860-67BA-F4DC-5541-E3AF23F76324}"/>
                  </a:ext>
                </a:extLst>
              </p:cNvPr>
              <p:cNvSpPr/>
              <p:nvPr/>
            </p:nvSpPr>
            <p:spPr>
              <a:xfrm>
                <a:off x="1336510" y="2220679"/>
                <a:ext cx="104328" cy="104328"/>
              </a:xfrm>
              <a:prstGeom prst="ellipse">
                <a:avLst/>
              </a:prstGeom>
              <a:solidFill>
                <a:srgbClr val="8AB1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60" name="组合 59">
            <a:extLst>
              <a:ext uri="{FF2B5EF4-FFF2-40B4-BE49-F238E27FC236}">
                <a16:creationId xmlns:a16="http://schemas.microsoft.com/office/drawing/2014/main" id="{0D82D6FF-4851-0A15-58F9-81D12C1656AC}"/>
              </a:ext>
            </a:extLst>
          </p:cNvPr>
          <p:cNvGrpSpPr/>
          <p:nvPr/>
        </p:nvGrpSpPr>
        <p:grpSpPr>
          <a:xfrm>
            <a:off x="8162496" y="3472580"/>
            <a:ext cx="4029504" cy="3108332"/>
            <a:chOff x="8162496" y="3523175"/>
            <a:chExt cx="4029504" cy="3108332"/>
          </a:xfrm>
        </p:grpSpPr>
        <p:sp>
          <p:nvSpPr>
            <p:cNvPr id="6" name="文本框 5">
              <a:extLst>
                <a:ext uri="{FF2B5EF4-FFF2-40B4-BE49-F238E27FC236}">
                  <a16:creationId xmlns:a16="http://schemas.microsoft.com/office/drawing/2014/main" id="{8938D780-918E-4721-0E8E-ED2DA7F84BAC}"/>
                </a:ext>
              </a:extLst>
            </p:cNvPr>
            <p:cNvSpPr txBox="1"/>
            <p:nvPr/>
          </p:nvSpPr>
          <p:spPr>
            <a:xfrm>
              <a:off x="9438501" y="6273717"/>
              <a:ext cx="2753499" cy="357790"/>
            </a:xfrm>
            <a:prstGeom prst="rect">
              <a:avLst/>
            </a:prstGeom>
            <a:noFill/>
          </p:spPr>
          <p:txBody>
            <a:bodyPr wrap="square">
              <a:spAutoFit/>
            </a:bodyPr>
            <a:lstStyle>
              <a:defPPr>
                <a:defRPr lang="zh-CN"/>
              </a:defPPr>
              <a:lvl1pPr algn="ctr">
                <a:lnSpc>
                  <a:spcPct val="125000"/>
                </a:lnSpc>
                <a:defRPr sz="1600">
                  <a:latin typeface="仿宋" panose="02010609060101010101" pitchFamily="49" charset="-122"/>
                  <a:ea typeface="仿宋" panose="02010609060101010101" pitchFamily="49" charset="-122"/>
                </a:defRPr>
              </a:lvl1pPr>
            </a:lstStyle>
            <a:p>
              <a:r>
                <a:rPr lang="zh-CN" altLang="en-US" dirty="0"/>
                <a:t>图 </a:t>
              </a:r>
              <a:r>
                <a:rPr lang="en-US" altLang="zh-CN" dirty="0"/>
                <a:t>122</a:t>
              </a:r>
              <a:r>
                <a:rPr lang="zh-CN" altLang="en-US" dirty="0"/>
                <a:t>位科学家发联合声明</a:t>
              </a:r>
            </a:p>
          </p:txBody>
        </p:sp>
        <p:grpSp>
          <p:nvGrpSpPr>
            <p:cNvPr id="57" name="组合 56">
              <a:extLst>
                <a:ext uri="{FF2B5EF4-FFF2-40B4-BE49-F238E27FC236}">
                  <a16:creationId xmlns:a16="http://schemas.microsoft.com/office/drawing/2014/main" id="{BC0C0799-3B64-F95D-EA86-64C06525609D}"/>
                </a:ext>
              </a:extLst>
            </p:cNvPr>
            <p:cNvGrpSpPr/>
            <p:nvPr/>
          </p:nvGrpSpPr>
          <p:grpSpPr>
            <a:xfrm>
              <a:off x="8162496" y="3523175"/>
              <a:ext cx="3873639" cy="3025476"/>
              <a:chOff x="7945612" y="3616292"/>
              <a:chExt cx="3873639" cy="3025476"/>
            </a:xfrm>
          </p:grpSpPr>
          <p:pic>
            <p:nvPicPr>
              <p:cNvPr id="5" name="图片 4">
                <a:extLst>
                  <a:ext uri="{FF2B5EF4-FFF2-40B4-BE49-F238E27FC236}">
                    <a16:creationId xmlns:a16="http://schemas.microsoft.com/office/drawing/2014/main" id="{525D1C33-73D2-8955-2123-8D8E90B64850}"/>
                  </a:ext>
                </a:extLst>
              </p:cNvPr>
              <p:cNvPicPr>
                <a:picLocks noChangeAspect="1"/>
              </p:cNvPicPr>
              <p:nvPr/>
            </p:nvPicPr>
            <p:blipFill>
              <a:blip r:embed="rId6"/>
              <a:srcRect l="11139" r="15048"/>
              <a:stretch>
                <a:fillRect/>
              </a:stretch>
            </p:blipFill>
            <p:spPr>
              <a:xfrm>
                <a:off x="7945612" y="3616292"/>
                <a:ext cx="1234542" cy="3025476"/>
              </a:xfrm>
              <a:prstGeom prst="rect">
                <a:avLst/>
              </a:prstGeom>
              <a:noFill/>
              <a:ln>
                <a:solidFill>
                  <a:schemeClr val="tx1"/>
                </a:solidFill>
              </a:ln>
            </p:spPr>
          </p:pic>
          <p:pic>
            <p:nvPicPr>
              <p:cNvPr id="41" name="图片 40">
                <a:extLst>
                  <a:ext uri="{FF2B5EF4-FFF2-40B4-BE49-F238E27FC236}">
                    <a16:creationId xmlns:a16="http://schemas.microsoft.com/office/drawing/2014/main" id="{54792B1D-AF57-38B0-0A1C-DD25211E88ED}"/>
                  </a:ext>
                </a:extLst>
              </p:cNvPr>
              <p:cNvPicPr>
                <a:picLocks noChangeAspect="1"/>
              </p:cNvPicPr>
              <p:nvPr/>
            </p:nvPicPr>
            <p:blipFill>
              <a:blip r:embed="rId6"/>
              <a:srcRect l="12250" t="87235" r="16326"/>
              <a:stretch>
                <a:fillRect/>
              </a:stretch>
            </p:blipFill>
            <p:spPr>
              <a:xfrm>
                <a:off x="9221617" y="4558585"/>
                <a:ext cx="2597634" cy="936322"/>
              </a:xfrm>
              <a:prstGeom prst="rect">
                <a:avLst/>
              </a:prstGeom>
              <a:noFill/>
              <a:ln>
                <a:solidFill>
                  <a:schemeClr val="tx1"/>
                </a:solidFill>
              </a:ln>
            </p:spPr>
          </p:pic>
          <p:cxnSp>
            <p:nvCxnSpPr>
              <p:cNvPr id="43" name="直接连接符 42">
                <a:extLst>
                  <a:ext uri="{FF2B5EF4-FFF2-40B4-BE49-F238E27FC236}">
                    <a16:creationId xmlns:a16="http://schemas.microsoft.com/office/drawing/2014/main" id="{49191680-7BFB-51C0-B9F2-A19111B37F12}"/>
                  </a:ext>
                </a:extLst>
              </p:cNvPr>
              <p:cNvCxnSpPr>
                <a:cxnSpLocks/>
              </p:cNvCxnSpPr>
              <p:nvPr/>
            </p:nvCxnSpPr>
            <p:spPr>
              <a:xfrm flipH="1">
                <a:off x="8743972" y="4558585"/>
                <a:ext cx="477645" cy="17194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59823C4-A0DD-5ABE-CEAB-FE762C98E6CA}"/>
                  </a:ext>
                </a:extLst>
              </p:cNvPr>
              <p:cNvCxnSpPr>
                <a:cxnSpLocks/>
              </p:cNvCxnSpPr>
              <p:nvPr/>
            </p:nvCxnSpPr>
            <p:spPr>
              <a:xfrm flipH="1">
                <a:off x="8982794" y="5492634"/>
                <a:ext cx="2836457" cy="10530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1" name="文本框 60">
            <a:extLst>
              <a:ext uri="{FF2B5EF4-FFF2-40B4-BE49-F238E27FC236}">
                <a16:creationId xmlns:a16="http://schemas.microsoft.com/office/drawing/2014/main" id="{5D9CADD7-7778-582E-C275-F40ABC24B871}"/>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62" name="文本框 61">
            <a:extLst>
              <a:ext uri="{FF2B5EF4-FFF2-40B4-BE49-F238E27FC236}">
                <a16:creationId xmlns:a16="http://schemas.microsoft.com/office/drawing/2014/main" id="{64B508D1-6315-DD57-ABDB-7BBDA2F36595}"/>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63" name="文本框 62">
            <a:extLst>
              <a:ext uri="{FF2B5EF4-FFF2-40B4-BE49-F238E27FC236}">
                <a16:creationId xmlns:a16="http://schemas.microsoft.com/office/drawing/2014/main" id="{7AB194B5-4CB5-7B77-E0A3-91FC0AC449DC}"/>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Tree>
    <p:extLst>
      <p:ext uri="{BB962C8B-B14F-4D97-AF65-F5344CB8AC3E}">
        <p14:creationId xmlns:p14="http://schemas.microsoft.com/office/powerpoint/2010/main" val="287039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6FA3-5E1D-D39E-FCE2-F6942D58B618}"/>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403FD169-6DEB-8F5A-FBB3-5AFA40D14642}"/>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2F06C4B0-25DB-D5EE-6937-1E4114DBEF51}"/>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A2805E9C-A7E1-A4C9-6D5C-966F75DB82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grpSp>
        <p:nvGrpSpPr>
          <p:cNvPr id="39" name="组合 38">
            <a:extLst>
              <a:ext uri="{FF2B5EF4-FFF2-40B4-BE49-F238E27FC236}">
                <a16:creationId xmlns:a16="http://schemas.microsoft.com/office/drawing/2014/main" id="{BA088CB0-4E4F-4922-9727-15A4267A7269}"/>
              </a:ext>
            </a:extLst>
          </p:cNvPr>
          <p:cNvGrpSpPr/>
          <p:nvPr/>
        </p:nvGrpSpPr>
        <p:grpSpPr>
          <a:xfrm>
            <a:off x="1580836" y="3497611"/>
            <a:ext cx="6354765" cy="1603853"/>
            <a:chOff x="1580836" y="3375757"/>
            <a:chExt cx="6354765" cy="1603853"/>
          </a:xfrm>
        </p:grpSpPr>
        <p:sp>
          <p:nvSpPr>
            <p:cNvPr id="36" name="矩形: 圆角 35">
              <a:extLst>
                <a:ext uri="{FF2B5EF4-FFF2-40B4-BE49-F238E27FC236}">
                  <a16:creationId xmlns:a16="http://schemas.microsoft.com/office/drawing/2014/main" id="{F1645E7C-99F7-8891-889A-CBF96FAA724C}"/>
                </a:ext>
              </a:extLst>
            </p:cNvPr>
            <p:cNvSpPr/>
            <p:nvPr/>
          </p:nvSpPr>
          <p:spPr>
            <a:xfrm>
              <a:off x="1580836" y="3375757"/>
              <a:ext cx="6354765" cy="1603853"/>
            </a:xfrm>
            <a:prstGeom prst="roundRect">
              <a:avLst/>
            </a:prstGeom>
            <a:solidFill>
              <a:schemeClr val="bg1"/>
            </a:solidFill>
            <a:ln w="28575">
              <a:solidFill>
                <a:srgbClr val="6691C0"/>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BBB99BAA-E82B-7F9C-1BEC-C8BC6F8FFA92}"/>
                </a:ext>
              </a:extLst>
            </p:cNvPr>
            <p:cNvSpPr txBox="1"/>
            <p:nvPr/>
          </p:nvSpPr>
          <p:spPr>
            <a:xfrm>
              <a:off x="1777317" y="3454921"/>
              <a:ext cx="6097022" cy="1445524"/>
            </a:xfrm>
            <a:prstGeom prst="rect">
              <a:avLst/>
            </a:prstGeom>
            <a:noFill/>
          </p:spPr>
          <p:txBody>
            <a:bodyPr wrap="square">
              <a:spAutoFit/>
            </a:bodyPr>
            <a:lstStyle/>
            <a:p>
              <a:pPr>
                <a:lnSpc>
                  <a:spcPct val="125000"/>
                </a:lnSpc>
              </a:pPr>
              <a:r>
                <a:rPr lang="zh-CN" altLang="en-US" b="1" dirty="0">
                  <a:latin typeface="Times New Roman" panose="02020603050405020304" pitchFamily="18" charset="0"/>
                  <a:ea typeface="微软雅黑" panose="020B0503020204020204" pitchFamily="34" charset="-122"/>
                </a:rPr>
                <a:t>科技部副部长徐南平回应</a:t>
              </a:r>
              <a:endParaRPr lang="en-US" altLang="zh-CN" b="1"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援引</a:t>
              </a:r>
              <a:r>
                <a:rPr lang="en-US" altLang="zh-CN" dirty="0">
                  <a:latin typeface="Times New Roman" panose="02020603050405020304" pitchFamily="18" charset="0"/>
                  <a:ea typeface="微软雅黑" panose="020B0503020204020204" pitchFamily="34" charset="-122"/>
                </a:rPr>
                <a:t>2003</a:t>
              </a:r>
              <a:r>
                <a:rPr lang="zh-CN" altLang="en-US" dirty="0">
                  <a:latin typeface="Times New Roman" panose="02020603050405020304" pitchFamily="18" charset="0"/>
                  <a:ea typeface="微软雅黑" panose="020B0503020204020204" pitchFamily="34" charset="-122"/>
                </a:rPr>
                <a:t>年</a:t>
              </a:r>
              <a:r>
                <a:rPr lang="en-US" altLang="zh-CN" dirty="0">
                  <a:latin typeface="Times New Roman" panose="02020603050405020304" pitchFamily="18" charset="0"/>
                  <a:ea typeface="微软雅黑" panose="020B0503020204020204" pitchFamily="34" charset="-122"/>
                </a:rPr>
                <a:t>《</a:t>
              </a:r>
              <a:r>
                <a:rPr lang="zh-CN" altLang="en-US" dirty="0">
                  <a:latin typeface="Times New Roman" panose="02020603050405020304" pitchFamily="18" charset="0"/>
                  <a:ea typeface="微软雅黑" panose="020B0503020204020204" pitchFamily="34" charset="-122"/>
                </a:rPr>
                <a:t>人胚胎干细胞研究伦理指导原则</a:t>
              </a:r>
              <a:r>
                <a:rPr lang="en-US" altLang="zh-CN" dirty="0">
                  <a:latin typeface="Times New Roman" panose="02020603050405020304" pitchFamily="18" charset="0"/>
                  <a:ea typeface="微软雅黑" panose="020B0503020204020204" pitchFamily="34" charset="-122"/>
                </a:rPr>
                <a:t>》</a:t>
              </a:r>
            </a:p>
            <a:p>
              <a:pPr marL="285750" indent="-285750">
                <a:lnSpc>
                  <a:spcPct val="125000"/>
                </a:lnSpc>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“公然违反了我国的相关法规条例，也公然突破了学术界坚守的道德伦理的底线。”</a:t>
              </a:r>
            </a:p>
          </p:txBody>
        </p:sp>
      </p:grpSp>
      <p:sp>
        <p:nvSpPr>
          <p:cNvPr id="3" name="文本框 2">
            <a:extLst>
              <a:ext uri="{FF2B5EF4-FFF2-40B4-BE49-F238E27FC236}">
                <a16:creationId xmlns:a16="http://schemas.microsoft.com/office/drawing/2014/main" id="{22AEC8B7-1DB7-AF2B-B2FA-12E2372E8CDA}"/>
              </a:ext>
            </a:extLst>
          </p:cNvPr>
          <p:cNvSpPr txBox="1"/>
          <p:nvPr/>
        </p:nvSpPr>
        <p:spPr>
          <a:xfrm>
            <a:off x="8818973" y="5848964"/>
            <a:ext cx="2460761" cy="665567"/>
          </a:xfrm>
          <a:prstGeom prst="rect">
            <a:avLst/>
          </a:prstGeom>
          <a:noFill/>
        </p:spPr>
        <p:txBody>
          <a:bodyPr wrap="square">
            <a:spAutoFit/>
          </a:bodyPr>
          <a:lstStyle>
            <a:defPPr>
              <a:defRPr lang="zh-CN"/>
            </a:defPPr>
            <a:lvl1pPr algn="ctr">
              <a:lnSpc>
                <a:spcPct val="125000"/>
              </a:lnSpc>
              <a:defRPr sz="1600">
                <a:latin typeface="仿宋" panose="02010609060101010101" pitchFamily="49" charset="-122"/>
                <a:ea typeface="仿宋" panose="02010609060101010101" pitchFamily="49" charset="-122"/>
              </a:defRPr>
            </a:lvl1pPr>
          </a:lstStyle>
          <a:p>
            <a:r>
              <a:rPr lang="zh-CN" altLang="en-US" dirty="0"/>
              <a:t>图 贺建奎在香港第二届国际人类基因组编辑峰会</a:t>
            </a:r>
          </a:p>
        </p:txBody>
      </p:sp>
      <p:grpSp>
        <p:nvGrpSpPr>
          <p:cNvPr id="38" name="组合 37">
            <a:extLst>
              <a:ext uri="{FF2B5EF4-FFF2-40B4-BE49-F238E27FC236}">
                <a16:creationId xmlns:a16="http://schemas.microsoft.com/office/drawing/2014/main" id="{FC109121-CE1F-E5EC-1539-9CBE57EB95AF}"/>
              </a:ext>
            </a:extLst>
          </p:cNvPr>
          <p:cNvGrpSpPr/>
          <p:nvPr/>
        </p:nvGrpSpPr>
        <p:grpSpPr>
          <a:xfrm>
            <a:off x="1586578" y="5419980"/>
            <a:ext cx="6354765" cy="1066795"/>
            <a:chOff x="1586578" y="5419980"/>
            <a:chExt cx="6354765" cy="1066795"/>
          </a:xfrm>
        </p:grpSpPr>
        <p:sp>
          <p:nvSpPr>
            <p:cNvPr id="37" name="矩形: 圆角 36">
              <a:extLst>
                <a:ext uri="{FF2B5EF4-FFF2-40B4-BE49-F238E27FC236}">
                  <a16:creationId xmlns:a16="http://schemas.microsoft.com/office/drawing/2014/main" id="{DAF9FB79-B4AE-8A22-8AAC-EF6303A73DB5}"/>
                </a:ext>
              </a:extLst>
            </p:cNvPr>
            <p:cNvSpPr/>
            <p:nvPr/>
          </p:nvSpPr>
          <p:spPr>
            <a:xfrm>
              <a:off x="1586578" y="5419980"/>
              <a:ext cx="6354765" cy="1066795"/>
            </a:xfrm>
            <a:prstGeom prst="roundRect">
              <a:avLst/>
            </a:prstGeom>
            <a:solidFill>
              <a:schemeClr val="bg1"/>
            </a:solidFill>
            <a:ln w="28575">
              <a:solidFill>
                <a:srgbClr val="0F349D"/>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39D0B657-EEDE-43B6-08ED-4954568A36A5}"/>
                </a:ext>
              </a:extLst>
            </p:cNvPr>
            <p:cNvSpPr txBox="1"/>
            <p:nvPr/>
          </p:nvSpPr>
          <p:spPr>
            <a:xfrm>
              <a:off x="1777317" y="5576864"/>
              <a:ext cx="6097022" cy="753027"/>
            </a:xfrm>
            <a:prstGeom prst="rect">
              <a:avLst/>
            </a:prstGeom>
            <a:noFill/>
          </p:spPr>
          <p:txBody>
            <a:bodyPr wrap="square">
              <a:spAutoFit/>
            </a:bodyPr>
            <a:lstStyle/>
            <a:p>
              <a:pPr>
                <a:lnSpc>
                  <a:spcPct val="125000"/>
                </a:lnSpc>
              </a:pPr>
              <a:r>
                <a:rPr lang="zh-CN" altLang="en-US" b="1" dirty="0">
                  <a:latin typeface="Times New Roman" panose="02020603050405020304" pitchFamily="18" charset="0"/>
                  <a:ea typeface="微软雅黑" panose="020B0503020204020204" pitchFamily="34" charset="-122"/>
                </a:rPr>
                <a:t>贺建奎在香港第二届国际人类基因组编辑峰会上现身</a:t>
              </a:r>
              <a:endParaRPr lang="en-US" altLang="zh-CN" b="1"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为“结果被意外泄露”道歉，但坚持为自己的工作辩护</a:t>
              </a:r>
            </a:p>
          </p:txBody>
        </p:sp>
      </p:grpSp>
      <p:pic>
        <p:nvPicPr>
          <p:cNvPr id="8" name="图片 7" descr="IMG_256">
            <a:extLst>
              <a:ext uri="{FF2B5EF4-FFF2-40B4-BE49-F238E27FC236}">
                <a16:creationId xmlns:a16="http://schemas.microsoft.com/office/drawing/2014/main" id="{261371E3-B216-217D-83BC-6F798FC95EAC}"/>
              </a:ext>
            </a:extLst>
          </p:cNvPr>
          <p:cNvPicPr>
            <a:picLocks noChangeAspect="1"/>
          </p:cNvPicPr>
          <p:nvPr/>
        </p:nvPicPr>
        <p:blipFill>
          <a:blip r:embed="rId5"/>
          <a:stretch>
            <a:fillRect/>
          </a:stretch>
        </p:blipFill>
        <p:spPr>
          <a:xfrm>
            <a:off x="8318801" y="1406456"/>
            <a:ext cx="3461105" cy="4299285"/>
          </a:xfrm>
          <a:prstGeom prst="rect">
            <a:avLst/>
          </a:prstGeom>
          <a:noFill/>
          <a:ln w="9525">
            <a:noFill/>
          </a:ln>
          <a:effectLst>
            <a:outerShdw blurRad="50800" dist="38100" dir="2700000" algn="tl" rotWithShape="0">
              <a:prstClr val="black">
                <a:alpha val="40000"/>
              </a:prstClr>
            </a:outerShdw>
          </a:effectLst>
        </p:spPr>
      </p:pic>
      <p:sp>
        <p:nvSpPr>
          <p:cNvPr id="9" name="矩形 8">
            <a:extLst>
              <a:ext uri="{FF2B5EF4-FFF2-40B4-BE49-F238E27FC236}">
                <a16:creationId xmlns:a16="http://schemas.microsoft.com/office/drawing/2014/main" id="{D80210AA-31FC-05AB-70E9-4A71C376E40C}"/>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9A8FAF8D-4740-6A74-720D-40591E6F6766}"/>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事件曝光</a:t>
            </a:r>
          </a:p>
        </p:txBody>
      </p:sp>
      <p:cxnSp>
        <p:nvCxnSpPr>
          <p:cNvPr id="14" name="直接连接符 13">
            <a:extLst>
              <a:ext uri="{FF2B5EF4-FFF2-40B4-BE49-F238E27FC236}">
                <a16:creationId xmlns:a16="http://schemas.microsoft.com/office/drawing/2014/main" id="{C1B996CF-69FD-4511-E26F-401E6FC136E4}"/>
              </a:ext>
            </a:extLst>
          </p:cNvPr>
          <p:cNvCxnSpPr>
            <a:cxnSpLocks/>
          </p:cNvCxnSpPr>
          <p:nvPr/>
        </p:nvCxnSpPr>
        <p:spPr>
          <a:xfrm>
            <a:off x="963267" y="1484678"/>
            <a:ext cx="0" cy="5118186"/>
          </a:xfrm>
          <a:prstGeom prst="line">
            <a:avLst/>
          </a:prstGeom>
          <a:ln w="19050">
            <a:solidFill>
              <a:srgbClr val="C2CBDF"/>
            </a:solidFill>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4DBB419A-5BA4-9FE2-A573-7268856704F0}"/>
              </a:ext>
            </a:extLst>
          </p:cNvPr>
          <p:cNvSpPr/>
          <p:nvPr/>
        </p:nvSpPr>
        <p:spPr>
          <a:xfrm>
            <a:off x="369289" y="1065603"/>
            <a:ext cx="1187956" cy="589640"/>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2018</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年</a:t>
            </a:r>
          </a:p>
        </p:txBody>
      </p:sp>
      <p:grpSp>
        <p:nvGrpSpPr>
          <p:cNvPr id="16" name="组合 15">
            <a:extLst>
              <a:ext uri="{FF2B5EF4-FFF2-40B4-BE49-F238E27FC236}">
                <a16:creationId xmlns:a16="http://schemas.microsoft.com/office/drawing/2014/main" id="{45E6034F-1D10-A910-66D5-BC6C26B1AAC7}"/>
              </a:ext>
            </a:extLst>
          </p:cNvPr>
          <p:cNvGrpSpPr/>
          <p:nvPr/>
        </p:nvGrpSpPr>
        <p:grpSpPr>
          <a:xfrm>
            <a:off x="290995" y="1928989"/>
            <a:ext cx="1400749" cy="518182"/>
            <a:chOff x="70063" y="1928989"/>
            <a:chExt cx="1400749" cy="518182"/>
          </a:xfrm>
        </p:grpSpPr>
        <p:sp>
          <p:nvSpPr>
            <p:cNvPr id="17" name="文本框 16">
              <a:extLst>
                <a:ext uri="{FF2B5EF4-FFF2-40B4-BE49-F238E27FC236}">
                  <a16:creationId xmlns:a16="http://schemas.microsoft.com/office/drawing/2014/main" id="{340D8CED-0E28-1169-0FFB-D52E5219F130}"/>
                </a:ext>
              </a:extLst>
            </p:cNvPr>
            <p:cNvSpPr txBox="1"/>
            <p:nvPr/>
          </p:nvSpPr>
          <p:spPr>
            <a:xfrm>
              <a:off x="70063" y="1928989"/>
              <a:ext cx="1400749" cy="406778"/>
            </a:xfrm>
            <a:prstGeom prst="rect">
              <a:avLst/>
            </a:prstGeom>
            <a:noFill/>
          </p:spPr>
          <p:txBody>
            <a:bodyPr wrap="square">
              <a:spAutoFit/>
            </a:bodyPr>
            <a:lstStyle/>
            <a:p>
              <a:pPr algn="ctr">
                <a:lnSpc>
                  <a:spcPct val="125000"/>
                </a:lnSpc>
              </a:pPr>
              <a:r>
                <a:rPr lang="en-US" altLang="zh-CN" dirty="0">
                  <a:latin typeface="Times New Roman" panose="02020603050405020304" pitchFamily="18" charset="0"/>
                  <a:ea typeface="微软雅黑" panose="020B0503020204020204" pitchFamily="34" charset="-122"/>
                </a:rPr>
                <a:t>11</a:t>
              </a:r>
              <a:r>
                <a:rPr lang="zh-CN" altLang="en-US" dirty="0">
                  <a:latin typeface="Times New Roman" panose="02020603050405020304" pitchFamily="18" charset="0"/>
                  <a:ea typeface="微软雅黑" panose="020B0503020204020204" pitchFamily="34" charset="-122"/>
                </a:rPr>
                <a:t>月？日</a:t>
              </a:r>
            </a:p>
          </p:txBody>
        </p:sp>
        <p:grpSp>
          <p:nvGrpSpPr>
            <p:cNvPr id="18" name="组合 17">
              <a:extLst>
                <a:ext uri="{FF2B5EF4-FFF2-40B4-BE49-F238E27FC236}">
                  <a16:creationId xmlns:a16="http://schemas.microsoft.com/office/drawing/2014/main" id="{AB356200-3ABB-9415-FEA8-715EC77BE6CB}"/>
                </a:ext>
              </a:extLst>
            </p:cNvPr>
            <p:cNvGrpSpPr/>
            <p:nvPr/>
          </p:nvGrpSpPr>
          <p:grpSpPr>
            <a:xfrm rot="5400000" flipH="1">
              <a:off x="977360" y="2059067"/>
              <a:ext cx="104328" cy="671880"/>
              <a:chOff x="1336510" y="1653127"/>
              <a:chExt cx="104328" cy="671880"/>
            </a:xfrm>
          </p:grpSpPr>
          <p:cxnSp>
            <p:nvCxnSpPr>
              <p:cNvPr id="19" name="直接连接符 18">
                <a:extLst>
                  <a:ext uri="{FF2B5EF4-FFF2-40B4-BE49-F238E27FC236}">
                    <a16:creationId xmlns:a16="http://schemas.microsoft.com/office/drawing/2014/main" id="{DB3A669B-E540-5295-B9E8-F60118504199}"/>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B816FE89-087A-10ED-841B-51B95CD78B4E}"/>
                  </a:ext>
                </a:extLst>
              </p:cNvPr>
              <p:cNvSpPr/>
              <p:nvPr/>
            </p:nvSpPr>
            <p:spPr>
              <a:xfrm>
                <a:off x="1336510" y="2220679"/>
                <a:ext cx="104328" cy="104328"/>
              </a:xfrm>
              <a:prstGeom prst="ellipse">
                <a:avLst/>
              </a:prstGeom>
              <a:solidFill>
                <a:srgbClr val="8AB1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1" name="组合 20">
            <a:extLst>
              <a:ext uri="{FF2B5EF4-FFF2-40B4-BE49-F238E27FC236}">
                <a16:creationId xmlns:a16="http://schemas.microsoft.com/office/drawing/2014/main" id="{46620763-71E5-1CD0-79AF-E20F952C592F}"/>
              </a:ext>
            </a:extLst>
          </p:cNvPr>
          <p:cNvGrpSpPr/>
          <p:nvPr/>
        </p:nvGrpSpPr>
        <p:grpSpPr>
          <a:xfrm>
            <a:off x="441784" y="3857163"/>
            <a:ext cx="1309719" cy="522642"/>
            <a:chOff x="220852" y="4170619"/>
            <a:chExt cx="1309719" cy="522642"/>
          </a:xfrm>
        </p:grpSpPr>
        <p:sp>
          <p:nvSpPr>
            <p:cNvPr id="22" name="文本框 21">
              <a:extLst>
                <a:ext uri="{FF2B5EF4-FFF2-40B4-BE49-F238E27FC236}">
                  <a16:creationId xmlns:a16="http://schemas.microsoft.com/office/drawing/2014/main" id="{99A55BB2-92BE-33FE-3C1D-9D8C89210C32}"/>
                </a:ext>
              </a:extLst>
            </p:cNvPr>
            <p:cNvSpPr txBox="1"/>
            <p:nvPr/>
          </p:nvSpPr>
          <p:spPr>
            <a:xfrm>
              <a:off x="220852" y="4170619"/>
              <a:ext cx="1309719" cy="406778"/>
            </a:xfrm>
            <a:prstGeom prst="rect">
              <a:avLst/>
            </a:prstGeom>
            <a:noFill/>
          </p:spPr>
          <p:txBody>
            <a:bodyPr wrap="square">
              <a:spAutoFit/>
            </a:bodyPr>
            <a:lstStyle/>
            <a:p>
              <a:pPr>
                <a:lnSpc>
                  <a:spcPct val="125000"/>
                </a:lnSpc>
              </a:pPr>
              <a:r>
                <a:rPr lang="en-US" altLang="zh-CN" dirty="0">
                  <a:latin typeface="Times New Roman" panose="02020603050405020304" pitchFamily="18" charset="0"/>
                  <a:ea typeface="微软雅黑" panose="020B0503020204020204" pitchFamily="34" charset="-122"/>
                </a:rPr>
                <a:t>11</a:t>
              </a:r>
              <a:r>
                <a:rPr lang="zh-CN" altLang="en-US" dirty="0">
                  <a:latin typeface="Times New Roman" panose="02020603050405020304" pitchFamily="18" charset="0"/>
                  <a:ea typeface="微软雅黑" panose="020B0503020204020204" pitchFamily="34" charset="-122"/>
                </a:rPr>
                <a:t>月</a:t>
              </a:r>
              <a:r>
                <a:rPr lang="en-US" altLang="zh-CN" dirty="0">
                  <a:latin typeface="Times New Roman" panose="02020603050405020304" pitchFamily="18" charset="0"/>
                  <a:ea typeface="微软雅黑" panose="020B0503020204020204" pitchFamily="34" charset="-122"/>
                </a:rPr>
                <a:t>27</a:t>
              </a:r>
              <a:r>
                <a:rPr lang="zh-CN" altLang="en-US" dirty="0">
                  <a:latin typeface="Times New Roman" panose="02020603050405020304" pitchFamily="18" charset="0"/>
                  <a:ea typeface="微软雅黑" panose="020B0503020204020204" pitchFamily="34" charset="-122"/>
                </a:rPr>
                <a:t>日</a:t>
              </a:r>
            </a:p>
          </p:txBody>
        </p:sp>
        <p:grpSp>
          <p:nvGrpSpPr>
            <p:cNvPr id="23" name="组合 22">
              <a:extLst>
                <a:ext uri="{FF2B5EF4-FFF2-40B4-BE49-F238E27FC236}">
                  <a16:creationId xmlns:a16="http://schemas.microsoft.com/office/drawing/2014/main" id="{480D22FD-B2A7-3CC2-0ECD-5C463226E396}"/>
                </a:ext>
              </a:extLst>
            </p:cNvPr>
            <p:cNvGrpSpPr/>
            <p:nvPr/>
          </p:nvGrpSpPr>
          <p:grpSpPr>
            <a:xfrm rot="5400000">
              <a:off x="977360" y="4305157"/>
              <a:ext cx="104328" cy="671880"/>
              <a:chOff x="1336510" y="1653127"/>
              <a:chExt cx="104328" cy="671880"/>
            </a:xfrm>
          </p:grpSpPr>
          <p:cxnSp>
            <p:nvCxnSpPr>
              <p:cNvPr id="24" name="直接连接符 23">
                <a:extLst>
                  <a:ext uri="{FF2B5EF4-FFF2-40B4-BE49-F238E27FC236}">
                    <a16:creationId xmlns:a16="http://schemas.microsoft.com/office/drawing/2014/main" id="{FE642F57-167C-D83A-01A3-3E5D5F53CD5D}"/>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225E5280-F5B3-831B-BDA9-2287D21F09DB}"/>
                  </a:ext>
                </a:extLst>
              </p:cNvPr>
              <p:cNvSpPr/>
              <p:nvPr/>
            </p:nvSpPr>
            <p:spPr>
              <a:xfrm>
                <a:off x="1336510" y="2220679"/>
                <a:ext cx="104328" cy="104328"/>
              </a:xfrm>
              <a:prstGeom prst="ellipse">
                <a:avLst/>
              </a:prstGeom>
              <a:solidFill>
                <a:srgbClr val="6691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40" name="组合 39">
            <a:extLst>
              <a:ext uri="{FF2B5EF4-FFF2-40B4-BE49-F238E27FC236}">
                <a16:creationId xmlns:a16="http://schemas.microsoft.com/office/drawing/2014/main" id="{64262ACA-5E18-FDC6-1D76-1D9434A2F931}"/>
              </a:ext>
            </a:extLst>
          </p:cNvPr>
          <p:cNvGrpSpPr/>
          <p:nvPr/>
        </p:nvGrpSpPr>
        <p:grpSpPr>
          <a:xfrm>
            <a:off x="1586397" y="1575242"/>
            <a:ext cx="6354765" cy="1603853"/>
            <a:chOff x="1586397" y="1575242"/>
            <a:chExt cx="6354765" cy="1603853"/>
          </a:xfrm>
        </p:grpSpPr>
        <p:sp>
          <p:nvSpPr>
            <p:cNvPr id="27" name="矩形: 圆角 26">
              <a:extLst>
                <a:ext uri="{FF2B5EF4-FFF2-40B4-BE49-F238E27FC236}">
                  <a16:creationId xmlns:a16="http://schemas.microsoft.com/office/drawing/2014/main" id="{D4869373-E31B-9E58-DEB2-98AE212898CD}"/>
                </a:ext>
              </a:extLst>
            </p:cNvPr>
            <p:cNvSpPr/>
            <p:nvPr/>
          </p:nvSpPr>
          <p:spPr>
            <a:xfrm>
              <a:off x="1586397" y="1575242"/>
              <a:ext cx="6354765" cy="1603853"/>
            </a:xfrm>
            <a:prstGeom prst="roundRect">
              <a:avLst/>
            </a:prstGeom>
            <a:solidFill>
              <a:schemeClr val="bg1"/>
            </a:solidFill>
            <a:ln w="28575">
              <a:solidFill>
                <a:srgbClr val="8AB1CE"/>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FBC6E144-A991-AD63-6C4F-6D7E0E1FB3C4}"/>
                </a:ext>
              </a:extLst>
            </p:cNvPr>
            <p:cNvSpPr txBox="1"/>
            <p:nvPr/>
          </p:nvSpPr>
          <p:spPr>
            <a:xfrm>
              <a:off x="1777317" y="1652611"/>
              <a:ext cx="6103158" cy="1449115"/>
            </a:xfrm>
            <a:prstGeom prst="rect">
              <a:avLst/>
            </a:prstGeom>
            <a:noFill/>
          </p:spPr>
          <p:txBody>
            <a:bodyPr wrap="square">
              <a:spAutoFit/>
            </a:bodyPr>
            <a:lstStyle/>
            <a:p>
              <a:pPr>
                <a:lnSpc>
                  <a:spcPct val="125000"/>
                </a:lnSpc>
              </a:pPr>
              <a:r>
                <a:rPr lang="zh-CN" altLang="en-US" b="1" dirty="0">
                  <a:latin typeface="Times New Roman" panose="02020603050405020304" pitchFamily="18" charset="0"/>
                  <a:ea typeface="微软雅黑" panose="020B0503020204020204" pitchFamily="34" charset="-122"/>
                </a:rPr>
                <a:t>南方科技大学</a:t>
              </a:r>
              <a:endParaRPr lang="en-US" altLang="zh-CN" b="1" dirty="0">
                <a:latin typeface="Times New Roman" panose="02020603050405020304" pitchFamily="18" charset="0"/>
                <a:ea typeface="微软雅黑" panose="020B0503020204020204" pitchFamily="34" charset="-122"/>
              </a:endParaRPr>
            </a:p>
            <a:p>
              <a:pPr marL="285750" indent="-285750">
                <a:lnSpc>
                  <a:spcPct val="125000"/>
                </a:lnSpc>
                <a:spcAft>
                  <a:spcPts val="600"/>
                </a:spcAft>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声明贺建奎已于</a:t>
              </a:r>
              <a:r>
                <a:rPr lang="en-US" altLang="zh-CN" sz="1600" dirty="0">
                  <a:latin typeface="Times New Roman" panose="02020603050405020304" pitchFamily="18" charset="0"/>
                  <a:ea typeface="微软雅黑" panose="020B0503020204020204" pitchFamily="34" charset="-122"/>
                </a:rPr>
                <a:t>2018</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2</a:t>
              </a:r>
              <a:r>
                <a:rPr lang="zh-CN" altLang="en-US" sz="1600" dirty="0">
                  <a:latin typeface="Times New Roman" panose="02020603050405020304" pitchFamily="18" charset="0"/>
                  <a:ea typeface="微软雅黑" panose="020B0503020204020204" pitchFamily="34" charset="-122"/>
                </a:rPr>
                <a:t>月停薪留职，学校对其实验</a:t>
              </a:r>
              <a:r>
                <a:rPr lang="zh-CN" altLang="en-US" sz="1600" b="1" dirty="0">
                  <a:latin typeface="Times New Roman" panose="02020603050405020304" pitchFamily="18" charset="0"/>
                  <a:ea typeface="微软雅黑" panose="020B0503020204020204" pitchFamily="34" charset="-122"/>
                </a:rPr>
                <a:t>不知情</a:t>
              </a:r>
              <a:endParaRPr lang="zh-CN" altLang="en-US" sz="1600" dirty="0">
                <a:latin typeface="Times New Roman" panose="02020603050405020304" pitchFamily="18" charset="0"/>
                <a:ea typeface="微软雅黑" panose="020B0503020204020204" pitchFamily="34" charset="-122"/>
              </a:endParaRPr>
            </a:p>
            <a:p>
              <a:pPr>
                <a:lnSpc>
                  <a:spcPct val="125000"/>
                </a:lnSpc>
              </a:pPr>
              <a:r>
                <a:rPr lang="zh-CN" altLang="en-US" b="1" dirty="0">
                  <a:latin typeface="Times New Roman" panose="02020603050405020304" pitchFamily="18" charset="0"/>
                  <a:ea typeface="微软雅黑" panose="020B0503020204020204" pitchFamily="34" charset="-122"/>
                </a:rPr>
                <a:t>广东省卫健委、国家卫健委</a:t>
              </a:r>
              <a:endParaRPr lang="en-US" altLang="zh-CN" b="1"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先后宣布</a:t>
              </a:r>
              <a:r>
                <a:rPr lang="zh-CN" altLang="en-US" sz="1600" b="1" dirty="0">
                  <a:latin typeface="Times New Roman" panose="02020603050405020304" pitchFamily="18" charset="0"/>
                  <a:ea typeface="微软雅黑" panose="020B0503020204020204" pitchFamily="34" charset="-122"/>
                </a:rPr>
                <a:t>介入调查</a:t>
              </a:r>
              <a:endParaRPr lang="zh-CN" altLang="en-US" sz="1600" dirty="0">
                <a:latin typeface="Times New Roman" panose="02020603050405020304" pitchFamily="18" charset="0"/>
                <a:ea typeface="微软雅黑" panose="020B0503020204020204" pitchFamily="34" charset="-122"/>
              </a:endParaRPr>
            </a:p>
          </p:txBody>
        </p:sp>
      </p:grpSp>
      <p:grpSp>
        <p:nvGrpSpPr>
          <p:cNvPr id="30" name="组合 29">
            <a:extLst>
              <a:ext uri="{FF2B5EF4-FFF2-40B4-BE49-F238E27FC236}">
                <a16:creationId xmlns:a16="http://schemas.microsoft.com/office/drawing/2014/main" id="{F06A842D-0C19-E051-7182-6C9B667691A6}"/>
              </a:ext>
            </a:extLst>
          </p:cNvPr>
          <p:cNvGrpSpPr/>
          <p:nvPr/>
        </p:nvGrpSpPr>
        <p:grpSpPr>
          <a:xfrm>
            <a:off x="441784" y="5516698"/>
            <a:ext cx="1309719" cy="522642"/>
            <a:chOff x="220852" y="4170619"/>
            <a:chExt cx="1309719" cy="522642"/>
          </a:xfrm>
        </p:grpSpPr>
        <p:sp>
          <p:nvSpPr>
            <p:cNvPr id="31" name="文本框 30">
              <a:extLst>
                <a:ext uri="{FF2B5EF4-FFF2-40B4-BE49-F238E27FC236}">
                  <a16:creationId xmlns:a16="http://schemas.microsoft.com/office/drawing/2014/main" id="{D4F730D3-2BCD-9B47-7340-D96791DB308B}"/>
                </a:ext>
              </a:extLst>
            </p:cNvPr>
            <p:cNvSpPr txBox="1"/>
            <p:nvPr/>
          </p:nvSpPr>
          <p:spPr>
            <a:xfrm>
              <a:off x="220852" y="4170619"/>
              <a:ext cx="1309719" cy="406778"/>
            </a:xfrm>
            <a:prstGeom prst="rect">
              <a:avLst/>
            </a:prstGeom>
            <a:noFill/>
          </p:spPr>
          <p:txBody>
            <a:bodyPr wrap="square">
              <a:spAutoFit/>
            </a:bodyPr>
            <a:lstStyle/>
            <a:p>
              <a:pPr>
                <a:lnSpc>
                  <a:spcPct val="125000"/>
                </a:lnSpc>
              </a:pPr>
              <a:r>
                <a:rPr lang="en-US" altLang="zh-CN" dirty="0">
                  <a:latin typeface="Times New Roman" panose="02020603050405020304" pitchFamily="18" charset="0"/>
                  <a:ea typeface="微软雅黑" panose="020B0503020204020204" pitchFamily="34" charset="-122"/>
                </a:rPr>
                <a:t>11</a:t>
              </a:r>
              <a:r>
                <a:rPr lang="zh-CN" altLang="en-US" dirty="0">
                  <a:latin typeface="Times New Roman" panose="02020603050405020304" pitchFamily="18" charset="0"/>
                  <a:ea typeface="微软雅黑" panose="020B0503020204020204" pitchFamily="34" charset="-122"/>
                </a:rPr>
                <a:t>月</a:t>
              </a:r>
              <a:r>
                <a:rPr lang="en-US" altLang="zh-CN" dirty="0">
                  <a:latin typeface="Times New Roman" panose="02020603050405020304" pitchFamily="18" charset="0"/>
                  <a:ea typeface="微软雅黑" panose="020B0503020204020204" pitchFamily="34" charset="-122"/>
                </a:rPr>
                <a:t>28</a:t>
              </a:r>
              <a:r>
                <a:rPr lang="zh-CN" altLang="en-US" dirty="0">
                  <a:latin typeface="Times New Roman" panose="02020603050405020304" pitchFamily="18" charset="0"/>
                  <a:ea typeface="微软雅黑" panose="020B0503020204020204" pitchFamily="34" charset="-122"/>
                </a:rPr>
                <a:t>日</a:t>
              </a:r>
            </a:p>
          </p:txBody>
        </p:sp>
        <p:grpSp>
          <p:nvGrpSpPr>
            <p:cNvPr id="32" name="组合 31">
              <a:extLst>
                <a:ext uri="{FF2B5EF4-FFF2-40B4-BE49-F238E27FC236}">
                  <a16:creationId xmlns:a16="http://schemas.microsoft.com/office/drawing/2014/main" id="{82975D5F-9C59-1EF7-8AFF-353F260C11CE}"/>
                </a:ext>
              </a:extLst>
            </p:cNvPr>
            <p:cNvGrpSpPr/>
            <p:nvPr/>
          </p:nvGrpSpPr>
          <p:grpSpPr>
            <a:xfrm rot="5400000">
              <a:off x="977360" y="4305157"/>
              <a:ext cx="104328" cy="671880"/>
              <a:chOff x="1336510" y="1653127"/>
              <a:chExt cx="104328" cy="671880"/>
            </a:xfrm>
          </p:grpSpPr>
          <p:cxnSp>
            <p:nvCxnSpPr>
              <p:cNvPr id="33" name="直接连接符 32">
                <a:extLst>
                  <a:ext uri="{FF2B5EF4-FFF2-40B4-BE49-F238E27FC236}">
                    <a16:creationId xmlns:a16="http://schemas.microsoft.com/office/drawing/2014/main" id="{4EADBE9C-3EEF-399E-BC39-AF5761D9F190}"/>
                  </a:ext>
                </a:extLst>
              </p:cNvPr>
              <p:cNvCxnSpPr>
                <a:cxnSpLocks/>
              </p:cNvCxnSpPr>
              <p:nvPr/>
            </p:nvCxnSpPr>
            <p:spPr>
              <a:xfrm>
                <a:off x="1388675" y="1653127"/>
                <a:ext cx="0" cy="5859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椭圆 34">
                <a:extLst>
                  <a:ext uri="{FF2B5EF4-FFF2-40B4-BE49-F238E27FC236}">
                    <a16:creationId xmlns:a16="http://schemas.microsoft.com/office/drawing/2014/main" id="{84067221-B320-D16C-323D-8003CBA74214}"/>
                  </a:ext>
                </a:extLst>
              </p:cNvPr>
              <p:cNvSpPr/>
              <p:nvPr/>
            </p:nvSpPr>
            <p:spPr>
              <a:xfrm>
                <a:off x="1336510" y="2220679"/>
                <a:ext cx="104328" cy="104328"/>
              </a:xfrm>
              <a:prstGeom prst="ellipse">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1" name="文本框 40">
            <a:extLst>
              <a:ext uri="{FF2B5EF4-FFF2-40B4-BE49-F238E27FC236}">
                <a16:creationId xmlns:a16="http://schemas.microsoft.com/office/drawing/2014/main" id="{A632AD03-7E61-011F-8D34-9033FA3B547B}"/>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2" name="文本框 41">
            <a:extLst>
              <a:ext uri="{FF2B5EF4-FFF2-40B4-BE49-F238E27FC236}">
                <a16:creationId xmlns:a16="http://schemas.microsoft.com/office/drawing/2014/main" id="{B4AEA989-F27F-2EB6-C3DA-07A1B8ECC7D3}"/>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43" name="文本框 42">
            <a:extLst>
              <a:ext uri="{FF2B5EF4-FFF2-40B4-BE49-F238E27FC236}">
                <a16:creationId xmlns:a16="http://schemas.microsoft.com/office/drawing/2014/main" id="{E0415C5E-3121-059E-1D9E-271771595A47}"/>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Tree>
    <p:extLst>
      <p:ext uri="{BB962C8B-B14F-4D97-AF65-F5344CB8AC3E}">
        <p14:creationId xmlns:p14="http://schemas.microsoft.com/office/powerpoint/2010/main" val="260780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A767-CDF5-E3BB-B61B-543EC25C0775}"/>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ACCA337D-8FFE-4A67-C375-E27793481E2A}"/>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51325E5D-F1DA-2446-9D76-1EFEB975A252}"/>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AC5C5783-505F-7614-806F-57CE7F7AF1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3D8D00FF-4465-76C5-6C83-6B3EFC27F710}"/>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48B2DA6E-3273-15EF-BFDF-4F090EBB1CA5}"/>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调查追责</a:t>
            </a:r>
          </a:p>
        </p:txBody>
      </p:sp>
      <p:sp>
        <p:nvSpPr>
          <p:cNvPr id="31" name="矩形 30">
            <a:extLst>
              <a:ext uri="{FF2B5EF4-FFF2-40B4-BE49-F238E27FC236}">
                <a16:creationId xmlns:a16="http://schemas.microsoft.com/office/drawing/2014/main" id="{B925B630-834A-43E5-E752-711152997335}"/>
              </a:ext>
            </a:extLst>
          </p:cNvPr>
          <p:cNvSpPr/>
          <p:nvPr/>
        </p:nvSpPr>
        <p:spPr>
          <a:xfrm>
            <a:off x="237351" y="4313659"/>
            <a:ext cx="11539161" cy="1121836"/>
          </a:xfrm>
          <a:prstGeom prst="rect">
            <a:avLst/>
          </a:prstGeom>
          <a:solidFill>
            <a:schemeClr val="bg1"/>
          </a:solidFill>
          <a:ln>
            <a:noFill/>
          </a:ln>
          <a:effectLst>
            <a:outerShdw blurRad="50800" dist="38100" dir="2700000" algn="tl" rotWithShape="0">
              <a:srgbClr val="0F349D">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D965192E-FC80-A25E-590A-22EA7C0CB8CC}"/>
              </a:ext>
            </a:extLst>
          </p:cNvPr>
          <p:cNvSpPr txBox="1"/>
          <p:nvPr/>
        </p:nvSpPr>
        <p:spPr>
          <a:xfrm>
            <a:off x="2326626" y="4363412"/>
            <a:ext cx="6402683" cy="1022331"/>
          </a:xfrm>
          <a:prstGeom prst="rect">
            <a:avLst/>
          </a:prstGeom>
          <a:noFill/>
        </p:spPr>
        <p:txBody>
          <a:bodyPr wrap="square">
            <a:spAutoFit/>
          </a:bodyPr>
          <a:lstStyle/>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贺建奎有期徒刑三年，罚金三百万元；</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张仁礼有期徒刑二年，罚金一百万元；</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覃金洲有期徒刑一年六个月缓刑二年，罚金五十万元。 </a:t>
            </a:r>
          </a:p>
        </p:txBody>
      </p:sp>
      <p:grpSp>
        <p:nvGrpSpPr>
          <p:cNvPr id="39" name="组合 38">
            <a:extLst>
              <a:ext uri="{FF2B5EF4-FFF2-40B4-BE49-F238E27FC236}">
                <a16:creationId xmlns:a16="http://schemas.microsoft.com/office/drawing/2014/main" id="{52319775-69B0-D6EA-FA4D-4E17A5E5536C}"/>
              </a:ext>
            </a:extLst>
          </p:cNvPr>
          <p:cNvGrpSpPr/>
          <p:nvPr/>
        </p:nvGrpSpPr>
        <p:grpSpPr>
          <a:xfrm>
            <a:off x="593734" y="4395144"/>
            <a:ext cx="1544106" cy="958867"/>
            <a:chOff x="523080" y="4618971"/>
            <a:chExt cx="1544106" cy="958867"/>
          </a:xfrm>
        </p:grpSpPr>
        <p:sp>
          <p:nvSpPr>
            <p:cNvPr id="27" name="矩形: 圆角 26">
              <a:extLst>
                <a:ext uri="{FF2B5EF4-FFF2-40B4-BE49-F238E27FC236}">
                  <a16:creationId xmlns:a16="http://schemas.microsoft.com/office/drawing/2014/main" id="{395A3154-0EF2-0700-F719-91EFF7F7A441}"/>
                </a:ext>
              </a:extLst>
            </p:cNvPr>
            <p:cNvSpPr/>
            <p:nvPr/>
          </p:nvSpPr>
          <p:spPr>
            <a:xfrm rot="5400000">
              <a:off x="815700" y="4504543"/>
              <a:ext cx="958867" cy="1187723"/>
            </a:xfrm>
            <a:prstGeom prst="roundRect">
              <a:avLst/>
            </a:prstGeom>
            <a:gradFill>
              <a:gsLst>
                <a:gs pos="16000">
                  <a:srgbClr val="6691C0"/>
                </a:gs>
                <a:gs pos="100000">
                  <a:srgbClr val="8AB1CE"/>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文本框 27">
              <a:extLst>
                <a:ext uri="{FF2B5EF4-FFF2-40B4-BE49-F238E27FC236}">
                  <a16:creationId xmlns:a16="http://schemas.microsoft.com/office/drawing/2014/main" id="{059CD4A5-F47E-D93A-B232-55737EE82603}"/>
                </a:ext>
              </a:extLst>
            </p:cNvPr>
            <p:cNvSpPr txBox="1"/>
            <p:nvPr/>
          </p:nvSpPr>
          <p:spPr>
            <a:xfrm>
              <a:off x="523080" y="4721891"/>
              <a:ext cx="1544106" cy="753027"/>
            </a:xfrm>
            <a:prstGeom prst="rect">
              <a:avLst/>
            </a:prstGeom>
            <a:noFill/>
          </p:spPr>
          <p:txBody>
            <a:bodyPr wrap="square">
              <a:spAutoFit/>
            </a:bodyPr>
            <a:lstStyle/>
            <a:p>
              <a:pPr algn="ctr">
                <a:lnSpc>
                  <a:spcPct val="125000"/>
                </a:lnSpc>
              </a:pPr>
              <a:r>
                <a:rPr lang="zh-CN" altLang="en-US" b="1" dirty="0">
                  <a:latin typeface="Times New Roman" panose="02020603050405020304" pitchFamily="18" charset="0"/>
                  <a:ea typeface="微软雅黑" panose="020B0503020204020204" pitchFamily="34" charset="-122"/>
                </a:rPr>
                <a:t>判决</a:t>
              </a:r>
              <a:endParaRPr lang="en-US" altLang="zh-CN" b="1" dirty="0">
                <a:latin typeface="Times New Roman" panose="02020603050405020304" pitchFamily="18" charset="0"/>
                <a:ea typeface="微软雅黑" panose="020B0503020204020204" pitchFamily="34" charset="-122"/>
              </a:endParaRPr>
            </a:p>
            <a:p>
              <a:pPr algn="ctr">
                <a:lnSpc>
                  <a:spcPct val="125000"/>
                </a:lnSpc>
              </a:pPr>
              <a:r>
                <a:rPr lang="zh-CN" altLang="en-US" b="1" dirty="0">
                  <a:latin typeface="Times New Roman" panose="02020603050405020304" pitchFamily="18" charset="0"/>
                  <a:ea typeface="微软雅黑" panose="020B0503020204020204" pitchFamily="34" charset="-122"/>
                </a:rPr>
                <a:t>结果</a:t>
              </a:r>
            </a:p>
          </p:txBody>
        </p:sp>
      </p:grpSp>
      <p:sp>
        <p:nvSpPr>
          <p:cNvPr id="29" name="矩形 28">
            <a:extLst>
              <a:ext uri="{FF2B5EF4-FFF2-40B4-BE49-F238E27FC236}">
                <a16:creationId xmlns:a16="http://schemas.microsoft.com/office/drawing/2014/main" id="{DE8618C3-D965-9049-3FE1-9F207E1901C4}"/>
              </a:ext>
            </a:extLst>
          </p:cNvPr>
          <p:cNvSpPr/>
          <p:nvPr/>
        </p:nvSpPr>
        <p:spPr>
          <a:xfrm>
            <a:off x="237351" y="999580"/>
            <a:ext cx="11539161" cy="1857975"/>
          </a:xfrm>
          <a:prstGeom prst="rect">
            <a:avLst/>
          </a:prstGeom>
          <a:solidFill>
            <a:schemeClr val="bg1"/>
          </a:solidFill>
          <a:ln>
            <a:noFill/>
          </a:ln>
          <a:effectLst>
            <a:outerShdw blurRad="50800" dist="38100" dir="2700000" algn="tl" rotWithShape="0">
              <a:srgbClr val="8AB1CE">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FC04947C-BD80-7A69-E55B-6CDAD8F07FDD}"/>
              </a:ext>
            </a:extLst>
          </p:cNvPr>
          <p:cNvGrpSpPr/>
          <p:nvPr/>
        </p:nvGrpSpPr>
        <p:grpSpPr>
          <a:xfrm>
            <a:off x="509231" y="1449134"/>
            <a:ext cx="1713113" cy="958867"/>
            <a:chOff x="427902" y="1235691"/>
            <a:chExt cx="1713113" cy="958867"/>
          </a:xfrm>
        </p:grpSpPr>
        <p:sp>
          <p:nvSpPr>
            <p:cNvPr id="20" name="矩形: 圆角 19">
              <a:extLst>
                <a:ext uri="{FF2B5EF4-FFF2-40B4-BE49-F238E27FC236}">
                  <a16:creationId xmlns:a16="http://schemas.microsoft.com/office/drawing/2014/main" id="{8C4C2B84-6C06-ABCF-F6A4-28186F1657C8}"/>
                </a:ext>
              </a:extLst>
            </p:cNvPr>
            <p:cNvSpPr/>
            <p:nvPr/>
          </p:nvSpPr>
          <p:spPr>
            <a:xfrm rot="5400000">
              <a:off x="805025" y="1121263"/>
              <a:ext cx="958867" cy="1187723"/>
            </a:xfrm>
            <a:prstGeom prst="roundRect">
              <a:avLst/>
            </a:prstGeom>
            <a:gradFill flip="none" rotWithShape="1">
              <a:gsLst>
                <a:gs pos="16000">
                  <a:srgbClr val="C2CBDF"/>
                </a:gs>
                <a:gs pos="100000">
                  <a:srgbClr val="EEEFEF">
                    <a:alpha val="70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21" name="文本框 20">
              <a:extLst>
                <a:ext uri="{FF2B5EF4-FFF2-40B4-BE49-F238E27FC236}">
                  <a16:creationId xmlns:a16="http://schemas.microsoft.com/office/drawing/2014/main" id="{C1956B2F-27EC-4068-0343-45D9E36EABBE}"/>
                </a:ext>
              </a:extLst>
            </p:cNvPr>
            <p:cNvSpPr txBox="1"/>
            <p:nvPr/>
          </p:nvSpPr>
          <p:spPr>
            <a:xfrm>
              <a:off x="427902" y="1338611"/>
              <a:ext cx="1713113" cy="753027"/>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2019</a:t>
              </a:r>
              <a:r>
                <a:rPr lang="zh-CN" altLang="en-US" b="1" dirty="0">
                  <a:latin typeface="Times New Roman" panose="02020603050405020304" pitchFamily="18" charset="0"/>
                  <a:ea typeface="微软雅黑" panose="020B0503020204020204" pitchFamily="34" charset="-122"/>
                </a:rPr>
                <a:t>年</a:t>
              </a:r>
              <a:endParaRPr lang="en-US" altLang="zh-CN" b="1" dirty="0">
                <a:latin typeface="Times New Roman" panose="02020603050405020304" pitchFamily="18" charset="0"/>
                <a:ea typeface="微软雅黑" panose="020B0503020204020204" pitchFamily="34" charset="-122"/>
              </a:endParaRPr>
            </a:p>
            <a:p>
              <a:pPr algn="ctr">
                <a:lnSpc>
                  <a:spcPct val="125000"/>
                </a:lnSpc>
              </a:pPr>
              <a:r>
                <a:rPr lang="en-US" altLang="zh-CN" b="1" dirty="0">
                  <a:latin typeface="Times New Roman" panose="02020603050405020304" pitchFamily="18" charset="0"/>
                  <a:ea typeface="微软雅黑" panose="020B0503020204020204" pitchFamily="34" charset="-122"/>
                </a:rPr>
                <a:t>1</a:t>
              </a:r>
              <a:r>
                <a:rPr lang="zh-CN" altLang="en-US" b="1" dirty="0">
                  <a:latin typeface="Times New Roman" panose="02020603050405020304" pitchFamily="18" charset="0"/>
                  <a:ea typeface="微软雅黑" panose="020B0503020204020204" pitchFamily="34" charset="-122"/>
                </a:rPr>
                <a:t>月</a:t>
              </a:r>
              <a:r>
                <a:rPr lang="en-US" altLang="zh-CN" b="1" dirty="0">
                  <a:latin typeface="Times New Roman" panose="02020603050405020304" pitchFamily="18" charset="0"/>
                  <a:ea typeface="微软雅黑" panose="020B0503020204020204" pitchFamily="34" charset="-122"/>
                </a:rPr>
                <a:t>21</a:t>
              </a:r>
              <a:r>
                <a:rPr lang="zh-CN" altLang="en-US" b="1" dirty="0">
                  <a:latin typeface="Times New Roman" panose="02020603050405020304" pitchFamily="18" charset="0"/>
                  <a:ea typeface="微软雅黑" panose="020B0503020204020204" pitchFamily="34" charset="-122"/>
                </a:rPr>
                <a:t>日</a:t>
              </a:r>
            </a:p>
          </p:txBody>
        </p:sp>
      </p:grpSp>
      <p:sp>
        <p:nvSpPr>
          <p:cNvPr id="33" name="文本框 32">
            <a:extLst>
              <a:ext uri="{FF2B5EF4-FFF2-40B4-BE49-F238E27FC236}">
                <a16:creationId xmlns:a16="http://schemas.microsoft.com/office/drawing/2014/main" id="{2A592589-5FD0-0FA1-1C94-6232E7D19CC4}"/>
              </a:ext>
            </a:extLst>
          </p:cNvPr>
          <p:cNvSpPr txBox="1"/>
          <p:nvPr/>
        </p:nvSpPr>
        <p:spPr>
          <a:xfrm>
            <a:off x="2385854" y="1068428"/>
            <a:ext cx="8594203" cy="1720279"/>
          </a:xfrm>
          <a:prstGeom prst="rect">
            <a:avLst/>
          </a:prstGeom>
          <a:noFill/>
        </p:spPr>
        <p:txBody>
          <a:bodyPr wrap="square">
            <a:spAutoFit/>
          </a:bodyPr>
          <a:lstStyle/>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广东省调查组公布初步查明结果</a:t>
            </a:r>
            <a:endPar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定性为“为追逐个人名利，自筹资金，蓄意逃避监管，私自组织有关人员，实施国家明令禁止的以生殖为目的的人类胚胎基因编辑活动”</a:t>
            </a:r>
            <a:endPar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科技部同日回应</a:t>
            </a:r>
            <a:endPar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p"/>
              <a:tabLst/>
              <a:defRPr/>
            </a:pPr>
            <a:r>
              <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全面暂停相关人员的科技活动</a:t>
            </a:r>
            <a:endParaRPr lang="zh-CN" altLang="en-US" sz="1600" dirty="0"/>
          </a:p>
        </p:txBody>
      </p:sp>
      <p:sp>
        <p:nvSpPr>
          <p:cNvPr id="30" name="矩形 29">
            <a:extLst>
              <a:ext uri="{FF2B5EF4-FFF2-40B4-BE49-F238E27FC236}">
                <a16:creationId xmlns:a16="http://schemas.microsoft.com/office/drawing/2014/main" id="{6F1C3AA1-9E70-BE69-D0BD-412AA3DA61A6}"/>
              </a:ext>
            </a:extLst>
          </p:cNvPr>
          <p:cNvSpPr/>
          <p:nvPr/>
        </p:nvSpPr>
        <p:spPr>
          <a:xfrm>
            <a:off x="237351" y="2982647"/>
            <a:ext cx="11539161" cy="1205920"/>
          </a:xfrm>
          <a:prstGeom prst="rect">
            <a:avLst/>
          </a:prstGeom>
          <a:solidFill>
            <a:schemeClr val="bg1"/>
          </a:solidFill>
          <a:ln>
            <a:noFill/>
          </a:ln>
          <a:effectLst>
            <a:outerShdw blurRad="50800" dist="38100" dir="2700000" algn="tl" rotWithShape="0">
              <a:srgbClr val="6691C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E20FA4BB-3C04-FBF8-EAEC-84550D1FBB7B}"/>
              </a:ext>
            </a:extLst>
          </p:cNvPr>
          <p:cNvGrpSpPr/>
          <p:nvPr/>
        </p:nvGrpSpPr>
        <p:grpSpPr>
          <a:xfrm>
            <a:off x="397105" y="3106174"/>
            <a:ext cx="1937365" cy="958867"/>
            <a:chOff x="315678" y="3263511"/>
            <a:chExt cx="1937365" cy="958867"/>
          </a:xfrm>
        </p:grpSpPr>
        <p:sp>
          <p:nvSpPr>
            <p:cNvPr id="23" name="矩形: 圆角 22">
              <a:extLst>
                <a:ext uri="{FF2B5EF4-FFF2-40B4-BE49-F238E27FC236}">
                  <a16:creationId xmlns:a16="http://schemas.microsoft.com/office/drawing/2014/main" id="{FE87CDFC-E9F9-9284-1677-4F99F5370B01}"/>
                </a:ext>
              </a:extLst>
            </p:cNvPr>
            <p:cNvSpPr/>
            <p:nvPr/>
          </p:nvSpPr>
          <p:spPr>
            <a:xfrm rot="5400000">
              <a:off x="804927" y="3149083"/>
              <a:ext cx="958867" cy="1187723"/>
            </a:xfrm>
            <a:prstGeom prst="roundRect">
              <a:avLst/>
            </a:prstGeom>
            <a:gradFill>
              <a:gsLst>
                <a:gs pos="16000">
                  <a:srgbClr val="8AB1CE"/>
                </a:gs>
                <a:gs pos="100000">
                  <a:srgbClr val="C2CBD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文本框 23">
              <a:extLst>
                <a:ext uri="{FF2B5EF4-FFF2-40B4-BE49-F238E27FC236}">
                  <a16:creationId xmlns:a16="http://schemas.microsoft.com/office/drawing/2014/main" id="{F3EA5652-C7B9-CFA3-3B9C-2DC4933A86D6}"/>
                </a:ext>
              </a:extLst>
            </p:cNvPr>
            <p:cNvSpPr txBox="1"/>
            <p:nvPr/>
          </p:nvSpPr>
          <p:spPr>
            <a:xfrm>
              <a:off x="315678" y="3366431"/>
              <a:ext cx="1937365" cy="753027"/>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2019</a:t>
              </a:r>
              <a:r>
                <a:rPr lang="zh-CN" altLang="en-US" b="1" dirty="0">
                  <a:latin typeface="Times New Roman" panose="02020603050405020304" pitchFamily="18" charset="0"/>
                  <a:ea typeface="微软雅黑" panose="020B0503020204020204" pitchFamily="34" charset="-122"/>
                </a:rPr>
                <a:t>年</a:t>
              </a:r>
              <a:endParaRPr lang="en-US" altLang="zh-CN" b="1" dirty="0">
                <a:latin typeface="Times New Roman" panose="02020603050405020304" pitchFamily="18" charset="0"/>
                <a:ea typeface="微软雅黑" panose="020B0503020204020204" pitchFamily="34" charset="-122"/>
              </a:endParaRPr>
            </a:p>
            <a:p>
              <a:pPr algn="ctr">
                <a:lnSpc>
                  <a:spcPct val="125000"/>
                </a:lnSpc>
              </a:pPr>
              <a:r>
                <a:rPr lang="en-US" altLang="zh-CN" b="1" dirty="0">
                  <a:latin typeface="Times New Roman" panose="02020603050405020304" pitchFamily="18" charset="0"/>
                  <a:ea typeface="微软雅黑" panose="020B0503020204020204" pitchFamily="34" charset="-122"/>
                </a:rPr>
                <a:t>12</a:t>
              </a:r>
              <a:r>
                <a:rPr lang="zh-CN" altLang="en-US" b="1" dirty="0">
                  <a:latin typeface="Times New Roman" panose="02020603050405020304" pitchFamily="18" charset="0"/>
                  <a:ea typeface="微软雅黑" panose="020B0503020204020204" pitchFamily="34" charset="-122"/>
                </a:rPr>
                <a:t>月</a:t>
              </a:r>
              <a:r>
                <a:rPr lang="en-US" altLang="zh-CN" b="1" dirty="0">
                  <a:latin typeface="Times New Roman" panose="02020603050405020304" pitchFamily="18" charset="0"/>
                  <a:ea typeface="微软雅黑" panose="020B0503020204020204" pitchFamily="34" charset="-122"/>
                </a:rPr>
                <a:t>30</a:t>
              </a:r>
              <a:r>
                <a:rPr lang="zh-CN" altLang="en-US" b="1" dirty="0">
                  <a:latin typeface="Times New Roman" panose="02020603050405020304" pitchFamily="18" charset="0"/>
                  <a:ea typeface="微软雅黑" panose="020B0503020204020204" pitchFamily="34" charset="-122"/>
                </a:rPr>
                <a:t>日</a:t>
              </a:r>
            </a:p>
          </p:txBody>
        </p:sp>
      </p:grpSp>
      <p:sp>
        <p:nvSpPr>
          <p:cNvPr id="36" name="文本框 35">
            <a:extLst>
              <a:ext uri="{FF2B5EF4-FFF2-40B4-BE49-F238E27FC236}">
                <a16:creationId xmlns:a16="http://schemas.microsoft.com/office/drawing/2014/main" id="{9D0C8090-4067-3378-9C18-03CA816204F8}"/>
              </a:ext>
            </a:extLst>
          </p:cNvPr>
          <p:cNvSpPr txBox="1"/>
          <p:nvPr/>
        </p:nvSpPr>
        <p:spPr>
          <a:xfrm>
            <a:off x="2385853" y="3072646"/>
            <a:ext cx="8748742" cy="1025922"/>
          </a:xfrm>
          <a:prstGeom prst="rect">
            <a:avLst/>
          </a:prstGeom>
          <a:noFill/>
        </p:spPr>
        <p:txBody>
          <a:bodyPr wrap="square">
            <a:spAutoFit/>
          </a:bodyPr>
          <a:lstStyle/>
          <a:p>
            <a:pPr>
              <a:lnSpc>
                <a:spcPct val="125000"/>
              </a:lnSpc>
            </a:pPr>
            <a:r>
              <a:rPr lang="zh-CN" altLang="en-US" b="1" dirty="0">
                <a:latin typeface="Times New Roman" panose="02020603050405020304" pitchFamily="18" charset="0"/>
                <a:ea typeface="微软雅黑" panose="020B0503020204020204" pitchFamily="34" charset="-122"/>
              </a:rPr>
              <a:t>深圳市南山区人民法院一审宣判</a:t>
            </a:r>
            <a:endParaRPr lang="en-US" altLang="zh-CN" b="1"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贺建奎、张仁礼、覃金洲构成</a:t>
            </a:r>
            <a:r>
              <a:rPr lang="zh-CN" altLang="en-US" sz="1600" b="1" dirty="0">
                <a:latin typeface="Times New Roman" panose="02020603050405020304" pitchFamily="18" charset="0"/>
                <a:ea typeface="微软雅黑" panose="020B0503020204020204" pitchFamily="34" charset="-122"/>
              </a:rPr>
              <a:t>非法行医罪</a:t>
            </a:r>
            <a:r>
              <a:rPr lang="zh-CN" altLang="en-US" sz="1600" dirty="0">
                <a:latin typeface="Times New Roman" panose="02020603050405020304" pitchFamily="18" charset="0"/>
                <a:ea typeface="微软雅黑" panose="020B0503020204020204" pitchFamily="34" charset="-122"/>
              </a:rPr>
              <a:t>。</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“追名逐利，故意违反国家有关科研和医疗管理规定，逾越科研和医学伦理道德底线”。</a:t>
            </a:r>
            <a:endParaRPr lang="en-US" altLang="zh-CN" sz="1600" dirty="0">
              <a:latin typeface="Times New Roman" panose="02020603050405020304" pitchFamily="18" charset="0"/>
              <a:ea typeface="微软雅黑" panose="020B0503020204020204" pitchFamily="34" charset="-122"/>
            </a:endParaRPr>
          </a:p>
        </p:txBody>
      </p:sp>
      <p:pic>
        <p:nvPicPr>
          <p:cNvPr id="47" name="图片 46">
            <a:extLst>
              <a:ext uri="{FF2B5EF4-FFF2-40B4-BE49-F238E27FC236}">
                <a16:creationId xmlns:a16="http://schemas.microsoft.com/office/drawing/2014/main" id="{14AA8323-DCC8-EDA9-F470-21391A8B6D1E}"/>
              </a:ext>
            </a:extLst>
          </p:cNvPr>
          <p:cNvPicPr>
            <a:picLocks noChangeAspect="1"/>
          </p:cNvPicPr>
          <p:nvPr/>
        </p:nvPicPr>
        <p:blipFill>
          <a:blip r:embed="rId5">
            <a:extLst>
              <a:ext uri="{28A0092B-C50C-407E-A947-70E740481C1C}">
                <a14:useLocalDpi xmlns:a14="http://schemas.microsoft.com/office/drawing/2010/main" val="0"/>
              </a:ext>
            </a:extLst>
          </a:blip>
          <a:srcRect l="9560" t="46219" r="6625" b="40290"/>
          <a:stretch>
            <a:fillRect/>
          </a:stretch>
        </p:blipFill>
        <p:spPr>
          <a:xfrm>
            <a:off x="237350" y="5621088"/>
            <a:ext cx="11539161" cy="1096308"/>
          </a:xfrm>
          <a:prstGeom prst="rect">
            <a:avLst/>
          </a:prstGeom>
          <a:effectLst>
            <a:outerShdw blurRad="50800" dist="76200" dir="2700000" algn="tl" rotWithShape="0">
              <a:srgbClr val="0F349D">
                <a:alpha val="40000"/>
              </a:srgbClr>
            </a:outerShdw>
          </a:effectLst>
        </p:spPr>
      </p:pic>
      <p:sp>
        <p:nvSpPr>
          <p:cNvPr id="48" name="图形">
            <a:extLst>
              <a:ext uri="{FF2B5EF4-FFF2-40B4-BE49-F238E27FC236}">
                <a16:creationId xmlns:a16="http://schemas.microsoft.com/office/drawing/2014/main" id="{83AD67F0-3357-7F64-CF01-CE7304FEE8C1}"/>
              </a:ext>
            </a:extLst>
          </p:cNvPr>
          <p:cNvSpPr/>
          <p:nvPr/>
        </p:nvSpPr>
        <p:spPr>
          <a:xfrm>
            <a:off x="237350" y="5621088"/>
            <a:ext cx="11539161" cy="1096309"/>
          </a:xfrm>
          <a:prstGeom prst="rect">
            <a:avLst/>
          </a:prstGeom>
          <a:gradFill>
            <a:gsLst>
              <a:gs pos="0">
                <a:srgbClr val="0F349D"/>
              </a:gs>
              <a:gs pos="100000">
                <a:srgbClr val="0F349D">
                  <a:alpha val="60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汉仪大宋简"/>
              <a:cs typeface="思源黑体旧字形 Light" panose="020B0300000000000000" charset="-128"/>
              <a:sym typeface="Arial"/>
            </a:endParaRPr>
          </a:p>
        </p:txBody>
      </p:sp>
      <p:sp>
        <p:nvSpPr>
          <p:cNvPr id="49" name="文本框 48">
            <a:extLst>
              <a:ext uri="{FF2B5EF4-FFF2-40B4-BE49-F238E27FC236}">
                <a16:creationId xmlns:a16="http://schemas.microsoft.com/office/drawing/2014/main" id="{3D519C70-CE94-57C0-A6C4-14976EADFD7A}"/>
              </a:ext>
            </a:extLst>
          </p:cNvPr>
          <p:cNvSpPr txBox="1"/>
          <p:nvPr/>
        </p:nvSpPr>
        <p:spPr>
          <a:xfrm>
            <a:off x="698594" y="5756020"/>
            <a:ext cx="10630697" cy="826445"/>
          </a:xfrm>
          <a:prstGeom prst="rect">
            <a:avLst/>
          </a:prstGeom>
          <a:noFill/>
        </p:spPr>
        <p:txBody>
          <a:bodyPr wrap="square">
            <a:spAutoFit/>
          </a:bodyPr>
          <a:lstStyle>
            <a:defPPr>
              <a:defRPr lang="zh-CN"/>
            </a:defPPr>
            <a:lvl1pPr>
              <a:lnSpc>
                <a:spcPct val="125000"/>
              </a:lnSpc>
              <a:defRPr>
                <a:latin typeface="Times New Roman" panose="02020603050405020304" pitchFamily="18" charset="0"/>
                <a:ea typeface="微软雅黑" panose="020B0503020204020204" pitchFamily="34" charset="-122"/>
              </a:defRPr>
            </a:lvl1pPr>
          </a:lstStyle>
          <a:p>
            <a:pPr algn="ctr"/>
            <a:r>
              <a:rPr lang="zh-CN" altLang="en-US" sz="2000" b="1" dirty="0">
                <a:solidFill>
                  <a:schemeClr val="bg1"/>
                </a:solidFill>
              </a:rPr>
              <a:t>制度对这类新型越界行为存在不足，最终借用了“</a:t>
            </a:r>
            <a:r>
              <a:rPr lang="zh-CN" altLang="en-US" sz="2000" b="1" dirty="0">
                <a:solidFill>
                  <a:srgbClr val="FFFFFF"/>
                </a:solidFill>
              </a:rPr>
              <a:t>非法行医</a:t>
            </a:r>
            <a:r>
              <a:rPr lang="zh-CN" altLang="en-US" sz="2000" b="1" dirty="0">
                <a:solidFill>
                  <a:schemeClr val="bg1"/>
                </a:solidFill>
              </a:rPr>
              <a:t>”这一相邻领域的罪名，</a:t>
            </a:r>
            <a:endParaRPr lang="en-US" altLang="zh-CN" sz="2000" b="1" dirty="0">
              <a:solidFill>
                <a:schemeClr val="bg1"/>
              </a:solidFill>
            </a:endParaRPr>
          </a:p>
          <a:p>
            <a:pPr algn="ctr"/>
            <a:r>
              <a:rPr lang="zh-CN" altLang="en-US" sz="2000" b="1" dirty="0">
                <a:solidFill>
                  <a:schemeClr val="bg1"/>
                </a:solidFill>
              </a:rPr>
              <a:t>而非有专门的“</a:t>
            </a:r>
            <a:r>
              <a:rPr lang="zh-CN" altLang="en-US" sz="2000" b="1" dirty="0">
                <a:solidFill>
                  <a:srgbClr val="FFFFFF"/>
                </a:solidFill>
              </a:rPr>
              <a:t>基因编辑罪</a:t>
            </a:r>
            <a:r>
              <a:rPr lang="zh-CN" altLang="en-US" sz="2000" b="1" dirty="0">
                <a:solidFill>
                  <a:schemeClr val="bg1"/>
                </a:solidFill>
              </a:rPr>
              <a:t>”在当时可供适用。</a:t>
            </a:r>
          </a:p>
        </p:txBody>
      </p:sp>
      <p:sp>
        <p:nvSpPr>
          <p:cNvPr id="50" name="文本框 49">
            <a:extLst>
              <a:ext uri="{FF2B5EF4-FFF2-40B4-BE49-F238E27FC236}">
                <a16:creationId xmlns:a16="http://schemas.microsoft.com/office/drawing/2014/main" id="{C01F7B2F-AA8E-000A-DE27-3649EDBE8E1C}"/>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51" name="文本框 50">
            <a:extLst>
              <a:ext uri="{FF2B5EF4-FFF2-40B4-BE49-F238E27FC236}">
                <a16:creationId xmlns:a16="http://schemas.microsoft.com/office/drawing/2014/main" id="{A176A427-9523-20E8-DD4A-8BCE47421D79}"/>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2" name="文本框 51">
            <a:extLst>
              <a:ext uri="{FF2B5EF4-FFF2-40B4-BE49-F238E27FC236}">
                <a16:creationId xmlns:a16="http://schemas.microsoft.com/office/drawing/2014/main" id="{24F7C3D6-4F7C-0632-5CDF-8E13B39CCE8E}"/>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Tree>
    <p:extLst>
      <p:ext uri="{BB962C8B-B14F-4D97-AF65-F5344CB8AC3E}">
        <p14:creationId xmlns:p14="http://schemas.microsoft.com/office/powerpoint/2010/main" val="316393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AAA1-429E-5CBD-93A9-D089E458B8CE}"/>
            </a:ext>
          </a:extLst>
        </p:cNvPr>
        <p:cNvGrpSpPr/>
        <p:nvPr/>
      </p:nvGrpSpPr>
      <p:grpSpPr>
        <a:xfrm>
          <a:off x="0" y="0"/>
          <a:ext cx="0" cy="0"/>
          <a:chOff x="0" y="0"/>
          <a:chExt cx="0" cy="0"/>
        </a:xfrm>
      </p:grpSpPr>
      <p:sp>
        <p:nvSpPr>
          <p:cNvPr id="17"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B1DC299B-4D0D-A311-B4C8-4B3F80A0B008}"/>
              </a:ext>
            </a:extLst>
          </p:cNvPr>
          <p:cNvSpPr/>
          <p:nvPr>
            <p:custDataLst>
              <p:tags r:id="rId1"/>
            </p:custDataLst>
          </p:nvPr>
        </p:nvSpPr>
        <p:spPr>
          <a:xfrm>
            <a:off x="233523" y="940446"/>
            <a:ext cx="3933524" cy="2595639"/>
          </a:xfrm>
          <a:prstGeom prst="roundRect">
            <a:avLst>
              <a:gd name="adj" fmla="val 5551"/>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grpSp>
        <p:nvGrpSpPr>
          <p:cNvPr id="34" name="组合 33">
            <a:extLst>
              <a:ext uri="{FF2B5EF4-FFF2-40B4-BE49-F238E27FC236}">
                <a16:creationId xmlns:a16="http://schemas.microsoft.com/office/drawing/2014/main" id="{BE8D08D9-680B-A76F-0212-07059742102C}"/>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A047AECE-6978-F705-1023-FEC1ACC602FD}"/>
                </a:ext>
              </a:extLst>
            </p:cNvPr>
            <p:cNvSpPr/>
            <p:nvPr>
              <p:custDataLst>
                <p:tags r:id="rId6"/>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96169ED1-8EA2-06E6-A39C-E031A29AF1A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9E40DBCC-4982-64BF-06FD-A3E3F53A63C7}"/>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1F8DE98-F7EC-3868-90C6-88819D6469AC}"/>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制度修补</a:t>
            </a:r>
          </a:p>
        </p:txBody>
      </p:sp>
      <p:pic>
        <p:nvPicPr>
          <p:cNvPr id="2" name="图片 1">
            <a:extLst>
              <a:ext uri="{FF2B5EF4-FFF2-40B4-BE49-F238E27FC236}">
                <a16:creationId xmlns:a16="http://schemas.microsoft.com/office/drawing/2014/main" id="{BD0BE306-B576-B8AD-B953-767A3D491FAC}"/>
              </a:ext>
            </a:extLst>
          </p:cNvPr>
          <p:cNvPicPr>
            <a:picLocks noChangeAspect="1"/>
          </p:cNvPicPr>
          <p:nvPr/>
        </p:nvPicPr>
        <p:blipFill>
          <a:blip r:embed="rId10"/>
          <a:srcRect l="3169" r="1806"/>
          <a:stretch>
            <a:fillRect/>
          </a:stretch>
        </p:blipFill>
        <p:spPr>
          <a:xfrm>
            <a:off x="4363019" y="1033196"/>
            <a:ext cx="3425704" cy="5081729"/>
          </a:xfrm>
          <a:prstGeom prst="rect">
            <a:avLst/>
          </a:prstGeom>
          <a:noFill/>
          <a:ln>
            <a:noFill/>
          </a:ln>
          <a:effectLst>
            <a:outerShdw blurRad="50800" dist="38100" dir="2700000" algn="tl" rotWithShape="0">
              <a:prstClr val="black">
                <a:alpha val="40000"/>
              </a:prstClr>
            </a:outerShdw>
          </a:effectLst>
        </p:spPr>
      </p:pic>
      <p:sp>
        <p:nvSpPr>
          <p:cNvPr id="3" name="文本框 2">
            <a:extLst>
              <a:ext uri="{FF2B5EF4-FFF2-40B4-BE49-F238E27FC236}">
                <a16:creationId xmlns:a16="http://schemas.microsoft.com/office/drawing/2014/main" id="{F990C17A-5ECE-97ED-C8B5-EB5DE0FA441D}"/>
              </a:ext>
            </a:extLst>
          </p:cNvPr>
          <p:cNvSpPr txBox="1"/>
          <p:nvPr/>
        </p:nvSpPr>
        <p:spPr>
          <a:xfrm>
            <a:off x="4465099" y="6219141"/>
            <a:ext cx="3044366" cy="357790"/>
          </a:xfrm>
          <a:prstGeom prst="rect">
            <a:avLst/>
          </a:prstGeom>
          <a:noFill/>
        </p:spPr>
        <p:txBody>
          <a:bodyPr wrap="square">
            <a:spAutoFit/>
          </a:bodyPr>
          <a:lstStyle>
            <a:defPPr>
              <a:defRPr lang="zh-CN"/>
            </a:defPPr>
            <a:lvl1pPr algn="ctr">
              <a:lnSpc>
                <a:spcPct val="125000"/>
              </a:lnSpc>
              <a:defRPr sz="1600">
                <a:latin typeface="仿宋" panose="02010609060101010101" pitchFamily="49" charset="-122"/>
                <a:ea typeface="仿宋" panose="02010609060101010101" pitchFamily="49" charset="-122"/>
              </a:defRPr>
            </a:lvl1pPr>
          </a:lstStyle>
          <a:p>
            <a:r>
              <a:rPr lang="zh-CN" altLang="en-US" dirty="0"/>
              <a:t>图 </a:t>
            </a:r>
            <a:r>
              <a:rPr lang="en-US" altLang="zh-CN" dirty="0"/>
              <a:t>《</a:t>
            </a:r>
            <a:r>
              <a:rPr lang="zh-CN" altLang="en-US" dirty="0"/>
              <a:t>民法典</a:t>
            </a:r>
            <a:r>
              <a:rPr lang="en-US" altLang="zh-CN" dirty="0"/>
              <a:t>》</a:t>
            </a:r>
            <a:r>
              <a:rPr lang="zh-CN" altLang="en-US" dirty="0"/>
              <a:t>第一千零九条</a:t>
            </a:r>
          </a:p>
        </p:txBody>
      </p:sp>
      <p:sp>
        <p:nvSpPr>
          <p:cNvPr id="4" name="文本框 3">
            <a:extLst>
              <a:ext uri="{FF2B5EF4-FFF2-40B4-BE49-F238E27FC236}">
                <a16:creationId xmlns:a16="http://schemas.microsoft.com/office/drawing/2014/main" id="{5BC2A1EC-2CA7-6977-ABB8-87D823A333DD}"/>
              </a:ext>
            </a:extLst>
          </p:cNvPr>
          <p:cNvSpPr txBox="1"/>
          <p:nvPr/>
        </p:nvSpPr>
        <p:spPr>
          <a:xfrm>
            <a:off x="259600" y="1727752"/>
            <a:ext cx="3881371" cy="1603003"/>
          </a:xfrm>
          <a:prstGeom prst="rect">
            <a:avLst/>
          </a:prstGeom>
          <a:noFill/>
        </p:spPr>
        <p:txBody>
          <a:bodyPr wrap="square">
            <a:spAutoFit/>
          </a:bodyPr>
          <a:lstStyle/>
          <a:p>
            <a:pPr marL="285750" indent="-285750">
              <a:lnSpc>
                <a:spcPct val="125000"/>
              </a:lnSpc>
              <a:buFont typeface="Wingdings" panose="05000000000000000000" pitchFamily="2" charset="2"/>
              <a:buChar char="p"/>
            </a:pPr>
            <a:r>
              <a:rPr lang="en-US" altLang="zh-CN" sz="1600" dirty="0">
                <a:latin typeface="Times New Roman" panose="02020603050405020304" pitchFamily="18" charset="0"/>
                <a:ea typeface="微软雅黑" panose="020B0503020204020204" pitchFamily="34" charset="-122"/>
              </a:rPr>
              <a:t>2020</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5</a:t>
            </a:r>
            <a:r>
              <a:rPr lang="zh-CN" altLang="en-US" sz="1600" dirty="0">
                <a:latin typeface="Times New Roman" panose="02020603050405020304" pitchFamily="18" charset="0"/>
                <a:ea typeface="微软雅黑" panose="020B0503020204020204" pitchFamily="34" charset="-122"/>
              </a:rPr>
              <a:t>月通过，</a:t>
            </a:r>
            <a:r>
              <a:rPr lang="en-US" altLang="zh-CN" sz="1600" dirty="0">
                <a:latin typeface="Times New Roman" panose="02020603050405020304" pitchFamily="18" charset="0"/>
                <a:ea typeface="微软雅黑" panose="020B0503020204020204" pitchFamily="34" charset="-122"/>
              </a:rPr>
              <a:t>2021</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1</a:t>
            </a:r>
            <a:r>
              <a:rPr lang="zh-CN" altLang="en-US" sz="1600" dirty="0">
                <a:latin typeface="Times New Roman" panose="02020603050405020304" pitchFamily="18" charset="0"/>
                <a:ea typeface="微软雅黑" panose="020B0503020204020204" pitchFamily="34" charset="-122"/>
              </a:rPr>
              <a:t>月</a:t>
            </a:r>
            <a:r>
              <a:rPr lang="en-US" altLang="zh-CN" sz="1600" dirty="0">
                <a:latin typeface="Times New Roman" panose="02020603050405020304" pitchFamily="18" charset="0"/>
                <a:ea typeface="微软雅黑" panose="020B0503020204020204" pitchFamily="34" charset="-122"/>
              </a:rPr>
              <a:t>1</a:t>
            </a:r>
            <a:r>
              <a:rPr lang="zh-CN" altLang="en-US" sz="1600" dirty="0">
                <a:latin typeface="Times New Roman" panose="02020603050405020304" pitchFamily="18" charset="0"/>
                <a:ea typeface="微软雅黑" panose="020B0503020204020204" pitchFamily="34" charset="-122"/>
              </a:rPr>
              <a:t>日施行</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首次以基本法律形式规定人体基因、人体胚胎相关活动</a:t>
            </a: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“不得危害人体健康，不得违背伦理道德，不得损害公共利益”</a:t>
            </a:r>
          </a:p>
        </p:txBody>
      </p:sp>
      <p:grpSp>
        <p:nvGrpSpPr>
          <p:cNvPr id="38" name="组合 37">
            <a:extLst>
              <a:ext uri="{FF2B5EF4-FFF2-40B4-BE49-F238E27FC236}">
                <a16:creationId xmlns:a16="http://schemas.microsoft.com/office/drawing/2014/main" id="{E7DBC2CB-6E96-3579-3938-CEA72E5AAFC2}"/>
              </a:ext>
            </a:extLst>
          </p:cNvPr>
          <p:cNvGrpSpPr/>
          <p:nvPr/>
        </p:nvGrpSpPr>
        <p:grpSpPr>
          <a:xfrm>
            <a:off x="676899" y="1142805"/>
            <a:ext cx="3046773" cy="443172"/>
            <a:chOff x="618178" y="1237146"/>
            <a:chExt cx="3046773" cy="443172"/>
          </a:xfrm>
        </p:grpSpPr>
        <p:sp>
          <p:nvSpPr>
            <p:cNvPr id="19" name="矩形: 圆角 18">
              <a:extLst>
                <a:ext uri="{FF2B5EF4-FFF2-40B4-BE49-F238E27FC236}">
                  <a16:creationId xmlns:a16="http://schemas.microsoft.com/office/drawing/2014/main" id="{608FA8CB-D2A6-B71A-729B-53AAAC3F5164}"/>
                </a:ext>
              </a:extLst>
            </p:cNvPr>
            <p:cNvSpPr/>
            <p:nvPr/>
          </p:nvSpPr>
          <p:spPr>
            <a:xfrm rot="5400000">
              <a:off x="1919979" y="-64655"/>
              <a:ext cx="443172" cy="3046773"/>
            </a:xfrm>
            <a:prstGeom prst="roundRect">
              <a:avLst/>
            </a:prstGeom>
            <a:solidFill>
              <a:srgbClr val="EEEFEF"/>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20" name="文本框 19">
              <a:extLst>
                <a:ext uri="{FF2B5EF4-FFF2-40B4-BE49-F238E27FC236}">
                  <a16:creationId xmlns:a16="http://schemas.microsoft.com/office/drawing/2014/main" id="{0AD0BDF4-313E-B852-808F-530AE17F6324}"/>
                </a:ext>
              </a:extLst>
            </p:cNvPr>
            <p:cNvSpPr txBox="1"/>
            <p:nvPr/>
          </p:nvSpPr>
          <p:spPr>
            <a:xfrm>
              <a:off x="721759" y="1255342"/>
              <a:ext cx="2839612" cy="406778"/>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民法典</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第一千零九条</a:t>
              </a:r>
            </a:p>
          </p:txBody>
        </p:sp>
      </p:grpSp>
      <p:sp>
        <p:nvSpPr>
          <p:cNvPr id="24"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C110E08C-83E0-59FB-2C6B-D0B9FA0269CB}"/>
              </a:ext>
            </a:extLst>
          </p:cNvPr>
          <p:cNvSpPr/>
          <p:nvPr>
            <p:custDataLst>
              <p:tags r:id="rId2"/>
            </p:custDataLst>
          </p:nvPr>
        </p:nvSpPr>
        <p:spPr>
          <a:xfrm>
            <a:off x="8067981" y="945827"/>
            <a:ext cx="3933524" cy="2254574"/>
          </a:xfrm>
          <a:prstGeom prst="roundRect">
            <a:avLst>
              <a:gd name="adj" fmla="val 5551"/>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25" name="文本框 24">
            <a:extLst>
              <a:ext uri="{FF2B5EF4-FFF2-40B4-BE49-F238E27FC236}">
                <a16:creationId xmlns:a16="http://schemas.microsoft.com/office/drawing/2014/main" id="{915F4B90-04E6-D997-9B6F-7BAADD50F70E}"/>
              </a:ext>
            </a:extLst>
          </p:cNvPr>
          <p:cNvSpPr txBox="1"/>
          <p:nvPr/>
        </p:nvSpPr>
        <p:spPr>
          <a:xfrm>
            <a:off x="8094058" y="1519254"/>
            <a:ext cx="3881371" cy="1603003"/>
          </a:xfrm>
          <a:prstGeom prst="rect">
            <a:avLst/>
          </a:prstGeom>
          <a:noFill/>
        </p:spPr>
        <p:txBody>
          <a:bodyPr wrap="square">
            <a:spAutoFit/>
          </a:bodyPr>
          <a:lstStyle/>
          <a:p>
            <a:pPr marL="285750" indent="-285750">
              <a:lnSpc>
                <a:spcPct val="125000"/>
              </a:lnSpc>
              <a:buFont typeface="Wingdings" panose="05000000000000000000" pitchFamily="2" charset="2"/>
              <a:buChar char="p"/>
            </a:pPr>
            <a:r>
              <a:rPr lang="en-US" altLang="zh-CN" sz="1600" dirty="0">
                <a:latin typeface="Times New Roman" panose="02020603050405020304" pitchFamily="18" charset="0"/>
                <a:ea typeface="微软雅黑" panose="020B0503020204020204" pitchFamily="34" charset="-122"/>
              </a:rPr>
              <a:t>2020</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12</a:t>
            </a:r>
            <a:r>
              <a:rPr lang="zh-CN" altLang="en-US" sz="1600" dirty="0">
                <a:latin typeface="Times New Roman" panose="02020603050405020304" pitchFamily="18" charset="0"/>
                <a:ea typeface="微软雅黑" panose="020B0503020204020204" pitchFamily="34" charset="-122"/>
              </a:rPr>
              <a:t>月通过，</a:t>
            </a:r>
            <a:r>
              <a:rPr lang="en-US" altLang="zh-CN" sz="1600" dirty="0">
                <a:latin typeface="Times New Roman" panose="02020603050405020304" pitchFamily="18" charset="0"/>
                <a:ea typeface="微软雅黑" panose="020B0503020204020204" pitchFamily="34" charset="-122"/>
              </a:rPr>
              <a:t>2021</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3</a:t>
            </a:r>
            <a:r>
              <a:rPr lang="zh-CN" altLang="en-US" sz="1600" dirty="0">
                <a:latin typeface="Times New Roman" panose="02020603050405020304" pitchFamily="18" charset="0"/>
                <a:ea typeface="微软雅黑" panose="020B0503020204020204" pitchFamily="34" charset="-122"/>
              </a:rPr>
              <a:t>月</a:t>
            </a:r>
            <a:r>
              <a:rPr lang="en-US" altLang="zh-CN" sz="1600" dirty="0">
                <a:latin typeface="Times New Roman" panose="02020603050405020304" pitchFamily="18" charset="0"/>
                <a:ea typeface="微软雅黑" panose="020B0503020204020204" pitchFamily="34" charset="-122"/>
              </a:rPr>
              <a:t>1</a:t>
            </a:r>
            <a:r>
              <a:rPr lang="zh-CN" altLang="en-US" sz="1600" dirty="0">
                <a:latin typeface="Times New Roman" panose="02020603050405020304" pitchFamily="18" charset="0"/>
                <a:ea typeface="微软雅黑" panose="020B0503020204020204" pitchFamily="34" charset="-122"/>
              </a:rPr>
              <a:t>日施行</a:t>
            </a: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增设“非法植入基因编辑、克隆胚胎罪”</a:t>
            </a: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与</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生物安全法</a:t>
            </a:r>
            <a:r>
              <a:rPr lang="en-US" altLang="zh-CN" sz="1600" dirty="0">
                <a:latin typeface="Times New Roman" panose="02020603050405020304" pitchFamily="18" charset="0"/>
                <a:ea typeface="微软雅黑" panose="020B0503020204020204" pitchFamily="34" charset="-122"/>
              </a:rPr>
              <a:t>》</a:t>
            </a:r>
            <a:r>
              <a:rPr lang="zh-CN" altLang="en-US" sz="1600" dirty="0">
                <a:latin typeface="Times New Roman" panose="02020603050405020304" pitchFamily="18" charset="0"/>
                <a:ea typeface="微软雅黑" panose="020B0503020204020204" pitchFamily="34" charset="-122"/>
              </a:rPr>
              <a:t>衔接，增加规定了三类生物安全相关犯罪行为。</a:t>
            </a:r>
          </a:p>
        </p:txBody>
      </p:sp>
      <p:grpSp>
        <p:nvGrpSpPr>
          <p:cNvPr id="45" name="组合 44">
            <a:extLst>
              <a:ext uri="{FF2B5EF4-FFF2-40B4-BE49-F238E27FC236}">
                <a16:creationId xmlns:a16="http://schemas.microsoft.com/office/drawing/2014/main" id="{D42529C1-314A-489C-5E79-2F682BF8BD45}"/>
              </a:ext>
            </a:extLst>
          </p:cNvPr>
          <p:cNvGrpSpPr/>
          <p:nvPr/>
        </p:nvGrpSpPr>
        <p:grpSpPr>
          <a:xfrm>
            <a:off x="8511357" y="1017694"/>
            <a:ext cx="3046773" cy="443172"/>
            <a:chOff x="8279880" y="1010437"/>
            <a:chExt cx="3046773" cy="443172"/>
          </a:xfrm>
        </p:grpSpPr>
        <p:sp>
          <p:nvSpPr>
            <p:cNvPr id="27" name="矩形: 圆角 26">
              <a:extLst>
                <a:ext uri="{FF2B5EF4-FFF2-40B4-BE49-F238E27FC236}">
                  <a16:creationId xmlns:a16="http://schemas.microsoft.com/office/drawing/2014/main" id="{4E0C85AA-11CE-64F1-2E2A-FF9936B52721}"/>
                </a:ext>
              </a:extLst>
            </p:cNvPr>
            <p:cNvSpPr/>
            <p:nvPr/>
          </p:nvSpPr>
          <p:spPr>
            <a:xfrm rot="5400000">
              <a:off x="9581681" y="-291364"/>
              <a:ext cx="443172" cy="3046773"/>
            </a:xfrm>
            <a:prstGeom prst="roundRect">
              <a:avLst/>
            </a:prstGeom>
            <a:solidFill>
              <a:srgbClr val="8AB1CE"/>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28" name="文本框 27">
              <a:extLst>
                <a:ext uri="{FF2B5EF4-FFF2-40B4-BE49-F238E27FC236}">
                  <a16:creationId xmlns:a16="http://schemas.microsoft.com/office/drawing/2014/main" id="{82A1A8F9-EC2D-BC6A-6DE0-7CC782AD3071}"/>
                </a:ext>
              </a:extLst>
            </p:cNvPr>
            <p:cNvSpPr txBox="1"/>
            <p:nvPr/>
          </p:nvSpPr>
          <p:spPr>
            <a:xfrm>
              <a:off x="8383461" y="1028633"/>
              <a:ext cx="2839612" cy="406778"/>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刑法修正案（十一）</a:t>
              </a:r>
              <a:r>
                <a:rPr lang="en-US" altLang="zh-CN" b="1" dirty="0">
                  <a:latin typeface="Times New Roman" panose="02020603050405020304" pitchFamily="18" charset="0"/>
                  <a:ea typeface="微软雅黑" panose="020B0503020204020204" pitchFamily="34" charset="-122"/>
                </a:rPr>
                <a:t>》</a:t>
              </a:r>
            </a:p>
          </p:txBody>
        </p:sp>
      </p:grpSp>
      <p:sp>
        <p:nvSpPr>
          <p:cNvPr id="29"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1395DCA2-54BA-8100-81DE-6D8A944697C2}"/>
              </a:ext>
            </a:extLst>
          </p:cNvPr>
          <p:cNvSpPr/>
          <p:nvPr>
            <p:custDataLst>
              <p:tags r:id="rId3"/>
            </p:custDataLst>
          </p:nvPr>
        </p:nvSpPr>
        <p:spPr>
          <a:xfrm>
            <a:off x="8067981" y="3311323"/>
            <a:ext cx="3933524" cy="1565477"/>
          </a:xfrm>
          <a:prstGeom prst="roundRect">
            <a:avLst>
              <a:gd name="adj" fmla="val 5551"/>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30" name="文本框 29">
            <a:extLst>
              <a:ext uri="{FF2B5EF4-FFF2-40B4-BE49-F238E27FC236}">
                <a16:creationId xmlns:a16="http://schemas.microsoft.com/office/drawing/2014/main" id="{5F2842DE-E17B-BFF3-D0A4-C748F7A00075}"/>
              </a:ext>
            </a:extLst>
          </p:cNvPr>
          <p:cNvSpPr txBox="1"/>
          <p:nvPr/>
        </p:nvSpPr>
        <p:spPr>
          <a:xfrm>
            <a:off x="8094058" y="3823858"/>
            <a:ext cx="3881371" cy="987450"/>
          </a:xfrm>
          <a:prstGeom prst="rect">
            <a:avLst/>
          </a:prstGeom>
          <a:noFill/>
        </p:spPr>
        <p:txBody>
          <a:bodyPr wrap="square">
            <a:spAutoFit/>
          </a:bodyPr>
          <a:lstStyle/>
          <a:p>
            <a:pPr marL="285750" indent="-285750">
              <a:lnSpc>
                <a:spcPct val="125000"/>
              </a:lnSpc>
              <a:buFont typeface="Wingdings" panose="05000000000000000000" pitchFamily="2" charset="2"/>
              <a:buChar char="p"/>
            </a:pPr>
            <a:r>
              <a:rPr lang="en-US" altLang="zh-CN" sz="1600" dirty="0">
                <a:latin typeface="Times New Roman" panose="02020603050405020304" pitchFamily="18" charset="0"/>
                <a:ea typeface="微软雅黑" panose="020B0503020204020204" pitchFamily="34" charset="-122"/>
              </a:rPr>
              <a:t>2021</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12</a:t>
            </a:r>
            <a:r>
              <a:rPr lang="zh-CN" altLang="en-US" sz="1600" dirty="0">
                <a:latin typeface="Times New Roman" panose="02020603050405020304" pitchFamily="18" charset="0"/>
                <a:ea typeface="微软雅黑" panose="020B0503020204020204" pitchFamily="34" charset="-122"/>
              </a:rPr>
              <a:t>月</a:t>
            </a:r>
            <a:r>
              <a:rPr lang="en-US" altLang="zh-CN" sz="1600" dirty="0">
                <a:latin typeface="Times New Roman" panose="02020603050405020304" pitchFamily="18" charset="0"/>
                <a:ea typeface="微软雅黑" panose="020B0503020204020204" pitchFamily="34" charset="-122"/>
              </a:rPr>
              <a:t>24</a:t>
            </a:r>
            <a:r>
              <a:rPr lang="zh-CN" altLang="en-US" sz="1600" dirty="0">
                <a:latin typeface="Times New Roman" panose="02020603050405020304" pitchFamily="18" charset="0"/>
                <a:ea typeface="微软雅黑" panose="020B0503020204020204" pitchFamily="34" charset="-122"/>
              </a:rPr>
              <a:t>日修订</a:t>
            </a: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第九十八条明确“健全科技伦理治理体制”</a:t>
            </a:r>
          </a:p>
        </p:txBody>
      </p:sp>
      <p:grpSp>
        <p:nvGrpSpPr>
          <p:cNvPr id="46" name="组合 45">
            <a:extLst>
              <a:ext uri="{FF2B5EF4-FFF2-40B4-BE49-F238E27FC236}">
                <a16:creationId xmlns:a16="http://schemas.microsoft.com/office/drawing/2014/main" id="{E47ACE13-FC03-0B7E-BC50-EFA48888AAD9}"/>
              </a:ext>
            </a:extLst>
          </p:cNvPr>
          <p:cNvGrpSpPr/>
          <p:nvPr/>
        </p:nvGrpSpPr>
        <p:grpSpPr>
          <a:xfrm>
            <a:off x="8511357" y="3404268"/>
            <a:ext cx="3046773" cy="443172"/>
            <a:chOff x="8279880" y="3582097"/>
            <a:chExt cx="3046773" cy="443172"/>
          </a:xfrm>
        </p:grpSpPr>
        <p:sp>
          <p:nvSpPr>
            <p:cNvPr id="31" name="矩形: 圆角 30">
              <a:extLst>
                <a:ext uri="{FF2B5EF4-FFF2-40B4-BE49-F238E27FC236}">
                  <a16:creationId xmlns:a16="http://schemas.microsoft.com/office/drawing/2014/main" id="{357D2609-AC4A-3C79-BE17-D99C674CC9B3}"/>
                </a:ext>
              </a:extLst>
            </p:cNvPr>
            <p:cNvSpPr/>
            <p:nvPr/>
          </p:nvSpPr>
          <p:spPr>
            <a:xfrm rot="5400000">
              <a:off x="9581681" y="2280296"/>
              <a:ext cx="443172" cy="3046773"/>
            </a:xfrm>
            <a:prstGeom prst="roundRect">
              <a:avLst/>
            </a:prstGeom>
            <a:solidFill>
              <a:srgbClr val="6691C0"/>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32" name="文本框 31">
              <a:extLst>
                <a:ext uri="{FF2B5EF4-FFF2-40B4-BE49-F238E27FC236}">
                  <a16:creationId xmlns:a16="http://schemas.microsoft.com/office/drawing/2014/main" id="{42A532E1-4159-70AE-CF6C-F59950224E6E}"/>
                </a:ext>
              </a:extLst>
            </p:cNvPr>
            <p:cNvSpPr txBox="1"/>
            <p:nvPr/>
          </p:nvSpPr>
          <p:spPr>
            <a:xfrm>
              <a:off x="8383461" y="3600293"/>
              <a:ext cx="2839612" cy="406778"/>
            </a:xfrm>
            <a:prstGeom prst="rect">
              <a:avLst/>
            </a:prstGeom>
            <a:noFill/>
          </p:spPr>
          <p:txBody>
            <a:bodyPr wrap="square">
              <a:spAutoFit/>
            </a:bodyPr>
            <a:lstStyle/>
            <a:p>
              <a:pPr algn="ctr">
                <a:lnSpc>
                  <a:spcPct val="125000"/>
                </a:lnSpc>
              </a:pPr>
              <a:r>
                <a:rPr lang="en-US" altLang="zh-CN" b="1" dirty="0">
                  <a:solidFill>
                    <a:schemeClr val="bg1"/>
                  </a:solidFill>
                  <a:latin typeface="Times New Roman" panose="02020603050405020304" pitchFamily="18" charset="0"/>
                  <a:ea typeface="微软雅黑" panose="020B0503020204020204" pitchFamily="34" charset="-122"/>
                </a:rPr>
                <a:t>《</a:t>
              </a:r>
              <a:r>
                <a:rPr lang="zh-CN" altLang="en-US" b="1" dirty="0">
                  <a:solidFill>
                    <a:schemeClr val="bg1"/>
                  </a:solidFill>
                  <a:latin typeface="Times New Roman" panose="02020603050405020304" pitchFamily="18" charset="0"/>
                  <a:ea typeface="微软雅黑" panose="020B0503020204020204" pitchFamily="34" charset="-122"/>
                </a:rPr>
                <a:t>科学技术进步法</a:t>
              </a:r>
              <a:r>
                <a:rPr lang="en-US" altLang="zh-CN" b="1" dirty="0">
                  <a:solidFill>
                    <a:schemeClr val="bg1"/>
                  </a:solidFill>
                  <a:latin typeface="Times New Roman" panose="02020603050405020304" pitchFamily="18" charset="0"/>
                  <a:ea typeface="微软雅黑" panose="020B0503020204020204" pitchFamily="34" charset="-122"/>
                </a:rPr>
                <a:t>》</a:t>
              </a:r>
            </a:p>
          </p:txBody>
        </p:sp>
      </p:grpSp>
      <p:sp>
        <p:nvSpPr>
          <p:cNvPr id="33"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0535C722-4A09-9DA9-A66E-6D5FEC83840C}"/>
              </a:ext>
            </a:extLst>
          </p:cNvPr>
          <p:cNvSpPr/>
          <p:nvPr>
            <p:custDataLst>
              <p:tags r:id="rId4"/>
            </p:custDataLst>
          </p:nvPr>
        </p:nvSpPr>
        <p:spPr>
          <a:xfrm>
            <a:off x="8067981" y="4964091"/>
            <a:ext cx="3933524" cy="1708320"/>
          </a:xfrm>
          <a:prstGeom prst="roundRect">
            <a:avLst>
              <a:gd name="adj" fmla="val 5551"/>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35" name="文本框 34">
            <a:extLst>
              <a:ext uri="{FF2B5EF4-FFF2-40B4-BE49-F238E27FC236}">
                <a16:creationId xmlns:a16="http://schemas.microsoft.com/office/drawing/2014/main" id="{4A2EAA56-A3FB-BCD1-4078-21ECF6B335E1}"/>
              </a:ext>
            </a:extLst>
          </p:cNvPr>
          <p:cNvSpPr txBox="1"/>
          <p:nvPr/>
        </p:nvSpPr>
        <p:spPr>
          <a:xfrm>
            <a:off x="8094058" y="5573803"/>
            <a:ext cx="3881371" cy="987450"/>
          </a:xfrm>
          <a:prstGeom prst="rect">
            <a:avLst/>
          </a:prstGeom>
          <a:noFill/>
        </p:spPr>
        <p:txBody>
          <a:bodyPr wrap="square">
            <a:spAutoFit/>
          </a:bodyPr>
          <a:lstStyle/>
          <a:p>
            <a:pPr marL="285750" indent="-285750">
              <a:lnSpc>
                <a:spcPct val="125000"/>
              </a:lnSpc>
              <a:buFont typeface="Wingdings" panose="05000000000000000000" pitchFamily="2" charset="2"/>
              <a:buChar char="p"/>
            </a:pPr>
            <a:r>
              <a:rPr lang="en-US" altLang="zh-CN" sz="1600" dirty="0">
                <a:latin typeface="Times New Roman" panose="02020603050405020304" pitchFamily="18" charset="0"/>
                <a:ea typeface="微软雅黑" panose="020B0503020204020204" pitchFamily="34" charset="-122"/>
              </a:rPr>
              <a:t>2022</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3</a:t>
            </a:r>
            <a:r>
              <a:rPr lang="zh-CN" altLang="en-US" sz="1600" dirty="0">
                <a:latin typeface="Times New Roman" panose="02020603050405020304" pitchFamily="18" charset="0"/>
                <a:ea typeface="微软雅黑" panose="020B0503020204020204" pitchFamily="34" charset="-122"/>
              </a:rPr>
              <a:t>月印发</a:t>
            </a: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提出“伦理先行、依法依规、敏捷治理”等要求</a:t>
            </a:r>
          </a:p>
        </p:txBody>
      </p:sp>
      <p:grpSp>
        <p:nvGrpSpPr>
          <p:cNvPr id="47" name="组合 46">
            <a:extLst>
              <a:ext uri="{FF2B5EF4-FFF2-40B4-BE49-F238E27FC236}">
                <a16:creationId xmlns:a16="http://schemas.microsoft.com/office/drawing/2014/main" id="{7F88AF96-5C7B-EF04-C21D-996B0AB9E5DF}"/>
              </a:ext>
            </a:extLst>
          </p:cNvPr>
          <p:cNvGrpSpPr/>
          <p:nvPr/>
        </p:nvGrpSpPr>
        <p:grpSpPr>
          <a:xfrm>
            <a:off x="8511357" y="5062061"/>
            <a:ext cx="3046773" cy="443171"/>
            <a:chOff x="4522292" y="5417661"/>
            <a:chExt cx="3046773" cy="443171"/>
          </a:xfrm>
        </p:grpSpPr>
        <p:sp>
          <p:nvSpPr>
            <p:cNvPr id="36" name="矩形: 圆角 35">
              <a:extLst>
                <a:ext uri="{FF2B5EF4-FFF2-40B4-BE49-F238E27FC236}">
                  <a16:creationId xmlns:a16="http://schemas.microsoft.com/office/drawing/2014/main" id="{9C6AAF4B-37CE-0372-4C21-BF9D34A5EE37}"/>
                </a:ext>
              </a:extLst>
            </p:cNvPr>
            <p:cNvSpPr/>
            <p:nvPr/>
          </p:nvSpPr>
          <p:spPr>
            <a:xfrm rot="5400000">
              <a:off x="5824093" y="4115860"/>
              <a:ext cx="443171" cy="3046773"/>
            </a:xfrm>
            <a:prstGeom prst="roundRect">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37" name="文本框 36">
              <a:extLst>
                <a:ext uri="{FF2B5EF4-FFF2-40B4-BE49-F238E27FC236}">
                  <a16:creationId xmlns:a16="http://schemas.microsoft.com/office/drawing/2014/main" id="{CFFBF49E-9520-5375-FD99-4607367045CC}"/>
                </a:ext>
              </a:extLst>
            </p:cNvPr>
            <p:cNvSpPr txBox="1"/>
            <p:nvPr/>
          </p:nvSpPr>
          <p:spPr>
            <a:xfrm>
              <a:off x="4525047" y="5453298"/>
              <a:ext cx="3041263" cy="371897"/>
            </a:xfrm>
            <a:prstGeom prst="rect">
              <a:avLst/>
            </a:prstGeom>
            <a:noFill/>
          </p:spPr>
          <p:txBody>
            <a:bodyPr wrap="square">
              <a:spAutoFit/>
            </a:bodyPr>
            <a:lstStyle/>
            <a:p>
              <a:pPr algn="ctr">
                <a:lnSpc>
                  <a:spcPct val="125000"/>
                </a:lnSpc>
              </a:pPr>
              <a:r>
                <a:rPr lang="en-US" altLang="zh-CN" sz="1600" b="1" dirty="0">
                  <a:solidFill>
                    <a:schemeClr val="bg1"/>
                  </a:solidFill>
                  <a:latin typeface="Times New Roman" panose="02020603050405020304" pitchFamily="18" charset="0"/>
                  <a:ea typeface="微软雅黑" panose="020B0503020204020204" pitchFamily="34" charset="-122"/>
                </a:rPr>
                <a:t>《</a:t>
              </a:r>
              <a:r>
                <a:rPr lang="zh-CN" altLang="en-US" sz="1600" b="1" dirty="0">
                  <a:solidFill>
                    <a:schemeClr val="bg1"/>
                  </a:solidFill>
                  <a:latin typeface="Times New Roman" panose="02020603050405020304" pitchFamily="18" charset="0"/>
                  <a:ea typeface="微软雅黑" panose="020B0503020204020204" pitchFamily="34" charset="-122"/>
                </a:rPr>
                <a:t>关于加强科技伦理治理的意见</a:t>
              </a:r>
              <a:r>
                <a:rPr lang="en-US" altLang="zh-CN" sz="1600" b="1" dirty="0">
                  <a:solidFill>
                    <a:schemeClr val="bg1"/>
                  </a:solidFill>
                  <a:latin typeface="Times New Roman" panose="02020603050405020304" pitchFamily="18" charset="0"/>
                  <a:ea typeface="微软雅黑" panose="020B0503020204020204" pitchFamily="34" charset="-122"/>
                </a:rPr>
                <a:t>》</a:t>
              </a:r>
            </a:p>
          </p:txBody>
        </p:sp>
      </p:grpSp>
      <p:sp>
        <p:nvSpPr>
          <p:cNvPr id="39"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7A85868C-EF75-E363-9B60-E153A443E283}"/>
              </a:ext>
            </a:extLst>
          </p:cNvPr>
          <p:cNvSpPr/>
          <p:nvPr>
            <p:custDataLst>
              <p:tags r:id="rId5"/>
            </p:custDataLst>
          </p:nvPr>
        </p:nvSpPr>
        <p:spPr>
          <a:xfrm>
            <a:off x="207447" y="3716250"/>
            <a:ext cx="3933524" cy="2956161"/>
          </a:xfrm>
          <a:prstGeom prst="roundRect">
            <a:avLst>
              <a:gd name="adj" fmla="val 5551"/>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40" name="文本框 39">
            <a:extLst>
              <a:ext uri="{FF2B5EF4-FFF2-40B4-BE49-F238E27FC236}">
                <a16:creationId xmlns:a16="http://schemas.microsoft.com/office/drawing/2014/main" id="{42A8058F-1BC4-F4BE-C4FE-E79CAB98DE97}"/>
              </a:ext>
            </a:extLst>
          </p:cNvPr>
          <p:cNvSpPr txBox="1"/>
          <p:nvPr/>
        </p:nvSpPr>
        <p:spPr>
          <a:xfrm>
            <a:off x="233524" y="4384019"/>
            <a:ext cx="3881371" cy="2218556"/>
          </a:xfrm>
          <a:prstGeom prst="rect">
            <a:avLst/>
          </a:prstGeom>
          <a:noFill/>
        </p:spPr>
        <p:txBody>
          <a:bodyPr wrap="square">
            <a:spAutoFit/>
          </a:bodyPr>
          <a:lstStyle/>
          <a:p>
            <a:pPr marL="285750" indent="-285750">
              <a:lnSpc>
                <a:spcPct val="125000"/>
              </a:lnSpc>
              <a:buFont typeface="Wingdings" panose="05000000000000000000" pitchFamily="2" charset="2"/>
              <a:buChar char="p"/>
            </a:pPr>
            <a:r>
              <a:rPr lang="en-US" altLang="zh-CN" sz="1600" dirty="0">
                <a:latin typeface="Times New Roman" panose="02020603050405020304" pitchFamily="18" charset="0"/>
                <a:ea typeface="微软雅黑" panose="020B0503020204020204" pitchFamily="34" charset="-122"/>
              </a:rPr>
              <a:t>2020</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10</a:t>
            </a:r>
            <a:r>
              <a:rPr lang="zh-CN" altLang="en-US" sz="1600" dirty="0">
                <a:latin typeface="Times New Roman" panose="02020603050405020304" pitchFamily="18" charset="0"/>
                <a:ea typeface="微软雅黑" panose="020B0503020204020204" pitchFamily="34" charset="-122"/>
              </a:rPr>
              <a:t>月</a:t>
            </a:r>
            <a:r>
              <a:rPr lang="en-US" altLang="zh-CN" sz="1600" dirty="0">
                <a:latin typeface="Times New Roman" panose="02020603050405020304" pitchFamily="18" charset="0"/>
                <a:ea typeface="微软雅黑" panose="020B0503020204020204" pitchFamily="34" charset="-122"/>
              </a:rPr>
              <a:t>17</a:t>
            </a:r>
            <a:r>
              <a:rPr lang="zh-CN" altLang="en-US" sz="1600" dirty="0">
                <a:latin typeface="Times New Roman" panose="02020603050405020304" pitchFamily="18" charset="0"/>
                <a:ea typeface="微软雅黑" panose="020B0503020204020204" pitchFamily="34" charset="-122"/>
              </a:rPr>
              <a:t>日通过，</a:t>
            </a:r>
            <a:r>
              <a:rPr lang="en-US" altLang="zh-CN" sz="1600" dirty="0">
                <a:latin typeface="Times New Roman" panose="02020603050405020304" pitchFamily="18" charset="0"/>
                <a:ea typeface="微软雅黑" panose="020B0503020204020204" pitchFamily="34" charset="-122"/>
              </a:rPr>
              <a:t>2024</a:t>
            </a:r>
            <a:r>
              <a:rPr lang="zh-CN" altLang="en-US" sz="1600" dirty="0">
                <a:latin typeface="Times New Roman" panose="02020603050405020304" pitchFamily="18" charset="0"/>
                <a:ea typeface="微软雅黑" panose="020B0503020204020204" pitchFamily="34" charset="-122"/>
              </a:rPr>
              <a:t>年</a:t>
            </a:r>
            <a:r>
              <a:rPr lang="en-US" altLang="zh-CN" sz="1600" dirty="0">
                <a:latin typeface="Times New Roman" panose="02020603050405020304" pitchFamily="18" charset="0"/>
                <a:ea typeface="微软雅黑" panose="020B0503020204020204" pitchFamily="34" charset="-122"/>
              </a:rPr>
              <a:t>4</a:t>
            </a:r>
            <a:r>
              <a:rPr lang="zh-CN" altLang="en-US" sz="1600" dirty="0">
                <a:latin typeface="Times New Roman" panose="02020603050405020304" pitchFamily="18" charset="0"/>
                <a:ea typeface="微软雅黑" panose="020B0503020204020204" pitchFamily="34" charset="-122"/>
              </a:rPr>
              <a:t>月修正</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将“生物技术研究、开发与应用”纳入适用范</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“以人为本、风险预防、分类管理、协同配合”原则 </a:t>
            </a:r>
            <a:endParaRPr lang="en-US" altLang="zh-CN" sz="1600" dirty="0">
              <a:latin typeface="Times New Roman" panose="02020603050405020304" pitchFamily="18" charset="0"/>
              <a:ea typeface="微软雅黑" panose="020B0503020204020204" pitchFamily="34" charset="-122"/>
            </a:endParaRPr>
          </a:p>
          <a:p>
            <a:pPr marL="285750" indent="-285750">
              <a:lnSpc>
                <a:spcPct val="125000"/>
              </a:lnSpc>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rPr>
              <a:t>设有“人类遗传资源与生物资源安全”专章</a:t>
            </a:r>
          </a:p>
        </p:txBody>
      </p:sp>
      <p:grpSp>
        <p:nvGrpSpPr>
          <p:cNvPr id="43" name="组合 42">
            <a:extLst>
              <a:ext uri="{FF2B5EF4-FFF2-40B4-BE49-F238E27FC236}">
                <a16:creationId xmlns:a16="http://schemas.microsoft.com/office/drawing/2014/main" id="{13A66FE6-9B0D-4D09-F75D-6F117583B0E3}"/>
              </a:ext>
            </a:extLst>
          </p:cNvPr>
          <p:cNvGrpSpPr/>
          <p:nvPr/>
        </p:nvGrpSpPr>
        <p:grpSpPr>
          <a:xfrm>
            <a:off x="650822" y="3853431"/>
            <a:ext cx="3046773" cy="443172"/>
            <a:chOff x="766934" y="3908419"/>
            <a:chExt cx="3046773" cy="443172"/>
          </a:xfrm>
        </p:grpSpPr>
        <p:sp>
          <p:nvSpPr>
            <p:cNvPr id="41" name="矩形: 圆角 40">
              <a:extLst>
                <a:ext uri="{FF2B5EF4-FFF2-40B4-BE49-F238E27FC236}">
                  <a16:creationId xmlns:a16="http://schemas.microsoft.com/office/drawing/2014/main" id="{459C7B0B-1A36-2904-EBA1-28C4C4FB2871}"/>
                </a:ext>
              </a:extLst>
            </p:cNvPr>
            <p:cNvSpPr/>
            <p:nvPr/>
          </p:nvSpPr>
          <p:spPr>
            <a:xfrm rot="5400000">
              <a:off x="2068735" y="2606618"/>
              <a:ext cx="443172" cy="3046773"/>
            </a:xfrm>
            <a:prstGeom prst="roundRect">
              <a:avLst/>
            </a:prstGeom>
            <a:solidFill>
              <a:srgbClr val="C2CBDF"/>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wrap="square" rtlCol="0" anchor="ctr">
              <a:noAutofit/>
            </a:bodyPr>
            <a:lstStyle/>
            <a:p>
              <a:pPr algn="ctr"/>
              <a:endParaRPr lang="zh-CN" altLang="en-US" dirty="0"/>
            </a:p>
          </p:txBody>
        </p:sp>
        <p:sp>
          <p:nvSpPr>
            <p:cNvPr id="42" name="文本框 41">
              <a:extLst>
                <a:ext uri="{FF2B5EF4-FFF2-40B4-BE49-F238E27FC236}">
                  <a16:creationId xmlns:a16="http://schemas.microsoft.com/office/drawing/2014/main" id="{BBCA6CB1-156B-715F-D92D-AF4FCD7439A6}"/>
                </a:ext>
              </a:extLst>
            </p:cNvPr>
            <p:cNvSpPr txBox="1"/>
            <p:nvPr/>
          </p:nvSpPr>
          <p:spPr>
            <a:xfrm>
              <a:off x="870515" y="3926615"/>
              <a:ext cx="2839612" cy="406778"/>
            </a:xfrm>
            <a:prstGeom prst="rect">
              <a:avLst/>
            </a:prstGeom>
            <a:noFill/>
          </p:spPr>
          <p:txBody>
            <a:bodyPr wrap="square">
              <a:spAutoFit/>
            </a:bodyPr>
            <a:lstStyle/>
            <a:p>
              <a:pPr algn="ctr">
                <a:lnSpc>
                  <a:spcPct val="125000"/>
                </a:lnSpc>
              </a:pP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生物安全法</a:t>
              </a:r>
              <a:r>
                <a:rPr lang="en-US" altLang="zh-CN" b="1" dirty="0">
                  <a:latin typeface="Times New Roman" panose="02020603050405020304" pitchFamily="18" charset="0"/>
                  <a:ea typeface="微软雅黑" panose="020B0503020204020204" pitchFamily="34" charset="-122"/>
                </a:rPr>
                <a:t>》</a:t>
              </a:r>
            </a:p>
          </p:txBody>
        </p:sp>
      </p:grpSp>
      <p:sp>
        <p:nvSpPr>
          <p:cNvPr id="48" name="文本框 47">
            <a:extLst>
              <a:ext uri="{FF2B5EF4-FFF2-40B4-BE49-F238E27FC236}">
                <a16:creationId xmlns:a16="http://schemas.microsoft.com/office/drawing/2014/main" id="{F5046E7B-21E4-3EA1-8619-3E68CF3EDFA9}"/>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EBDFB19D-01AC-AA4A-B59A-F8776148D5B9}"/>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6BAEA61D-7F8B-4115-5016-83C19E03D5FC}"/>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Tree>
    <p:extLst>
      <p:ext uri="{BB962C8B-B14F-4D97-AF65-F5344CB8AC3E}">
        <p14:creationId xmlns:p14="http://schemas.microsoft.com/office/powerpoint/2010/main" val="1640815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41FF5-6EF9-43A4-4328-C343C9434F12}"/>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9B6A932D-C1D6-09A3-A0E9-BBAE9E2F89A5}"/>
              </a:ext>
            </a:extLst>
          </p:cNvPr>
          <p:cNvSpPr/>
          <p:nvPr/>
        </p:nvSpPr>
        <p:spPr>
          <a:xfrm>
            <a:off x="468828" y="1064563"/>
            <a:ext cx="11254344" cy="2008090"/>
          </a:xfrm>
          <a:prstGeom prst="roundRect">
            <a:avLst/>
          </a:prstGeom>
          <a:solidFill>
            <a:schemeClr val="bg1"/>
          </a:solidFill>
          <a:ln w="28575">
            <a:solidFill>
              <a:srgbClr val="0F349D"/>
            </a:solid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D57C6E86-138B-4E83-8A67-E04A6759106F}"/>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A2080E96-E61E-D3C1-38C6-F94FF2FFF707}"/>
                </a:ext>
              </a:extLst>
            </p:cNvPr>
            <p:cNvSpPr/>
            <p:nvPr>
              <p:custDataLst>
                <p:tags r:id="rId2"/>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0E513B4F-F014-DEEE-A361-AFDC33E79E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C79C09C6-39F7-94AF-2C0C-76EEEE28A4CF}"/>
              </a:ext>
            </a:extLst>
          </p:cNvPr>
          <p:cNvSpPr/>
          <p:nvPr/>
        </p:nvSpPr>
        <p:spPr>
          <a:xfrm>
            <a:off x="231292" y="159329"/>
            <a:ext cx="2795126"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E636D8D-2B81-0205-F275-279876EBFDC0}"/>
              </a:ext>
            </a:extLst>
          </p:cNvPr>
          <p:cNvSpPr txBox="1"/>
          <p:nvPr/>
        </p:nvSpPr>
        <p:spPr>
          <a:xfrm>
            <a:off x="231292" y="279704"/>
            <a:ext cx="2915936" cy="43037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人与自然、社会的关系 </a:t>
            </a:r>
          </a:p>
        </p:txBody>
      </p:sp>
      <p:sp>
        <p:nvSpPr>
          <p:cNvPr id="48" name="文本框 47">
            <a:extLst>
              <a:ext uri="{FF2B5EF4-FFF2-40B4-BE49-F238E27FC236}">
                <a16:creationId xmlns:a16="http://schemas.microsoft.com/office/drawing/2014/main" id="{51E4BB91-7013-8F82-87AF-BD289AB8CDB8}"/>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AEA1B246-6625-DF93-81F4-711C15F8154B}"/>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65E29C4A-C805-8156-EA76-4A2AA5CCBF16}"/>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
        <p:nvSpPr>
          <p:cNvPr id="2" name="矩形: 圆角 1">
            <a:extLst>
              <a:ext uri="{FF2B5EF4-FFF2-40B4-BE49-F238E27FC236}">
                <a16:creationId xmlns:a16="http://schemas.microsoft.com/office/drawing/2014/main" id="{9936D333-F84C-854A-6658-43F0B7B68133}"/>
              </a:ext>
            </a:extLst>
          </p:cNvPr>
          <p:cNvSpPr/>
          <p:nvPr/>
        </p:nvSpPr>
        <p:spPr>
          <a:xfrm>
            <a:off x="723885" y="1588232"/>
            <a:ext cx="1100751" cy="960753"/>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理论</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支撑</a:t>
            </a:r>
          </a:p>
        </p:txBody>
      </p:sp>
      <p:sp>
        <p:nvSpPr>
          <p:cNvPr id="5" name="文本框 4">
            <a:extLst>
              <a:ext uri="{FF2B5EF4-FFF2-40B4-BE49-F238E27FC236}">
                <a16:creationId xmlns:a16="http://schemas.microsoft.com/office/drawing/2014/main" id="{D9F67DB2-86CE-5F88-B68F-21EABBBB626B}"/>
              </a:ext>
            </a:extLst>
          </p:cNvPr>
          <p:cNvSpPr txBox="1"/>
          <p:nvPr/>
        </p:nvSpPr>
        <p:spPr>
          <a:xfrm>
            <a:off x="2079693" y="1180641"/>
            <a:ext cx="9388422" cy="1775935"/>
          </a:xfrm>
          <a:prstGeom prst="rect">
            <a:avLst/>
          </a:prstGeom>
          <a:noFill/>
        </p:spPr>
        <p:txBody>
          <a:bodyPr wrap="square">
            <a:spAutoFit/>
          </a:bodyPr>
          <a:lstStyle/>
          <a:p>
            <a:pPr algn="just">
              <a:lnSpc>
                <a:spcPct val="125000"/>
              </a:lnSpc>
            </a:pPr>
            <a:r>
              <a:rPr lang="zh-CN" altLang="en-US" b="1" dirty="0">
                <a:latin typeface="仿宋" panose="02010609060101010101" pitchFamily="49" charset="-122"/>
                <a:ea typeface="仿宋" panose="02010609060101010101" pitchFamily="49" charset="-122"/>
              </a:rPr>
              <a:t>    自然辩证法认为，人既是自然存在物，也是社会存在物。人的生存和发展离不开自然界，同时也受到社会关系、社会制度和价值观念的影响。</a:t>
            </a:r>
          </a:p>
          <a:p>
            <a:pPr algn="just">
              <a:lnSpc>
                <a:spcPct val="125000"/>
              </a:lnSpc>
            </a:pPr>
            <a:r>
              <a:rPr lang="zh-CN" altLang="en-US" b="1" dirty="0">
                <a:latin typeface="仿宋" panose="02010609060101010101" pitchFamily="49" charset="-122"/>
                <a:ea typeface="仿宋" panose="02010609060101010101" pitchFamily="49" charset="-122"/>
              </a:rPr>
              <a:t>    从马克思主义自然观出发，人类通过科学技术和实践活动不断认识自然、改造自然，但这种改造并不意味着人类可以脱离自然规律。与此同时，科学技术并不是孤立发展的，它产生于一定的社会条件之中，其应用也会反过来影响社会关系。</a:t>
            </a:r>
          </a:p>
        </p:txBody>
      </p:sp>
      <p:grpSp>
        <p:nvGrpSpPr>
          <p:cNvPr id="12" name="组合 11">
            <a:extLst>
              <a:ext uri="{FF2B5EF4-FFF2-40B4-BE49-F238E27FC236}">
                <a16:creationId xmlns:a16="http://schemas.microsoft.com/office/drawing/2014/main" id="{3E98806F-10DB-E738-035B-C0EAC2272146}"/>
              </a:ext>
            </a:extLst>
          </p:cNvPr>
          <p:cNvGrpSpPr/>
          <p:nvPr/>
        </p:nvGrpSpPr>
        <p:grpSpPr>
          <a:xfrm>
            <a:off x="1417952" y="3317782"/>
            <a:ext cx="9356096" cy="524435"/>
            <a:chOff x="426639" y="3295297"/>
            <a:chExt cx="9356096" cy="524435"/>
          </a:xfrm>
        </p:grpSpPr>
        <p:sp>
          <p:nvSpPr>
            <p:cNvPr id="11" name="矩形: 圆角 10">
              <a:extLst>
                <a:ext uri="{FF2B5EF4-FFF2-40B4-BE49-F238E27FC236}">
                  <a16:creationId xmlns:a16="http://schemas.microsoft.com/office/drawing/2014/main" id="{D779C2CD-44F6-A80C-3F20-0389B32AFFFA}"/>
                </a:ext>
              </a:extLst>
            </p:cNvPr>
            <p:cNvSpPr/>
            <p:nvPr/>
          </p:nvSpPr>
          <p:spPr>
            <a:xfrm>
              <a:off x="426639" y="3295297"/>
              <a:ext cx="9356096" cy="524435"/>
            </a:xfrm>
            <a:prstGeom prst="roundRect">
              <a:avLst>
                <a:gd name="adj" fmla="val 50000"/>
              </a:avLst>
            </a:prstGeom>
            <a:solidFill>
              <a:srgbClr val="8AB1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B48CC88-EF91-92BB-3CC3-DC643B0C7275}"/>
                </a:ext>
              </a:extLst>
            </p:cNvPr>
            <p:cNvSpPr txBox="1"/>
            <p:nvPr/>
          </p:nvSpPr>
          <p:spPr>
            <a:xfrm>
              <a:off x="2057248" y="3336652"/>
              <a:ext cx="6094878" cy="441724"/>
            </a:xfrm>
            <a:prstGeom prst="rect">
              <a:avLst/>
            </a:prstGeom>
            <a:noFill/>
          </p:spPr>
          <p:txBody>
            <a:bodyPr wrap="square">
              <a:spAutoFit/>
            </a:bodyPr>
            <a:lstStyle>
              <a:defPPr>
                <a:defRPr lang="zh-CN"/>
              </a:defPPr>
              <a:lvl1pPr marL="285750" indent="-285750">
                <a:lnSpc>
                  <a:spcPct val="125000"/>
                </a:lnSpc>
                <a:buFont typeface="Wingdings" panose="05000000000000000000" pitchFamily="2" charset="2"/>
                <a:buChar char="p"/>
                <a:defRPr sz="1600">
                  <a:latin typeface="Times New Roman" panose="02020603050405020304" pitchFamily="18" charset="0"/>
                  <a:ea typeface="微软雅黑" panose="020B0503020204020204" pitchFamily="34" charset="-122"/>
                </a:defRPr>
              </a:lvl1pPr>
            </a:lstStyle>
            <a:p>
              <a:pPr marL="0" indent="0" algn="ctr">
                <a:buNone/>
              </a:pPr>
              <a:r>
                <a:rPr lang="zh-CN" altLang="en-US" sz="2000" b="1" dirty="0"/>
                <a:t>一、人与自然：从改造外部自然到改造人类自身</a:t>
              </a:r>
            </a:p>
          </p:txBody>
        </p:sp>
      </p:grpSp>
      <p:sp>
        <p:nvSpPr>
          <p:cNvPr id="15"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31492427-BEC7-1B15-E4D7-59F8D42E3962}"/>
              </a:ext>
            </a:extLst>
          </p:cNvPr>
          <p:cNvSpPr/>
          <p:nvPr>
            <p:custDataLst>
              <p:tags r:id="rId1"/>
            </p:custDataLst>
          </p:nvPr>
        </p:nvSpPr>
        <p:spPr>
          <a:xfrm>
            <a:off x="468828" y="4142480"/>
            <a:ext cx="11254344" cy="2435815"/>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17" name="文本框 16">
            <a:extLst>
              <a:ext uri="{FF2B5EF4-FFF2-40B4-BE49-F238E27FC236}">
                <a16:creationId xmlns:a16="http://schemas.microsoft.com/office/drawing/2014/main" id="{F874AF3B-397C-8257-5632-23F87E7A1832}"/>
              </a:ext>
            </a:extLst>
          </p:cNvPr>
          <p:cNvSpPr txBox="1"/>
          <p:nvPr/>
        </p:nvSpPr>
        <p:spPr>
          <a:xfrm>
            <a:off x="1274260" y="4331611"/>
            <a:ext cx="8738625" cy="2057551"/>
          </a:xfrm>
          <a:prstGeom prst="rect">
            <a:avLst/>
          </a:prstGeom>
          <a:noFill/>
        </p:spPr>
        <p:txBody>
          <a:bodyPr wrap="square">
            <a:spAutoFit/>
          </a:bodyPr>
          <a:lstStyle>
            <a:defPPr>
              <a:defRPr lang="zh-CN"/>
            </a:defPPr>
            <a:lvl1pPr>
              <a:lnSpc>
                <a:spcPct val="125000"/>
              </a:lnSpc>
              <a:defRPr b="1">
                <a:latin typeface="Times New Roman" panose="02020603050405020304" pitchFamily="18" charset="0"/>
                <a:ea typeface="微软雅黑" panose="020B0503020204020204" pitchFamily="34" charset="-122"/>
              </a:defRPr>
            </a:lvl1pPr>
          </a:lstStyle>
          <a:p>
            <a:pPr marL="342900" indent="-342900">
              <a:spcAft>
                <a:spcPts val="1200"/>
              </a:spcAft>
              <a:buFont typeface="Wingdings" panose="05000000000000000000" pitchFamily="2" charset="2"/>
              <a:buChar char="p"/>
            </a:pPr>
            <a:r>
              <a:rPr lang="zh-CN" altLang="en-US" sz="2000" b="0" dirty="0"/>
              <a:t>基因编辑使人类从改造外部自然进一步走向干预自身生命系统。</a:t>
            </a:r>
          </a:p>
          <a:p>
            <a:pPr marL="342900" indent="-342900">
              <a:spcAft>
                <a:spcPts val="1200"/>
              </a:spcAft>
              <a:buFont typeface="Wingdings" panose="05000000000000000000" pitchFamily="2" charset="2"/>
              <a:buChar char="p"/>
            </a:pPr>
            <a:r>
              <a:rPr lang="zh-CN" altLang="en-US" sz="2000" b="0" dirty="0"/>
              <a:t>人的主观能动性必须与客观自然规律相统一。</a:t>
            </a:r>
          </a:p>
          <a:p>
            <a:pPr marL="342900" indent="-342900">
              <a:spcAft>
                <a:spcPts val="1200"/>
              </a:spcAft>
              <a:buFont typeface="Wingdings" panose="05000000000000000000" pitchFamily="2" charset="2"/>
              <a:buChar char="p"/>
            </a:pPr>
            <a:r>
              <a:rPr lang="en-US" altLang="zh-CN" sz="2000" b="0" dirty="0"/>
              <a:t>CCR5 </a:t>
            </a:r>
            <a:r>
              <a:rPr lang="zh-CN" altLang="en-US" sz="2000" b="0" dirty="0"/>
              <a:t>基因具有多重生理功能，局部基因干预可能产生复杂影响。</a:t>
            </a:r>
          </a:p>
          <a:p>
            <a:pPr marL="342900" indent="-342900">
              <a:spcAft>
                <a:spcPts val="1200"/>
              </a:spcAft>
              <a:buFont typeface="Wingdings" panose="05000000000000000000" pitchFamily="2" charset="2"/>
              <a:buChar char="p"/>
            </a:pPr>
            <a:r>
              <a:rPr lang="zh-CN" altLang="en-US" sz="2000" b="0" dirty="0"/>
              <a:t>技术能力的增强 ≠ 对自然规律的完全掌握。</a:t>
            </a:r>
          </a:p>
        </p:txBody>
      </p:sp>
    </p:spTree>
    <p:extLst>
      <p:ext uri="{BB962C8B-B14F-4D97-AF65-F5344CB8AC3E}">
        <p14:creationId xmlns:p14="http://schemas.microsoft.com/office/powerpoint/2010/main" val="45304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03BAD-2DB5-06D1-4C03-C6AF627EDFE1}"/>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75182D26-060B-0192-1553-41F58DE756B5}"/>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A543D2C6-948C-28C1-68DC-065FA867BCE2}"/>
                </a:ext>
              </a:extLst>
            </p:cNvPr>
            <p:cNvSpPr/>
            <p:nvPr>
              <p:custDataLst>
                <p:tags r:id="rId3"/>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86039329-EF9A-499F-E6FA-1E57BED53E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FB2FE8B2-C5FE-B779-3FE3-FE1DA5150381}"/>
              </a:ext>
            </a:extLst>
          </p:cNvPr>
          <p:cNvSpPr/>
          <p:nvPr/>
        </p:nvSpPr>
        <p:spPr>
          <a:xfrm>
            <a:off x="231292" y="159329"/>
            <a:ext cx="2795126"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F45A3CD5-E320-FB48-996C-E06EE68B1A98}"/>
              </a:ext>
            </a:extLst>
          </p:cNvPr>
          <p:cNvSpPr txBox="1"/>
          <p:nvPr/>
        </p:nvSpPr>
        <p:spPr>
          <a:xfrm>
            <a:off x="231292" y="279704"/>
            <a:ext cx="2915936" cy="43037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人与自然、社会的关系 </a:t>
            </a:r>
          </a:p>
        </p:txBody>
      </p:sp>
      <p:sp>
        <p:nvSpPr>
          <p:cNvPr id="48" name="文本框 47">
            <a:extLst>
              <a:ext uri="{FF2B5EF4-FFF2-40B4-BE49-F238E27FC236}">
                <a16:creationId xmlns:a16="http://schemas.microsoft.com/office/drawing/2014/main" id="{7F02F143-DA39-B357-A244-79846F6A265A}"/>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7FDE4682-4A33-A36A-42A3-D17A31237289}"/>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6A9FA4C9-851E-12BD-42D1-3FEE45F1569F}"/>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grpSp>
        <p:nvGrpSpPr>
          <p:cNvPr id="12" name="组合 11">
            <a:extLst>
              <a:ext uri="{FF2B5EF4-FFF2-40B4-BE49-F238E27FC236}">
                <a16:creationId xmlns:a16="http://schemas.microsoft.com/office/drawing/2014/main" id="{FDF4BF2C-D6F1-2E74-4091-67A5A1C2A3A3}"/>
              </a:ext>
            </a:extLst>
          </p:cNvPr>
          <p:cNvGrpSpPr/>
          <p:nvPr/>
        </p:nvGrpSpPr>
        <p:grpSpPr>
          <a:xfrm>
            <a:off x="1417952" y="1197556"/>
            <a:ext cx="9356096" cy="524435"/>
            <a:chOff x="426639" y="3295297"/>
            <a:chExt cx="9356096" cy="524435"/>
          </a:xfrm>
        </p:grpSpPr>
        <p:sp>
          <p:nvSpPr>
            <p:cNvPr id="11" name="矩形: 圆角 10">
              <a:extLst>
                <a:ext uri="{FF2B5EF4-FFF2-40B4-BE49-F238E27FC236}">
                  <a16:creationId xmlns:a16="http://schemas.microsoft.com/office/drawing/2014/main" id="{29732808-9E5D-7E6E-DEC4-532A0E917155}"/>
                </a:ext>
              </a:extLst>
            </p:cNvPr>
            <p:cNvSpPr/>
            <p:nvPr/>
          </p:nvSpPr>
          <p:spPr>
            <a:xfrm>
              <a:off x="426639" y="3295297"/>
              <a:ext cx="9356096" cy="524435"/>
            </a:xfrm>
            <a:prstGeom prst="roundRect">
              <a:avLst>
                <a:gd name="adj" fmla="val 50000"/>
              </a:avLst>
            </a:prstGeom>
            <a:solidFill>
              <a:srgbClr val="6691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B953D9AD-ABCA-8793-B659-5A58CF19600A}"/>
                </a:ext>
              </a:extLst>
            </p:cNvPr>
            <p:cNvSpPr txBox="1"/>
            <p:nvPr/>
          </p:nvSpPr>
          <p:spPr>
            <a:xfrm>
              <a:off x="2057248" y="3336652"/>
              <a:ext cx="6094878" cy="441724"/>
            </a:xfrm>
            <a:prstGeom prst="rect">
              <a:avLst/>
            </a:prstGeom>
            <a:noFill/>
          </p:spPr>
          <p:txBody>
            <a:bodyPr wrap="square">
              <a:spAutoFit/>
            </a:bodyPr>
            <a:lstStyle>
              <a:defPPr>
                <a:defRPr lang="zh-CN"/>
              </a:defPPr>
              <a:lvl1pPr marL="285750" indent="-285750">
                <a:lnSpc>
                  <a:spcPct val="125000"/>
                </a:lnSpc>
                <a:buFont typeface="Wingdings" panose="05000000000000000000" pitchFamily="2" charset="2"/>
                <a:buChar char="p"/>
                <a:defRPr sz="1600">
                  <a:latin typeface="Times New Roman" panose="02020603050405020304" pitchFamily="18" charset="0"/>
                  <a:ea typeface="微软雅黑" panose="020B0503020204020204" pitchFamily="34" charset="-122"/>
                </a:defRPr>
              </a:lvl1pPr>
            </a:lstStyle>
            <a:p>
              <a:pPr marL="0" indent="0" algn="ctr">
                <a:buNone/>
              </a:pPr>
              <a:r>
                <a:rPr lang="zh-CN" altLang="en-US" sz="2000" b="1" dirty="0">
                  <a:solidFill>
                    <a:schemeClr val="bg1"/>
                  </a:solidFill>
                </a:rPr>
                <a:t>二、人与社会：从生命技术进步到社会关系的变化</a:t>
              </a:r>
            </a:p>
          </p:txBody>
        </p:sp>
      </p:grpSp>
      <p:grpSp>
        <p:nvGrpSpPr>
          <p:cNvPr id="3" name="组合 2">
            <a:extLst>
              <a:ext uri="{FF2B5EF4-FFF2-40B4-BE49-F238E27FC236}">
                <a16:creationId xmlns:a16="http://schemas.microsoft.com/office/drawing/2014/main" id="{ABD61A31-96C3-C49A-5BEE-B527E631C387}"/>
              </a:ext>
            </a:extLst>
          </p:cNvPr>
          <p:cNvGrpSpPr/>
          <p:nvPr/>
        </p:nvGrpSpPr>
        <p:grpSpPr>
          <a:xfrm>
            <a:off x="1417952" y="3922818"/>
            <a:ext cx="9356096" cy="524435"/>
            <a:chOff x="426639" y="3295297"/>
            <a:chExt cx="9356096" cy="524435"/>
          </a:xfrm>
        </p:grpSpPr>
        <p:sp>
          <p:nvSpPr>
            <p:cNvPr id="6" name="矩形: 圆角 5">
              <a:extLst>
                <a:ext uri="{FF2B5EF4-FFF2-40B4-BE49-F238E27FC236}">
                  <a16:creationId xmlns:a16="http://schemas.microsoft.com/office/drawing/2014/main" id="{6393131A-2992-F645-51E5-348E07D05C37}"/>
                </a:ext>
              </a:extLst>
            </p:cNvPr>
            <p:cNvSpPr/>
            <p:nvPr/>
          </p:nvSpPr>
          <p:spPr>
            <a:xfrm>
              <a:off x="426639" y="3295297"/>
              <a:ext cx="9356096" cy="524435"/>
            </a:xfrm>
            <a:prstGeom prst="roundRect">
              <a:avLst>
                <a:gd name="adj" fmla="val 50000"/>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87008DC6-4417-84B3-5D1B-24D4C7F184DA}"/>
                </a:ext>
              </a:extLst>
            </p:cNvPr>
            <p:cNvSpPr txBox="1"/>
            <p:nvPr/>
          </p:nvSpPr>
          <p:spPr>
            <a:xfrm>
              <a:off x="2057248" y="3336652"/>
              <a:ext cx="6094878" cy="441724"/>
            </a:xfrm>
            <a:prstGeom prst="rect">
              <a:avLst/>
            </a:prstGeom>
            <a:noFill/>
          </p:spPr>
          <p:txBody>
            <a:bodyPr wrap="square">
              <a:spAutoFit/>
            </a:bodyPr>
            <a:lstStyle>
              <a:defPPr>
                <a:defRPr lang="zh-CN"/>
              </a:defPPr>
              <a:lvl1pPr marL="285750" indent="-285750">
                <a:lnSpc>
                  <a:spcPct val="125000"/>
                </a:lnSpc>
                <a:buFont typeface="Wingdings" panose="05000000000000000000" pitchFamily="2" charset="2"/>
                <a:buChar char="p"/>
                <a:defRPr sz="1600">
                  <a:latin typeface="Times New Roman" panose="02020603050405020304" pitchFamily="18" charset="0"/>
                  <a:ea typeface="微软雅黑" panose="020B0503020204020204" pitchFamily="34" charset="-122"/>
                </a:defRPr>
              </a:lvl1pPr>
            </a:lstStyle>
            <a:p>
              <a:pPr marL="0" indent="0" algn="ctr">
                <a:buNone/>
              </a:pPr>
              <a:r>
                <a:rPr lang="zh-CN" altLang="en-US" sz="2000" b="1" dirty="0">
                  <a:solidFill>
                    <a:schemeClr val="bg1"/>
                  </a:solidFill>
                </a:rPr>
                <a:t>三、辩证统一：从改造人的自然属性到人的全面发展</a:t>
              </a:r>
            </a:p>
          </p:txBody>
        </p:sp>
      </p:grpSp>
      <p:grpSp>
        <p:nvGrpSpPr>
          <p:cNvPr id="21" name="组合 20">
            <a:extLst>
              <a:ext uri="{FF2B5EF4-FFF2-40B4-BE49-F238E27FC236}">
                <a16:creationId xmlns:a16="http://schemas.microsoft.com/office/drawing/2014/main" id="{C09BC355-F26B-D7B9-065A-2C07D50758EC}"/>
              </a:ext>
            </a:extLst>
          </p:cNvPr>
          <p:cNvGrpSpPr/>
          <p:nvPr/>
        </p:nvGrpSpPr>
        <p:grpSpPr>
          <a:xfrm>
            <a:off x="700316" y="2039666"/>
            <a:ext cx="10354930" cy="1565477"/>
            <a:chOff x="700316" y="1919246"/>
            <a:chExt cx="10354930" cy="1565477"/>
          </a:xfrm>
        </p:grpSpPr>
        <p:sp>
          <p:nvSpPr>
            <p:cNvPr id="14"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CBF3A8B8-9BF0-CBF6-B6D6-8570BFD6F1E2}"/>
                </a:ext>
              </a:extLst>
            </p:cNvPr>
            <p:cNvSpPr/>
            <p:nvPr>
              <p:custDataLst>
                <p:tags r:id="rId2"/>
              </p:custDataLst>
            </p:nvPr>
          </p:nvSpPr>
          <p:spPr>
            <a:xfrm>
              <a:off x="700316" y="1919246"/>
              <a:ext cx="10354930" cy="1565477"/>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17" name="文本框 16">
              <a:extLst>
                <a:ext uri="{FF2B5EF4-FFF2-40B4-BE49-F238E27FC236}">
                  <a16:creationId xmlns:a16="http://schemas.microsoft.com/office/drawing/2014/main" id="{F9228488-23B4-7339-527C-BEC8C05C9AF4}"/>
                </a:ext>
              </a:extLst>
            </p:cNvPr>
            <p:cNvSpPr txBox="1"/>
            <p:nvPr/>
          </p:nvSpPr>
          <p:spPr>
            <a:xfrm>
              <a:off x="1417953" y="1942513"/>
              <a:ext cx="9262540" cy="1518942"/>
            </a:xfrm>
            <a:prstGeom prst="rect">
              <a:avLst/>
            </a:prstGeom>
            <a:noFill/>
          </p:spPr>
          <p:txBody>
            <a:bodyPr wrap="square">
              <a:spAutoFit/>
            </a:bodyPr>
            <a:lstStyle>
              <a:defPPr>
                <a:defRPr lang="zh-CN"/>
              </a:defPPr>
              <a:lvl1pPr marL="342900" indent="-342900">
                <a:lnSpc>
                  <a:spcPct val="125000"/>
                </a:lnSpc>
                <a:spcAft>
                  <a:spcPts val="1200"/>
                </a:spcAft>
                <a:buFont typeface="Wingdings" panose="05000000000000000000" pitchFamily="2" charset="2"/>
                <a:buChar char="p"/>
                <a:defRPr sz="2000" b="0">
                  <a:latin typeface="Times New Roman" panose="02020603050405020304" pitchFamily="18" charset="0"/>
                  <a:ea typeface="微软雅黑" panose="020B0503020204020204" pitchFamily="34" charset="-122"/>
                </a:defRPr>
              </a:lvl1pPr>
            </a:lstStyle>
            <a:p>
              <a:r>
                <a:rPr lang="zh-CN" altLang="en-US" dirty="0"/>
                <a:t>基因编辑可能使部分生命特征成为人为选择的对象。</a:t>
              </a:r>
            </a:p>
            <a:p>
              <a:r>
                <a:rPr lang="zh-CN" altLang="en-US" dirty="0"/>
                <a:t>从疾病治疗走向特征增强，可能改变社会对“健康”“优秀”的评价标准。</a:t>
              </a:r>
            </a:p>
            <a:p>
              <a:r>
                <a:rPr lang="zh-CN" altLang="en-US" dirty="0"/>
                <a:t>技术资源分配不均，可能带来新的社会不平等。</a:t>
              </a:r>
            </a:p>
          </p:txBody>
        </p:sp>
      </p:grpSp>
      <p:grpSp>
        <p:nvGrpSpPr>
          <p:cNvPr id="20" name="组合 19">
            <a:extLst>
              <a:ext uri="{FF2B5EF4-FFF2-40B4-BE49-F238E27FC236}">
                <a16:creationId xmlns:a16="http://schemas.microsoft.com/office/drawing/2014/main" id="{CC70B1E7-57F6-3F13-02A4-6177EEFFB153}"/>
              </a:ext>
            </a:extLst>
          </p:cNvPr>
          <p:cNvGrpSpPr/>
          <p:nvPr/>
        </p:nvGrpSpPr>
        <p:grpSpPr>
          <a:xfrm>
            <a:off x="700315" y="4764929"/>
            <a:ext cx="10354929" cy="1708320"/>
            <a:chOff x="700315" y="4764929"/>
            <a:chExt cx="10354929" cy="1708320"/>
          </a:xfrm>
        </p:grpSpPr>
        <p:sp>
          <p:nvSpPr>
            <p:cNvPr id="15"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BED7072A-1646-9FA1-51D5-601A4787F631}"/>
                </a:ext>
              </a:extLst>
            </p:cNvPr>
            <p:cNvSpPr/>
            <p:nvPr>
              <p:custDataLst>
                <p:tags r:id="rId1"/>
              </p:custDataLst>
            </p:nvPr>
          </p:nvSpPr>
          <p:spPr>
            <a:xfrm>
              <a:off x="700315" y="4764929"/>
              <a:ext cx="10354929" cy="1708320"/>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19" name="文本框 18">
              <a:extLst>
                <a:ext uri="{FF2B5EF4-FFF2-40B4-BE49-F238E27FC236}">
                  <a16:creationId xmlns:a16="http://schemas.microsoft.com/office/drawing/2014/main" id="{B0E619C9-E577-09FF-F6B1-039AFEC328B8}"/>
                </a:ext>
              </a:extLst>
            </p:cNvPr>
            <p:cNvSpPr txBox="1"/>
            <p:nvPr/>
          </p:nvSpPr>
          <p:spPr>
            <a:xfrm>
              <a:off x="1417951" y="4859618"/>
              <a:ext cx="9262542" cy="1518942"/>
            </a:xfrm>
            <a:prstGeom prst="rect">
              <a:avLst/>
            </a:prstGeom>
            <a:noFill/>
          </p:spPr>
          <p:txBody>
            <a:bodyPr wrap="square">
              <a:spAutoFit/>
            </a:bodyPr>
            <a:lstStyle>
              <a:defPPr>
                <a:defRPr lang="zh-CN"/>
              </a:defPPr>
              <a:lvl1pPr marL="342900" indent="-342900">
                <a:lnSpc>
                  <a:spcPct val="125000"/>
                </a:lnSpc>
                <a:spcAft>
                  <a:spcPts val="1200"/>
                </a:spcAft>
                <a:buFont typeface="Wingdings" panose="05000000000000000000" pitchFamily="2" charset="2"/>
                <a:buChar char="p"/>
                <a:defRPr sz="2000" b="0">
                  <a:latin typeface="Times New Roman" panose="02020603050405020304" pitchFamily="18" charset="0"/>
                  <a:ea typeface="微软雅黑" panose="020B0503020204020204" pitchFamily="34" charset="-122"/>
                </a:defRPr>
              </a:lvl1pPr>
            </a:lstStyle>
            <a:p>
              <a:r>
                <a:rPr lang="zh-CN" altLang="en-US" dirty="0"/>
                <a:t>人既是自然存在物，也是社会存在物。</a:t>
              </a:r>
            </a:p>
            <a:p>
              <a:r>
                <a:rPr lang="zh-CN" altLang="en-US" dirty="0"/>
                <a:t>改造人的自然属性，可能进一步影响人与人的社会关系。</a:t>
              </a:r>
            </a:p>
            <a:p>
              <a:r>
                <a:rPr lang="zh-CN" altLang="en-US" dirty="0"/>
                <a:t>科学技术的发展应以改善人的生存条件、促进人的发展为目标。</a:t>
              </a:r>
            </a:p>
          </p:txBody>
        </p:sp>
      </p:grpSp>
    </p:spTree>
    <p:extLst>
      <p:ext uri="{BB962C8B-B14F-4D97-AF65-F5344CB8AC3E}">
        <p14:creationId xmlns:p14="http://schemas.microsoft.com/office/powerpoint/2010/main" val="559523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8E9B-2289-DBE3-7C84-86F15131BE37}"/>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9C30B099-23E8-8F6E-F02F-D0F9D542E3C8}"/>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19856616-A475-FE01-88A8-FBB3597DD8E3}"/>
                </a:ext>
              </a:extLst>
            </p:cNvPr>
            <p:cNvSpPr/>
            <p:nvPr>
              <p:custDataLst>
                <p:tags r:id="rId2"/>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5BF08C6D-53F1-90F8-3C04-C2C77A3069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22336461-48C6-B386-F638-C98B3E9E543A}"/>
              </a:ext>
            </a:extLst>
          </p:cNvPr>
          <p:cNvSpPr/>
          <p:nvPr/>
        </p:nvSpPr>
        <p:spPr>
          <a:xfrm>
            <a:off x="231292" y="159329"/>
            <a:ext cx="2795126"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629BBE0-D54E-032C-7115-96B5C6A98367}"/>
              </a:ext>
            </a:extLst>
          </p:cNvPr>
          <p:cNvSpPr txBox="1"/>
          <p:nvPr/>
        </p:nvSpPr>
        <p:spPr>
          <a:xfrm>
            <a:off x="231292" y="279704"/>
            <a:ext cx="2915936" cy="43037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科技创新的责任性</a:t>
            </a:r>
          </a:p>
        </p:txBody>
      </p:sp>
      <p:sp>
        <p:nvSpPr>
          <p:cNvPr id="48" name="文本框 47">
            <a:extLst>
              <a:ext uri="{FF2B5EF4-FFF2-40B4-BE49-F238E27FC236}">
                <a16:creationId xmlns:a16="http://schemas.microsoft.com/office/drawing/2014/main" id="{CF548960-7F78-DCDC-7193-B229CAFFD22D}"/>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C9E911C7-AEBA-3A6C-F433-23B583FB8143}"/>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F349D"/>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E149F3A9-5DD4-F028-7937-FEC875AA30A6}"/>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
        <p:nvSpPr>
          <p:cNvPr id="3" name="矩形: 圆角 2">
            <a:extLst>
              <a:ext uri="{FF2B5EF4-FFF2-40B4-BE49-F238E27FC236}">
                <a16:creationId xmlns:a16="http://schemas.microsoft.com/office/drawing/2014/main" id="{A55869F9-B75F-B55E-A68E-52C341B64B79}"/>
              </a:ext>
            </a:extLst>
          </p:cNvPr>
          <p:cNvSpPr/>
          <p:nvPr/>
        </p:nvSpPr>
        <p:spPr>
          <a:xfrm>
            <a:off x="468828" y="1064563"/>
            <a:ext cx="11254344" cy="1306930"/>
          </a:xfrm>
          <a:prstGeom prst="roundRect">
            <a:avLst/>
          </a:prstGeom>
          <a:solidFill>
            <a:schemeClr val="bg1"/>
          </a:solidFill>
          <a:ln w="28575">
            <a:solidFill>
              <a:srgbClr val="0F349D"/>
            </a:solid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87F1EBCD-D659-D5A6-E45E-5DD9FCC9BE8C}"/>
              </a:ext>
            </a:extLst>
          </p:cNvPr>
          <p:cNvSpPr/>
          <p:nvPr/>
        </p:nvSpPr>
        <p:spPr>
          <a:xfrm>
            <a:off x="820529" y="1241983"/>
            <a:ext cx="1100751" cy="960753"/>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理论</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支撑</a:t>
            </a:r>
          </a:p>
        </p:txBody>
      </p:sp>
      <p:sp>
        <p:nvSpPr>
          <p:cNvPr id="8" name="文本框 7">
            <a:extLst>
              <a:ext uri="{FF2B5EF4-FFF2-40B4-BE49-F238E27FC236}">
                <a16:creationId xmlns:a16="http://schemas.microsoft.com/office/drawing/2014/main" id="{A5D14EAB-62C6-448C-DB88-F414AA30B100}"/>
              </a:ext>
            </a:extLst>
          </p:cNvPr>
          <p:cNvSpPr txBox="1"/>
          <p:nvPr/>
        </p:nvSpPr>
        <p:spPr>
          <a:xfrm>
            <a:off x="2079693" y="1180641"/>
            <a:ext cx="9388422" cy="1083438"/>
          </a:xfrm>
          <a:prstGeom prst="rect">
            <a:avLst/>
          </a:prstGeom>
          <a:noFill/>
        </p:spPr>
        <p:txBody>
          <a:bodyPr wrap="square">
            <a:spAutoFit/>
          </a:bodyPr>
          <a:lstStyle/>
          <a:p>
            <a:pPr algn="just">
              <a:lnSpc>
                <a:spcPct val="125000"/>
              </a:lnSpc>
            </a:pPr>
            <a:r>
              <a:rPr lang="zh-CN" altLang="en-US" b="1" dirty="0">
                <a:latin typeface="仿宋" panose="02010609060101010101" pitchFamily="49" charset="-122"/>
                <a:ea typeface="仿宋" panose="02010609060101010101" pitchFamily="49" charset="-122"/>
              </a:rPr>
              <a:t>    自然辩证法认为，科学是一种社会劳动，是社会总劳动中的一项基本内容，科学以“精神形态”存在于劳动之中，技术是科学与具体实践相结合的实践活动。自然辩证法将科学技术定位为人类的社会实践活动，而非科学家脱离社会的纯粹智力游戏。</a:t>
            </a:r>
            <a:endParaRPr lang="en-US" altLang="zh-CN" b="1" dirty="0">
              <a:latin typeface="仿宋" panose="02010609060101010101" pitchFamily="49" charset="-122"/>
              <a:ea typeface="仿宋" panose="02010609060101010101" pitchFamily="49" charset="-122"/>
            </a:endParaRPr>
          </a:p>
        </p:txBody>
      </p:sp>
      <p:pic>
        <p:nvPicPr>
          <p:cNvPr id="12" name="图片 11">
            <a:extLst>
              <a:ext uri="{FF2B5EF4-FFF2-40B4-BE49-F238E27FC236}">
                <a16:creationId xmlns:a16="http://schemas.microsoft.com/office/drawing/2014/main" id="{BD66C006-433A-3ACE-35DB-800FF0E26799}"/>
              </a:ext>
            </a:extLst>
          </p:cNvPr>
          <p:cNvPicPr>
            <a:picLocks noChangeAspect="1"/>
          </p:cNvPicPr>
          <p:nvPr/>
        </p:nvPicPr>
        <p:blipFill>
          <a:blip r:embed="rId6"/>
          <a:stretch>
            <a:fillRect/>
          </a:stretch>
        </p:blipFill>
        <p:spPr>
          <a:xfrm>
            <a:off x="8799655" y="2427263"/>
            <a:ext cx="3065924" cy="1966331"/>
          </a:xfrm>
          <a:prstGeom prst="rect">
            <a:avLst/>
          </a:prstGeom>
        </p:spPr>
      </p:pic>
      <p:pic>
        <p:nvPicPr>
          <p:cNvPr id="13" name="图片 12">
            <a:extLst>
              <a:ext uri="{FF2B5EF4-FFF2-40B4-BE49-F238E27FC236}">
                <a16:creationId xmlns:a16="http://schemas.microsoft.com/office/drawing/2014/main" id="{1486326C-77E5-1E4C-90F0-8F6A152D919E}"/>
              </a:ext>
            </a:extLst>
          </p:cNvPr>
          <p:cNvPicPr>
            <a:picLocks noChangeAspect="1"/>
          </p:cNvPicPr>
          <p:nvPr/>
        </p:nvPicPr>
        <p:blipFill>
          <a:blip r:embed="rId7"/>
          <a:stretch>
            <a:fillRect/>
          </a:stretch>
        </p:blipFill>
        <p:spPr>
          <a:xfrm>
            <a:off x="8799655" y="4415911"/>
            <a:ext cx="3065925" cy="2297049"/>
          </a:xfrm>
          <a:prstGeom prst="rect">
            <a:avLst/>
          </a:prstGeom>
        </p:spPr>
      </p:pic>
      <p:grpSp>
        <p:nvGrpSpPr>
          <p:cNvPr id="14" name="组合 13">
            <a:extLst>
              <a:ext uri="{FF2B5EF4-FFF2-40B4-BE49-F238E27FC236}">
                <a16:creationId xmlns:a16="http://schemas.microsoft.com/office/drawing/2014/main" id="{DC099D56-1171-FC72-5019-66B1CB86F202}"/>
              </a:ext>
            </a:extLst>
          </p:cNvPr>
          <p:cNvGrpSpPr/>
          <p:nvPr/>
        </p:nvGrpSpPr>
        <p:grpSpPr>
          <a:xfrm>
            <a:off x="1022595" y="2904565"/>
            <a:ext cx="6885989" cy="524435"/>
            <a:chOff x="426639" y="3295297"/>
            <a:chExt cx="9356096" cy="524435"/>
          </a:xfrm>
        </p:grpSpPr>
        <p:sp>
          <p:nvSpPr>
            <p:cNvPr id="15" name="矩形: 圆角 14">
              <a:extLst>
                <a:ext uri="{FF2B5EF4-FFF2-40B4-BE49-F238E27FC236}">
                  <a16:creationId xmlns:a16="http://schemas.microsoft.com/office/drawing/2014/main" id="{31B468AB-5965-A118-4103-F9AB82DB27B7}"/>
                </a:ext>
              </a:extLst>
            </p:cNvPr>
            <p:cNvSpPr/>
            <p:nvPr/>
          </p:nvSpPr>
          <p:spPr>
            <a:xfrm>
              <a:off x="426639" y="3295297"/>
              <a:ext cx="9356096" cy="524435"/>
            </a:xfrm>
            <a:prstGeom prst="roundRect">
              <a:avLst>
                <a:gd name="adj" fmla="val 50000"/>
              </a:avLst>
            </a:prstGeom>
            <a:solidFill>
              <a:srgbClr val="8AB1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C80264E-8011-BF94-4386-8A95C826A6B5}"/>
                </a:ext>
              </a:extLst>
            </p:cNvPr>
            <p:cNvSpPr txBox="1"/>
            <p:nvPr/>
          </p:nvSpPr>
          <p:spPr>
            <a:xfrm>
              <a:off x="2057248" y="3336652"/>
              <a:ext cx="6094879" cy="441724"/>
            </a:xfrm>
            <a:prstGeom prst="rect">
              <a:avLst/>
            </a:prstGeom>
            <a:noFill/>
          </p:spPr>
          <p:txBody>
            <a:bodyPr wrap="square">
              <a:spAutoFit/>
            </a:bodyPr>
            <a:lstStyle>
              <a:defPPr>
                <a:defRPr lang="zh-CN"/>
              </a:defPPr>
              <a:lvl1pPr marL="285750" indent="-285750">
                <a:lnSpc>
                  <a:spcPct val="125000"/>
                </a:lnSpc>
                <a:buFont typeface="Wingdings" panose="05000000000000000000" pitchFamily="2" charset="2"/>
                <a:buChar char="p"/>
                <a:defRPr sz="1600">
                  <a:latin typeface="Times New Roman" panose="02020603050405020304" pitchFamily="18" charset="0"/>
                  <a:ea typeface="微软雅黑" panose="020B0503020204020204" pitchFamily="34" charset="-122"/>
                </a:defRPr>
              </a:lvl1pPr>
            </a:lstStyle>
            <a:p>
              <a:pPr marL="0" indent="0" algn="ctr">
                <a:buNone/>
              </a:pPr>
              <a:r>
                <a:rPr lang="zh-CN" altLang="en-US" sz="2000" b="1" dirty="0"/>
                <a:t>贺建奎事件中的三重责任缺位</a:t>
              </a:r>
            </a:p>
          </p:txBody>
        </p:sp>
      </p:grpSp>
      <p:sp>
        <p:nvSpPr>
          <p:cNvPr id="17"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EB71C27C-3FC0-EFB2-D1CD-9FC37C9B05CE}"/>
              </a:ext>
            </a:extLst>
          </p:cNvPr>
          <p:cNvSpPr/>
          <p:nvPr>
            <p:custDataLst>
              <p:tags r:id="rId1"/>
            </p:custDataLst>
          </p:nvPr>
        </p:nvSpPr>
        <p:spPr>
          <a:xfrm>
            <a:off x="385192" y="3897153"/>
            <a:ext cx="7968928" cy="2435815"/>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18" name="文本框 17">
            <a:extLst>
              <a:ext uri="{FF2B5EF4-FFF2-40B4-BE49-F238E27FC236}">
                <a16:creationId xmlns:a16="http://schemas.microsoft.com/office/drawing/2014/main" id="{0AFAB848-8A7B-729F-2DCC-46067CCD9A60}"/>
              </a:ext>
            </a:extLst>
          </p:cNvPr>
          <p:cNvSpPr txBox="1"/>
          <p:nvPr/>
        </p:nvSpPr>
        <p:spPr>
          <a:xfrm>
            <a:off x="724593" y="4355973"/>
            <a:ext cx="7290125" cy="1518173"/>
          </a:xfrm>
          <a:prstGeom prst="rect">
            <a:avLst/>
          </a:prstGeom>
          <a:noFill/>
        </p:spPr>
        <p:txBody>
          <a:bodyPr wrap="square">
            <a:spAutoFit/>
          </a:bodyPr>
          <a:lstStyle>
            <a:defPPr>
              <a:defRPr lang="zh-CN"/>
            </a:defPPr>
            <a:lvl1pPr>
              <a:lnSpc>
                <a:spcPct val="125000"/>
              </a:lnSpc>
              <a:defRPr b="1">
                <a:latin typeface="Times New Roman" panose="02020603050405020304" pitchFamily="18" charset="0"/>
                <a:ea typeface="微软雅黑" panose="020B0503020204020204" pitchFamily="34" charset="-122"/>
              </a:defRPr>
            </a:lvl1pPr>
          </a:lstStyle>
          <a:p>
            <a:pPr marL="342900" indent="-342900">
              <a:spcAft>
                <a:spcPts val="1200"/>
              </a:spcAft>
              <a:buFont typeface="Wingdings" panose="05000000000000000000" pitchFamily="2" charset="2"/>
              <a:buChar char="p"/>
            </a:pPr>
            <a:r>
              <a:rPr lang="zh-CN" altLang="en-US" sz="2000" b="0" dirty="0"/>
              <a:t>对受试者个体的责任缺位</a:t>
            </a:r>
            <a:endParaRPr lang="en-US" altLang="zh-CN" sz="2000" b="0" dirty="0"/>
          </a:p>
          <a:p>
            <a:pPr marL="342900" indent="-342900">
              <a:spcAft>
                <a:spcPts val="1200"/>
              </a:spcAft>
              <a:buFont typeface="Wingdings" panose="05000000000000000000" pitchFamily="2" charset="2"/>
              <a:buChar char="p"/>
            </a:pPr>
            <a:r>
              <a:rPr lang="zh-CN" altLang="en-US" sz="2000" b="0" dirty="0"/>
              <a:t>对人类后代与基因库的责任缺位</a:t>
            </a:r>
            <a:endParaRPr lang="en-US" altLang="zh-CN" sz="2000" b="0" dirty="0"/>
          </a:p>
          <a:p>
            <a:pPr marL="342900" indent="-342900">
              <a:spcAft>
                <a:spcPts val="1200"/>
              </a:spcAft>
              <a:buFont typeface="Wingdings" panose="05000000000000000000" pitchFamily="2" charset="2"/>
              <a:buChar char="p"/>
            </a:pPr>
            <a:r>
              <a:rPr lang="zh-CN" altLang="en-US" sz="2000" b="0" dirty="0"/>
              <a:t>对科学共同体与社会信任的责任缺位</a:t>
            </a:r>
          </a:p>
        </p:txBody>
      </p:sp>
    </p:spTree>
    <p:extLst>
      <p:ext uri="{BB962C8B-B14F-4D97-AF65-F5344CB8AC3E}">
        <p14:creationId xmlns:p14="http://schemas.microsoft.com/office/powerpoint/2010/main" val="583226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2A464-9FAC-6AE7-9F0B-5A921BBBD007}"/>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8BFCA935-EF7F-E3F6-829B-823B646E0951}"/>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5E95DDE0-E82B-BC05-6AF9-CEDD3F037B45}"/>
                </a:ext>
              </a:extLst>
            </p:cNvPr>
            <p:cNvSpPr/>
            <p:nvPr>
              <p:custDataLst>
                <p:tags r:id="rId3"/>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E113285F-88F7-C53A-2841-4FED73871C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A7284A60-5C95-0C93-DD94-A19B64A50AD3}"/>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8ECFC72E-5720-6209-7AAA-F50C5477BFFB}"/>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98FA1E48-829A-F9FB-938F-C65C829C9B60}"/>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0F349D"/>
                </a:solidFill>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C27DA06B-CC58-C562-BB9A-2B3DF7776D46}"/>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8AB1CE"/>
                </a:solidFill>
                <a:latin typeface="微软雅黑" panose="020B0503020204020204" pitchFamily="34" charset="-122"/>
                <a:ea typeface="微软雅黑" panose="020B0503020204020204" pitchFamily="34" charset="-122"/>
                <a:cs typeface="+mn-ea"/>
                <a:sym typeface="+mn-lt"/>
              </a:rPr>
              <a:t>现实启示</a:t>
            </a:r>
          </a:p>
        </p:txBody>
      </p:sp>
      <p:sp>
        <p:nvSpPr>
          <p:cNvPr id="4" name="文本框 3">
            <a:extLst>
              <a:ext uri="{FF2B5EF4-FFF2-40B4-BE49-F238E27FC236}">
                <a16:creationId xmlns:a16="http://schemas.microsoft.com/office/drawing/2014/main" id="{2AFAC9EC-F4CA-16CA-38E4-58DC7AB8BF16}"/>
              </a:ext>
            </a:extLst>
          </p:cNvPr>
          <p:cNvSpPr txBox="1"/>
          <p:nvPr/>
        </p:nvSpPr>
        <p:spPr>
          <a:xfrm>
            <a:off x="231292" y="279704"/>
            <a:ext cx="2915936" cy="43037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科技创新的责任性</a:t>
            </a:r>
          </a:p>
        </p:txBody>
      </p:sp>
      <p:pic>
        <p:nvPicPr>
          <p:cNvPr id="5" name="图片 4" descr="爱因斯坦简介及资料（爱因斯坦获得诺贝尔奖，他写两句话，让我们知道幸福和成功的含义） | 人物集">
            <a:extLst>
              <a:ext uri="{FF2B5EF4-FFF2-40B4-BE49-F238E27FC236}">
                <a16:creationId xmlns:a16="http://schemas.microsoft.com/office/drawing/2014/main" id="{6E1CBDA0-2205-4C1C-3820-22C647D11B16}"/>
              </a:ext>
            </a:extLst>
          </p:cNvPr>
          <p:cNvPicPr>
            <a:picLocks noChangeAspect="1"/>
          </p:cNvPicPr>
          <p:nvPr/>
        </p:nvPicPr>
        <p:blipFill>
          <a:blip r:embed="rId7"/>
          <a:stretch>
            <a:fillRect/>
          </a:stretch>
        </p:blipFill>
        <p:spPr>
          <a:xfrm>
            <a:off x="326418" y="926830"/>
            <a:ext cx="3538826" cy="2359217"/>
          </a:xfrm>
          <a:prstGeom prst="rect">
            <a:avLst/>
          </a:prstGeom>
        </p:spPr>
      </p:pic>
      <p:sp>
        <p:nvSpPr>
          <p:cNvPr id="6" name="对话气泡: 圆角矩形 5">
            <a:extLst>
              <a:ext uri="{FF2B5EF4-FFF2-40B4-BE49-F238E27FC236}">
                <a16:creationId xmlns:a16="http://schemas.microsoft.com/office/drawing/2014/main" id="{5AC1B0DF-5C27-75C4-72FA-C1ACF02FE0E1}"/>
              </a:ext>
            </a:extLst>
          </p:cNvPr>
          <p:cNvSpPr/>
          <p:nvPr/>
        </p:nvSpPr>
        <p:spPr>
          <a:xfrm>
            <a:off x="5284144" y="1175657"/>
            <a:ext cx="6581437" cy="2110390"/>
          </a:xfrm>
          <a:prstGeom prst="wedgeRoundRectCallout">
            <a:avLst>
              <a:gd name="adj1" fmla="val -71605"/>
              <a:gd name="adj2" fmla="val -10517"/>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zh-CN" sz="2000" dirty="0">
                <a:solidFill>
                  <a:schemeClr val="tx1"/>
                </a:solidFill>
                <a:latin typeface="微软雅黑" panose="020B0503020204020204" pitchFamily="34" charset="-122"/>
                <a:ea typeface="微软雅黑" panose="020B0503020204020204" pitchFamily="34" charset="-122"/>
              </a:rPr>
              <a:t>关心人的本身，应当始终成为一切技术上奋斗的主要目标；关心怎样组织人的劳动和产品分配这样一些尚未解决的重大问题，用以保证我们科学思想的成果会造福于人类，而不致成为祸害。</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CB4CE9B6-69EA-7BAC-3486-C96F12BC62B5}"/>
              </a:ext>
            </a:extLst>
          </p:cNvPr>
          <p:cNvSpPr/>
          <p:nvPr/>
        </p:nvSpPr>
        <p:spPr>
          <a:xfrm>
            <a:off x="326420" y="3853988"/>
            <a:ext cx="4957724" cy="524435"/>
          </a:xfrm>
          <a:prstGeom prst="roundRect">
            <a:avLst>
              <a:gd name="adj" fmla="val 50000"/>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Times New Roman" panose="02020603050405020304" pitchFamily="18" charset="0"/>
                <a:ea typeface="微软雅黑" panose="020B0503020204020204" pitchFamily="34" charset="-122"/>
              </a:rPr>
              <a:t>技术中性不等于应用无善恶</a:t>
            </a:r>
          </a:p>
        </p:txBody>
      </p:sp>
      <p:grpSp>
        <p:nvGrpSpPr>
          <p:cNvPr id="17" name="组合 16">
            <a:extLst>
              <a:ext uri="{FF2B5EF4-FFF2-40B4-BE49-F238E27FC236}">
                <a16:creationId xmlns:a16="http://schemas.microsoft.com/office/drawing/2014/main" id="{78C59837-FDA2-17F3-7462-078FAE6A70FD}"/>
              </a:ext>
            </a:extLst>
          </p:cNvPr>
          <p:cNvGrpSpPr/>
          <p:nvPr/>
        </p:nvGrpSpPr>
        <p:grpSpPr>
          <a:xfrm>
            <a:off x="326420" y="4764929"/>
            <a:ext cx="4957724" cy="1708320"/>
            <a:chOff x="700315" y="4764929"/>
            <a:chExt cx="10354929" cy="1708320"/>
          </a:xfrm>
        </p:grpSpPr>
        <p:sp>
          <p:nvSpPr>
            <p:cNvPr id="18"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FD696AEF-383B-0300-81DE-D048F00F7EA9}"/>
                </a:ext>
              </a:extLst>
            </p:cNvPr>
            <p:cNvSpPr/>
            <p:nvPr>
              <p:custDataLst>
                <p:tags r:id="rId2"/>
              </p:custDataLst>
            </p:nvPr>
          </p:nvSpPr>
          <p:spPr>
            <a:xfrm>
              <a:off x="700315" y="4764929"/>
              <a:ext cx="10354929" cy="1708320"/>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19" name="文本框 18">
              <a:extLst>
                <a:ext uri="{FF2B5EF4-FFF2-40B4-BE49-F238E27FC236}">
                  <a16:creationId xmlns:a16="http://schemas.microsoft.com/office/drawing/2014/main" id="{56C53627-C7B5-6094-B09F-8F17A84ECFC9}"/>
                </a:ext>
              </a:extLst>
            </p:cNvPr>
            <p:cNvSpPr txBox="1"/>
            <p:nvPr/>
          </p:nvSpPr>
          <p:spPr>
            <a:xfrm>
              <a:off x="1246509" y="5013506"/>
              <a:ext cx="9262541" cy="1211165"/>
            </a:xfrm>
            <a:prstGeom prst="rect">
              <a:avLst/>
            </a:prstGeom>
            <a:noFill/>
          </p:spPr>
          <p:txBody>
            <a:bodyPr wrap="square">
              <a:spAutoFit/>
            </a:bodyPr>
            <a:lstStyle>
              <a:defPPr>
                <a:defRPr lang="zh-CN"/>
              </a:defPPr>
              <a:lvl1pPr marL="342900" indent="-342900">
                <a:lnSpc>
                  <a:spcPct val="125000"/>
                </a:lnSpc>
                <a:spcAft>
                  <a:spcPts val="1200"/>
                </a:spcAft>
                <a:buFont typeface="Wingdings" panose="05000000000000000000" pitchFamily="2" charset="2"/>
                <a:buChar char="p"/>
                <a:defRPr sz="2000" b="0">
                  <a:latin typeface="Times New Roman" panose="02020603050405020304" pitchFamily="18" charset="0"/>
                  <a:ea typeface="微软雅黑" panose="020B0503020204020204" pitchFamily="34" charset="-122"/>
                </a:defRPr>
              </a:lvl1pPr>
            </a:lstStyle>
            <a:p>
              <a:pPr marL="0" indent="0" algn="just">
                <a:buNone/>
              </a:pPr>
              <a:r>
                <a:rPr lang="en-US" altLang="zh-CN" dirty="0"/>
                <a:t>CRISPR/Cas9</a:t>
              </a:r>
              <a:r>
                <a:rPr lang="zh-CN" altLang="en-US" dirty="0"/>
                <a:t>作为基因编辑工具本身是中性的，它可以用于体细胞治疗镰刀型贫血、地中海贫血。</a:t>
              </a:r>
            </a:p>
          </p:txBody>
        </p:sp>
      </p:grpSp>
      <p:sp>
        <p:nvSpPr>
          <p:cNvPr id="20" name="矩形: 圆角 19">
            <a:extLst>
              <a:ext uri="{FF2B5EF4-FFF2-40B4-BE49-F238E27FC236}">
                <a16:creationId xmlns:a16="http://schemas.microsoft.com/office/drawing/2014/main" id="{B53F06C1-BCA6-0F69-1221-9707948012BF}"/>
              </a:ext>
            </a:extLst>
          </p:cNvPr>
          <p:cNvSpPr/>
          <p:nvPr/>
        </p:nvSpPr>
        <p:spPr>
          <a:xfrm>
            <a:off x="7087909" y="3853988"/>
            <a:ext cx="4777671" cy="524435"/>
          </a:xfrm>
          <a:prstGeom prst="roundRect">
            <a:avLst>
              <a:gd name="adj" fmla="val 50000"/>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Times New Roman" panose="02020603050405020304" pitchFamily="18" charset="0"/>
                <a:ea typeface="微软雅黑" panose="020B0503020204020204" pitchFamily="34" charset="-122"/>
              </a:rPr>
              <a:t>知识优势对应责任优势</a:t>
            </a:r>
          </a:p>
        </p:txBody>
      </p:sp>
      <p:grpSp>
        <p:nvGrpSpPr>
          <p:cNvPr id="21" name="组合 20">
            <a:extLst>
              <a:ext uri="{FF2B5EF4-FFF2-40B4-BE49-F238E27FC236}">
                <a16:creationId xmlns:a16="http://schemas.microsoft.com/office/drawing/2014/main" id="{9051E3DC-6B5A-DD30-BF7F-365B9F50367C}"/>
              </a:ext>
            </a:extLst>
          </p:cNvPr>
          <p:cNvGrpSpPr/>
          <p:nvPr/>
        </p:nvGrpSpPr>
        <p:grpSpPr>
          <a:xfrm>
            <a:off x="7087909" y="4764929"/>
            <a:ext cx="4777672" cy="1708320"/>
            <a:chOff x="700315" y="4764929"/>
            <a:chExt cx="10354929" cy="1708320"/>
          </a:xfrm>
        </p:grpSpPr>
        <p:sp>
          <p:nvSpPr>
            <p:cNvPr id="22"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29D7E9D3-E22D-26D2-D1EC-9934430DE348}"/>
                </a:ext>
              </a:extLst>
            </p:cNvPr>
            <p:cNvSpPr/>
            <p:nvPr>
              <p:custDataLst>
                <p:tags r:id="rId1"/>
              </p:custDataLst>
            </p:nvPr>
          </p:nvSpPr>
          <p:spPr>
            <a:xfrm>
              <a:off x="700315" y="4764929"/>
              <a:ext cx="10354929" cy="1708320"/>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23" name="文本框 22">
              <a:extLst>
                <a:ext uri="{FF2B5EF4-FFF2-40B4-BE49-F238E27FC236}">
                  <a16:creationId xmlns:a16="http://schemas.microsoft.com/office/drawing/2014/main" id="{6A268053-640F-B4C1-F0F8-94FEEF2BAC9C}"/>
                </a:ext>
              </a:extLst>
            </p:cNvPr>
            <p:cNvSpPr txBox="1"/>
            <p:nvPr/>
          </p:nvSpPr>
          <p:spPr>
            <a:xfrm>
              <a:off x="1246509" y="5013506"/>
              <a:ext cx="9262541" cy="1211165"/>
            </a:xfrm>
            <a:prstGeom prst="rect">
              <a:avLst/>
            </a:prstGeom>
            <a:noFill/>
          </p:spPr>
          <p:txBody>
            <a:bodyPr wrap="square">
              <a:spAutoFit/>
            </a:bodyPr>
            <a:lstStyle>
              <a:defPPr>
                <a:defRPr lang="zh-CN"/>
              </a:defPPr>
              <a:lvl1pPr marL="342900" indent="-342900">
                <a:lnSpc>
                  <a:spcPct val="125000"/>
                </a:lnSpc>
                <a:spcAft>
                  <a:spcPts val="1200"/>
                </a:spcAft>
                <a:buFont typeface="Wingdings" panose="05000000000000000000" pitchFamily="2" charset="2"/>
                <a:buChar char="p"/>
                <a:defRPr sz="2000" b="0">
                  <a:latin typeface="Times New Roman" panose="02020603050405020304" pitchFamily="18" charset="0"/>
                  <a:ea typeface="微软雅黑" panose="020B0503020204020204" pitchFamily="34" charset="-122"/>
                </a:defRPr>
              </a:lvl1pPr>
            </a:lstStyle>
            <a:p>
              <a:pPr marL="0" indent="0" algn="just">
                <a:buNone/>
              </a:pPr>
              <a:r>
                <a:rPr lang="zh-CN" altLang="en-US" dirty="0"/>
                <a:t>科学家比普通公众更清楚脱靶效应、嵌合体、</a:t>
              </a:r>
              <a:r>
                <a:rPr lang="en-US" altLang="zh-CN" dirty="0"/>
                <a:t>mosaicism</a:t>
              </a:r>
              <a:r>
                <a:rPr lang="zh-CN" altLang="en-US" dirty="0"/>
                <a:t>、多代遗传的风险量级，因此负有更高的风险预判。</a:t>
              </a:r>
            </a:p>
          </p:txBody>
        </p:sp>
      </p:grpSp>
      <p:sp>
        <p:nvSpPr>
          <p:cNvPr id="24" name="箭头: 右 23">
            <a:extLst>
              <a:ext uri="{FF2B5EF4-FFF2-40B4-BE49-F238E27FC236}">
                <a16:creationId xmlns:a16="http://schemas.microsoft.com/office/drawing/2014/main" id="{EF835366-264E-4A0D-4C4F-D0CFEB6F0E80}"/>
              </a:ext>
            </a:extLst>
          </p:cNvPr>
          <p:cNvSpPr/>
          <p:nvPr/>
        </p:nvSpPr>
        <p:spPr>
          <a:xfrm>
            <a:off x="5680700" y="4853883"/>
            <a:ext cx="1010653" cy="7631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3810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C0F2D-0CCE-CA4F-D000-2D33379E74EC}"/>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1A97FA4F-F0F9-CE91-D668-B2F41B71C4E9}"/>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32A3FFDF-316D-0FA6-B00C-C690382EE26B}"/>
                </a:ext>
              </a:extLst>
            </p:cNvPr>
            <p:cNvSpPr/>
            <p:nvPr>
              <p:custDataLst>
                <p:tags r:id="rId2"/>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B3435E9B-CB21-B5F7-3766-DE7F863310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6335268F-2750-062B-AE9D-477C55831363}"/>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E1BD3715-610E-87BD-E084-42D7C34353C3}"/>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DCD2B1EA-9BDC-3B2D-ED47-55FB515A1CE7}"/>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0F349D"/>
                </a:solidFill>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0E44700D-8B43-2C64-A5A1-1C66D50B7B84}"/>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8AB1CE"/>
                </a:solidFill>
                <a:latin typeface="微软雅黑" panose="020B0503020204020204" pitchFamily="34" charset="-122"/>
                <a:ea typeface="微软雅黑" panose="020B0503020204020204" pitchFamily="34" charset="-122"/>
                <a:cs typeface="+mn-ea"/>
                <a:sym typeface="+mn-lt"/>
              </a:rPr>
              <a:t>现实启示</a:t>
            </a:r>
          </a:p>
        </p:txBody>
      </p:sp>
      <p:sp>
        <p:nvSpPr>
          <p:cNvPr id="4" name="文本框 3">
            <a:extLst>
              <a:ext uri="{FF2B5EF4-FFF2-40B4-BE49-F238E27FC236}">
                <a16:creationId xmlns:a16="http://schemas.microsoft.com/office/drawing/2014/main" id="{8F298BC3-0932-2F3D-FE46-1A0ED6AC7D04}"/>
              </a:ext>
            </a:extLst>
          </p:cNvPr>
          <p:cNvSpPr txBox="1"/>
          <p:nvPr/>
        </p:nvSpPr>
        <p:spPr>
          <a:xfrm>
            <a:off x="231292" y="279704"/>
            <a:ext cx="2915936" cy="430374"/>
          </a:xfrm>
          <a:prstGeom prst="rect">
            <a:avLst/>
          </a:prstGeom>
          <a:noFill/>
        </p:spPr>
        <p:txBody>
          <a:bodyPr wrap="square">
            <a:spAutoFit/>
          </a:bodyPr>
          <a:lstStyle/>
          <a:p>
            <a:pPr lvl="0" algn="ctr">
              <a:lnSpc>
                <a:spcPct val="120000"/>
              </a:lnSpc>
              <a:spcBef>
                <a:spcPct val="0"/>
              </a:spcBef>
              <a:spcAft>
                <a:spcPct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科技伦理与社会信用</a:t>
            </a:r>
          </a:p>
        </p:txBody>
      </p:sp>
      <p:sp>
        <p:nvSpPr>
          <p:cNvPr id="10" name="矩形: 圆角 9">
            <a:extLst>
              <a:ext uri="{FF2B5EF4-FFF2-40B4-BE49-F238E27FC236}">
                <a16:creationId xmlns:a16="http://schemas.microsoft.com/office/drawing/2014/main" id="{E4DE18A8-F8A0-9ADD-7392-6CFF703A8503}"/>
              </a:ext>
            </a:extLst>
          </p:cNvPr>
          <p:cNvSpPr/>
          <p:nvPr/>
        </p:nvSpPr>
        <p:spPr>
          <a:xfrm>
            <a:off x="468828" y="1064563"/>
            <a:ext cx="11254344" cy="1314252"/>
          </a:xfrm>
          <a:prstGeom prst="roundRect">
            <a:avLst/>
          </a:prstGeom>
          <a:solidFill>
            <a:schemeClr val="bg1"/>
          </a:solidFill>
          <a:ln w="28575">
            <a:solidFill>
              <a:srgbClr val="0F349D"/>
            </a:solid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1DEF2490-7503-4244-06EA-6D09FF9D7828}"/>
              </a:ext>
            </a:extLst>
          </p:cNvPr>
          <p:cNvSpPr/>
          <p:nvPr/>
        </p:nvSpPr>
        <p:spPr>
          <a:xfrm>
            <a:off x="723885" y="1241983"/>
            <a:ext cx="1100751" cy="960753"/>
          </a:xfrm>
          <a:prstGeom prst="roundRect">
            <a:avLst/>
          </a:prstGeom>
          <a:gradFill>
            <a:gsLst>
              <a:gs pos="16000">
                <a:srgbClr val="0F349D"/>
              </a:gs>
              <a:gs pos="100000">
                <a:srgbClr val="6691C0"/>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理论</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rPr>
              <a:t>支撑</a:t>
            </a:r>
          </a:p>
        </p:txBody>
      </p:sp>
      <p:sp>
        <p:nvSpPr>
          <p:cNvPr id="14" name="文本框 13">
            <a:extLst>
              <a:ext uri="{FF2B5EF4-FFF2-40B4-BE49-F238E27FC236}">
                <a16:creationId xmlns:a16="http://schemas.microsoft.com/office/drawing/2014/main" id="{D67735DF-9CD2-E9E9-ABE3-02F90F6C5111}"/>
              </a:ext>
            </a:extLst>
          </p:cNvPr>
          <p:cNvSpPr txBox="1"/>
          <p:nvPr/>
        </p:nvSpPr>
        <p:spPr>
          <a:xfrm>
            <a:off x="2079693" y="1180641"/>
            <a:ext cx="9388422" cy="1083438"/>
          </a:xfrm>
          <a:prstGeom prst="rect">
            <a:avLst/>
          </a:prstGeom>
          <a:noFill/>
        </p:spPr>
        <p:txBody>
          <a:bodyPr wrap="square">
            <a:spAutoFit/>
          </a:bodyPr>
          <a:lstStyle/>
          <a:p>
            <a:pPr algn="just">
              <a:lnSpc>
                <a:spcPct val="125000"/>
              </a:lnSpc>
            </a:pPr>
            <a:r>
              <a:rPr lang="zh-CN" altLang="en-US" b="1" dirty="0">
                <a:latin typeface="仿宋" panose="02010609060101010101" pitchFamily="49" charset="-122"/>
                <a:ea typeface="仿宋" panose="02010609060101010101" pitchFamily="49" charset="-122"/>
              </a:rPr>
              <a:t>    从自然辩证法的科学技术社会观出发，科学研究并不是脱离社会环境的独立活动，而是与社会价值、伦理规范、公共利益和制度环境密切联系。科技创新不仅需要科学上的可行性，也需要伦理上的正当性与社会层面的责任约束。</a:t>
            </a:r>
          </a:p>
        </p:txBody>
      </p:sp>
      <p:sp>
        <p:nvSpPr>
          <p:cNvPr id="25" name="矩形: 圆角 24">
            <a:extLst>
              <a:ext uri="{FF2B5EF4-FFF2-40B4-BE49-F238E27FC236}">
                <a16:creationId xmlns:a16="http://schemas.microsoft.com/office/drawing/2014/main" id="{4DDCA826-4290-03C0-CF96-00FD128B984E}"/>
              </a:ext>
            </a:extLst>
          </p:cNvPr>
          <p:cNvSpPr/>
          <p:nvPr/>
        </p:nvSpPr>
        <p:spPr>
          <a:xfrm>
            <a:off x="1417952" y="2678409"/>
            <a:ext cx="9356096" cy="524435"/>
          </a:xfrm>
          <a:prstGeom prst="roundRect">
            <a:avLst>
              <a:gd name="adj" fmla="val 50000"/>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b="1" dirty="0">
                <a:solidFill>
                  <a:schemeClr val="bg1"/>
                </a:solidFill>
                <a:latin typeface="Times New Roman" panose="02020603050405020304" pitchFamily="18" charset="0"/>
                <a:ea typeface="微软雅黑" panose="020B0503020204020204" pitchFamily="34" charset="-122"/>
              </a:rPr>
              <a:t>从科研失信到社会信任危机</a:t>
            </a:r>
            <a:r>
              <a:rPr lang="zh-CN" altLang="en-US" sz="2000" b="1" dirty="0">
                <a:solidFill>
                  <a:schemeClr val="bg1"/>
                </a:solidFill>
                <a:latin typeface="Times New Roman" panose="02020603050405020304" pitchFamily="18" charset="0"/>
                <a:ea typeface="微软雅黑" panose="020B0503020204020204" pitchFamily="34" charset="-122"/>
              </a:rPr>
              <a:t>：科研诚信是科学社会公信力的重要基础</a:t>
            </a:r>
            <a:endParaRPr lang="zh-CN" altLang="zh-CN" sz="2000" b="1" dirty="0">
              <a:solidFill>
                <a:schemeClr val="bg1"/>
              </a:solidFill>
              <a:latin typeface="Times New Roman" panose="02020603050405020304" pitchFamily="18" charset="0"/>
              <a:ea typeface="微软雅黑" panose="020B0503020204020204" pitchFamily="34" charset="-122"/>
            </a:endParaRPr>
          </a:p>
        </p:txBody>
      </p:sp>
      <p:sp>
        <p:nvSpPr>
          <p:cNvPr id="29" name="矩形: 圆角 28">
            <a:extLst>
              <a:ext uri="{FF2B5EF4-FFF2-40B4-BE49-F238E27FC236}">
                <a16:creationId xmlns:a16="http://schemas.microsoft.com/office/drawing/2014/main" id="{E9A8CF61-A41F-14E2-C548-6099519752E4}"/>
              </a:ext>
            </a:extLst>
          </p:cNvPr>
          <p:cNvSpPr/>
          <p:nvPr/>
        </p:nvSpPr>
        <p:spPr>
          <a:xfrm>
            <a:off x="468827" y="3502438"/>
            <a:ext cx="4957724" cy="524435"/>
          </a:xfrm>
          <a:prstGeom prst="roundRect">
            <a:avLst>
              <a:gd name="adj" fmla="val 50000"/>
            </a:avLst>
          </a:prstGeom>
          <a:solidFill>
            <a:srgbClr val="6691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Times New Roman" panose="02020603050405020304" pitchFamily="18" charset="0"/>
                <a:ea typeface="微软雅黑" panose="020B0503020204020204" pitchFamily="34" charset="-122"/>
              </a:rPr>
              <a:t>对社会信任的三个层次的影响</a:t>
            </a:r>
          </a:p>
        </p:txBody>
      </p:sp>
      <p:grpSp>
        <p:nvGrpSpPr>
          <p:cNvPr id="33" name="组合 32">
            <a:extLst>
              <a:ext uri="{FF2B5EF4-FFF2-40B4-BE49-F238E27FC236}">
                <a16:creationId xmlns:a16="http://schemas.microsoft.com/office/drawing/2014/main" id="{1096F428-0BB7-0B42-5AA4-3E08D61F1279}"/>
              </a:ext>
            </a:extLst>
          </p:cNvPr>
          <p:cNvGrpSpPr/>
          <p:nvPr/>
        </p:nvGrpSpPr>
        <p:grpSpPr>
          <a:xfrm>
            <a:off x="468828" y="4479185"/>
            <a:ext cx="4957724" cy="2045368"/>
            <a:chOff x="700315" y="4764928"/>
            <a:chExt cx="10354929" cy="2045368"/>
          </a:xfrm>
        </p:grpSpPr>
        <p:sp>
          <p:nvSpPr>
            <p:cNvPr id="35" name="图形" descr="e7d195523061f1c0f55f9af68525816972d868573ada39bc763F3977967589A5F92C178830C92595A6CE4D0132F8C206B2B04C416AAA86B7FD80AB023F78DAEB544E2F013E11B2B95AD21703D1C90034A379EC9026EFAAF5D8D3F6EDD7215B01F2EB414F4EDE30409D8B61380DC7EC398BF814D050B1A52ACB0EE859CB44EE74C1A67D2FC84CC23471FDAC255AABD646">
              <a:extLst>
                <a:ext uri="{FF2B5EF4-FFF2-40B4-BE49-F238E27FC236}">
                  <a16:creationId xmlns:a16="http://schemas.microsoft.com/office/drawing/2014/main" id="{C507EAA9-11B9-E1AB-2DC5-A37A62F5D934}"/>
                </a:ext>
              </a:extLst>
            </p:cNvPr>
            <p:cNvSpPr/>
            <p:nvPr>
              <p:custDataLst>
                <p:tags r:id="rId1"/>
              </p:custDataLst>
            </p:nvPr>
          </p:nvSpPr>
          <p:spPr>
            <a:xfrm>
              <a:off x="700315" y="4764928"/>
              <a:ext cx="10354929" cy="2045368"/>
            </a:xfrm>
            <a:prstGeom prst="roundRect">
              <a:avLst>
                <a:gd name="adj" fmla="val 0"/>
              </a:avLst>
            </a:prstGeom>
            <a:solidFill>
              <a:schemeClr val="bg1"/>
            </a:solidFill>
            <a:ln w="19050">
              <a:gradFill>
                <a:gsLst>
                  <a:gs pos="0">
                    <a:srgbClr val="C2CBDF"/>
                  </a:gs>
                  <a:gs pos="100000">
                    <a:srgbClr val="0F349D"/>
                  </a:gs>
                </a:gsLst>
                <a:lin ang="36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85000"/>
                    <a:lumOff val="15000"/>
                  </a:schemeClr>
                </a:solidFill>
                <a:latin typeface="Times New Roman" panose="02020603050405020304" pitchFamily="18" charset="0"/>
                <a:ea typeface="微软雅黑" panose="020B0503020204020204" pitchFamily="34" charset="-122"/>
                <a:cs typeface="思源黑体旧字形 Light" panose="020B0300000000000000" charset="-128"/>
                <a:sym typeface="Arial"/>
              </a:endParaRPr>
            </a:p>
          </p:txBody>
        </p:sp>
        <p:sp>
          <p:nvSpPr>
            <p:cNvPr id="36" name="文本框 35">
              <a:extLst>
                <a:ext uri="{FF2B5EF4-FFF2-40B4-BE49-F238E27FC236}">
                  <a16:creationId xmlns:a16="http://schemas.microsoft.com/office/drawing/2014/main" id="{5D56D609-A892-7135-0D1E-E57820BB70F7}"/>
                </a:ext>
              </a:extLst>
            </p:cNvPr>
            <p:cNvSpPr txBox="1"/>
            <p:nvPr/>
          </p:nvSpPr>
          <p:spPr>
            <a:xfrm>
              <a:off x="1246508" y="5013506"/>
              <a:ext cx="9262540" cy="1518942"/>
            </a:xfrm>
            <a:prstGeom prst="rect">
              <a:avLst/>
            </a:prstGeom>
            <a:noFill/>
          </p:spPr>
          <p:txBody>
            <a:bodyPr wrap="square">
              <a:spAutoFit/>
            </a:bodyPr>
            <a:lstStyle>
              <a:defPPr>
                <a:defRPr lang="zh-CN"/>
              </a:defPPr>
              <a:lvl1pPr marL="342900" indent="-342900">
                <a:lnSpc>
                  <a:spcPct val="125000"/>
                </a:lnSpc>
                <a:spcAft>
                  <a:spcPts val="1200"/>
                </a:spcAft>
                <a:buFont typeface="Wingdings" panose="05000000000000000000" pitchFamily="2" charset="2"/>
                <a:buChar char="p"/>
                <a:defRPr sz="2000" b="0">
                  <a:latin typeface="Times New Roman" panose="02020603050405020304" pitchFamily="18" charset="0"/>
                  <a:ea typeface="微软雅黑" panose="020B0503020204020204" pitchFamily="34" charset="-122"/>
                </a:defRPr>
              </a:lvl1pPr>
            </a:lstStyle>
            <a:p>
              <a:pPr algn="just"/>
              <a:r>
                <a:rPr lang="zh-CN" altLang="zh-CN" dirty="0"/>
                <a:t>研究参与者与科研人员之间的信任</a:t>
              </a:r>
              <a:endParaRPr lang="en-US" altLang="zh-CN" dirty="0"/>
            </a:p>
            <a:p>
              <a:pPr algn="just"/>
              <a:r>
                <a:rPr lang="zh-CN" altLang="zh-CN" dirty="0"/>
                <a:t>科学共同体内部的信任</a:t>
              </a:r>
              <a:endParaRPr lang="en-US" altLang="zh-CN" dirty="0"/>
            </a:p>
            <a:p>
              <a:pPr algn="just"/>
              <a:r>
                <a:rPr lang="zh-CN" altLang="zh-CN" dirty="0"/>
                <a:t>科学共同体与社会公众之间的信任</a:t>
              </a:r>
              <a:endParaRPr lang="zh-CN" altLang="en-US" dirty="0"/>
            </a:p>
          </p:txBody>
        </p:sp>
      </p:grpSp>
      <p:sp>
        <p:nvSpPr>
          <p:cNvPr id="38" name="矩形: 圆角 37">
            <a:extLst>
              <a:ext uri="{FF2B5EF4-FFF2-40B4-BE49-F238E27FC236}">
                <a16:creationId xmlns:a16="http://schemas.microsoft.com/office/drawing/2014/main" id="{E7C01982-160F-4975-F8B7-13C2E51FF7E5}"/>
              </a:ext>
            </a:extLst>
          </p:cNvPr>
          <p:cNvSpPr/>
          <p:nvPr/>
        </p:nvSpPr>
        <p:spPr>
          <a:xfrm>
            <a:off x="6297672" y="4351994"/>
            <a:ext cx="2007555" cy="1258159"/>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科研公信力</a:t>
            </a:r>
          </a:p>
        </p:txBody>
      </p:sp>
      <p:sp>
        <p:nvSpPr>
          <p:cNvPr id="40" name="矩形: 圆角 39">
            <a:extLst>
              <a:ext uri="{FF2B5EF4-FFF2-40B4-BE49-F238E27FC236}">
                <a16:creationId xmlns:a16="http://schemas.microsoft.com/office/drawing/2014/main" id="{A3EEC2BD-2181-20BE-AB0D-A2EF7CDA6968}"/>
              </a:ext>
            </a:extLst>
          </p:cNvPr>
          <p:cNvSpPr/>
          <p:nvPr/>
        </p:nvSpPr>
        <p:spPr>
          <a:xfrm>
            <a:off x="9362763" y="4351993"/>
            <a:ext cx="2007555" cy="1258159"/>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社会信任</a:t>
            </a:r>
          </a:p>
        </p:txBody>
      </p:sp>
      <p:sp>
        <p:nvSpPr>
          <p:cNvPr id="41" name="箭头: 上弧形 40">
            <a:extLst>
              <a:ext uri="{FF2B5EF4-FFF2-40B4-BE49-F238E27FC236}">
                <a16:creationId xmlns:a16="http://schemas.microsoft.com/office/drawing/2014/main" id="{E6F012C3-C041-70D4-83FB-4EC4A7A799FF}"/>
              </a:ext>
            </a:extLst>
          </p:cNvPr>
          <p:cNvSpPr/>
          <p:nvPr/>
        </p:nvSpPr>
        <p:spPr>
          <a:xfrm>
            <a:off x="7671764" y="3619483"/>
            <a:ext cx="2317884" cy="61777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箭头: 上弧形 42">
            <a:extLst>
              <a:ext uri="{FF2B5EF4-FFF2-40B4-BE49-F238E27FC236}">
                <a16:creationId xmlns:a16="http://schemas.microsoft.com/office/drawing/2014/main" id="{3C4587C0-2FCF-7AF0-492C-216B7975B03B}"/>
              </a:ext>
            </a:extLst>
          </p:cNvPr>
          <p:cNvSpPr/>
          <p:nvPr/>
        </p:nvSpPr>
        <p:spPr>
          <a:xfrm rot="10800000">
            <a:off x="7585030" y="5724888"/>
            <a:ext cx="2317884" cy="617774"/>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229929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5C527-35D9-696D-5B2B-D88116C74319}"/>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8DC17E41-C336-8255-8C53-0392990D11C2}"/>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E66C120F-9DA2-3A77-8C5E-5B1E37CEC592}"/>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88B788C5-9A3F-2451-C962-3C606A92D6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702E1ABD-57AD-D79F-419A-11D7369A811B}"/>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90EB12ED-635B-BEF6-1CDC-8B71DEAD1051}"/>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A3A85DF8-C57B-A433-D07E-9FC5C9AF12CF}"/>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0F349D"/>
                </a:solidFill>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5327640E-5129-D4A9-E48F-FC37C1D07EA2}"/>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8AB1CE"/>
                </a:solidFill>
                <a:latin typeface="微软雅黑" panose="020B0503020204020204" pitchFamily="34" charset="-122"/>
                <a:ea typeface="微软雅黑" panose="020B0503020204020204" pitchFamily="34" charset="-122"/>
                <a:cs typeface="+mn-ea"/>
                <a:sym typeface="+mn-lt"/>
              </a:rPr>
              <a:t>现实启示</a:t>
            </a:r>
          </a:p>
        </p:txBody>
      </p:sp>
      <p:sp>
        <p:nvSpPr>
          <p:cNvPr id="4" name="文本框 3">
            <a:extLst>
              <a:ext uri="{FF2B5EF4-FFF2-40B4-BE49-F238E27FC236}">
                <a16:creationId xmlns:a16="http://schemas.microsoft.com/office/drawing/2014/main" id="{00DA99A5-A8F1-720B-4CB0-E69E6BE03163}"/>
              </a:ext>
            </a:extLst>
          </p:cNvPr>
          <p:cNvSpPr txBox="1"/>
          <p:nvPr/>
        </p:nvSpPr>
        <p:spPr>
          <a:xfrm>
            <a:off x="231292" y="279704"/>
            <a:ext cx="2915936" cy="430374"/>
          </a:xfrm>
          <a:prstGeom prst="rect">
            <a:avLst/>
          </a:prstGeom>
          <a:noFill/>
        </p:spPr>
        <p:txBody>
          <a:bodyPr wrap="square">
            <a:spAutoFit/>
          </a:bodyPr>
          <a:lstStyle/>
          <a:p>
            <a:pPr lvl="0" algn="ctr">
              <a:lnSpc>
                <a:spcPct val="120000"/>
              </a:lnSpc>
              <a:spcBef>
                <a:spcPct val="0"/>
              </a:spcBef>
              <a:spcAft>
                <a:spcPct val="0"/>
              </a:spcAft>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科技伦理与社会信用</a:t>
            </a:r>
          </a:p>
        </p:txBody>
      </p:sp>
      <p:pic>
        <p:nvPicPr>
          <p:cNvPr id="5" name="图片 4">
            <a:extLst>
              <a:ext uri="{FF2B5EF4-FFF2-40B4-BE49-F238E27FC236}">
                <a16:creationId xmlns:a16="http://schemas.microsoft.com/office/drawing/2014/main" id="{51267BCA-D7E3-0162-020B-C621F6DDDE50}"/>
              </a:ext>
            </a:extLst>
          </p:cNvPr>
          <p:cNvPicPr>
            <a:picLocks noChangeAspect="1"/>
          </p:cNvPicPr>
          <p:nvPr/>
        </p:nvPicPr>
        <p:blipFill>
          <a:blip r:embed="rId5"/>
          <a:stretch>
            <a:fillRect/>
          </a:stretch>
        </p:blipFill>
        <p:spPr>
          <a:xfrm>
            <a:off x="326418" y="1103471"/>
            <a:ext cx="5769581" cy="2736485"/>
          </a:xfrm>
          <a:prstGeom prst="rect">
            <a:avLst/>
          </a:prstGeom>
        </p:spPr>
      </p:pic>
      <p:sp>
        <p:nvSpPr>
          <p:cNvPr id="6" name="文本框 5">
            <a:extLst>
              <a:ext uri="{FF2B5EF4-FFF2-40B4-BE49-F238E27FC236}">
                <a16:creationId xmlns:a16="http://schemas.microsoft.com/office/drawing/2014/main" id="{570D04F1-9E36-203C-1B16-250D75095EA2}"/>
              </a:ext>
            </a:extLst>
          </p:cNvPr>
          <p:cNvSpPr txBox="1"/>
          <p:nvPr/>
        </p:nvSpPr>
        <p:spPr>
          <a:xfrm>
            <a:off x="6441786" y="1474437"/>
            <a:ext cx="5612710" cy="2365519"/>
          </a:xfrm>
          <a:prstGeom prst="rect">
            <a:avLst/>
          </a:prstGeom>
          <a:noFill/>
          <a:ln w="19050">
            <a:solidFill>
              <a:schemeClr val="tx1"/>
            </a:solidFill>
            <a:prstDash val="dash"/>
          </a:ln>
        </p:spPr>
        <p:txBody>
          <a:bodyPr wrap="square" rtlCol="0">
            <a:spAutoFit/>
          </a:bodyPr>
          <a:lstStyle/>
          <a:p>
            <a:pPr algn="just">
              <a:lnSpc>
                <a:spcPct val="125000"/>
              </a:lnSpc>
            </a:pP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科研之信：公众注视下的科研人员</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显示，</a:t>
            </a:r>
            <a:r>
              <a:rPr lang="zh-CN" altLang="zh-CN" sz="2000" dirty="0">
                <a:latin typeface="微软雅黑" panose="020B0503020204020204" pitchFamily="34" charset="-122"/>
                <a:ea typeface="微软雅黑" panose="020B0503020204020204" pitchFamily="34" charset="-122"/>
              </a:rPr>
              <a:t>中国受访科研人员认为，科研关注度的提升能够在“增进社会效益”（55%）、“影响政策制定”（48%）以及“提升科研质量”（47%）三个方面带来积极影响，但“公众对于科研和科研开展方式的理解不足”（52%）也让其感到担忧。</a:t>
            </a:r>
            <a:endParaRPr lang="zh-CN" altLang="en-US" sz="20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C924F2C3-10EC-8064-DC99-0D38935107D5}"/>
              </a:ext>
            </a:extLst>
          </p:cNvPr>
          <p:cNvSpPr/>
          <p:nvPr/>
        </p:nvSpPr>
        <p:spPr>
          <a:xfrm>
            <a:off x="326418" y="4242144"/>
            <a:ext cx="1952554" cy="10105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tx1"/>
                </a:solidFill>
              </a:rPr>
              <a:t>个别研究人员违反伦理规范</a:t>
            </a:r>
            <a:endParaRPr lang="zh-CN" altLang="en-US" dirty="0">
              <a:solidFill>
                <a:schemeClr val="tx1"/>
              </a:solidFill>
            </a:endParaRPr>
          </a:p>
        </p:txBody>
      </p:sp>
      <p:sp>
        <p:nvSpPr>
          <p:cNvPr id="13" name="矩形 12">
            <a:extLst>
              <a:ext uri="{FF2B5EF4-FFF2-40B4-BE49-F238E27FC236}">
                <a16:creationId xmlns:a16="http://schemas.microsoft.com/office/drawing/2014/main" id="{38212496-8A44-F059-C248-C5582C06570C}"/>
              </a:ext>
            </a:extLst>
          </p:cNvPr>
          <p:cNvSpPr/>
          <p:nvPr/>
        </p:nvSpPr>
        <p:spPr>
          <a:xfrm>
            <a:off x="2775130" y="4242143"/>
            <a:ext cx="1952554" cy="10104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tx1"/>
                </a:solidFill>
              </a:rPr>
              <a:t>研究过程的真实性与正当性受到质疑</a:t>
            </a:r>
            <a:endParaRPr lang="zh-CN" altLang="en-US" dirty="0">
              <a:solidFill>
                <a:schemeClr val="tx1"/>
              </a:solidFill>
            </a:endParaRPr>
          </a:p>
        </p:txBody>
      </p:sp>
      <p:sp>
        <p:nvSpPr>
          <p:cNvPr id="16" name="矩形 15">
            <a:extLst>
              <a:ext uri="{FF2B5EF4-FFF2-40B4-BE49-F238E27FC236}">
                <a16:creationId xmlns:a16="http://schemas.microsoft.com/office/drawing/2014/main" id="{0F429CE5-FCB2-B352-EFE1-D47B5718EF66}"/>
              </a:ext>
            </a:extLst>
          </p:cNvPr>
          <p:cNvSpPr/>
          <p:nvPr/>
        </p:nvSpPr>
        <p:spPr>
          <a:xfrm>
            <a:off x="5184884" y="4242142"/>
            <a:ext cx="1952554" cy="10104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tx1"/>
                </a:solidFill>
              </a:rPr>
              <a:t>科研机构与科学共同体的监督能力受到审视</a:t>
            </a:r>
            <a:endParaRPr lang="zh-CN" altLang="en-US" dirty="0">
              <a:solidFill>
                <a:schemeClr val="tx1"/>
              </a:solidFill>
            </a:endParaRPr>
          </a:p>
        </p:txBody>
      </p:sp>
      <p:sp>
        <p:nvSpPr>
          <p:cNvPr id="18" name="矩形 17">
            <a:extLst>
              <a:ext uri="{FF2B5EF4-FFF2-40B4-BE49-F238E27FC236}">
                <a16:creationId xmlns:a16="http://schemas.microsoft.com/office/drawing/2014/main" id="{F67CFB90-A9CF-B914-2BD0-AC9DEBC7196F}"/>
              </a:ext>
            </a:extLst>
          </p:cNvPr>
          <p:cNvSpPr/>
          <p:nvPr/>
        </p:nvSpPr>
        <p:spPr>
          <a:xfrm>
            <a:off x="7594638" y="4242142"/>
            <a:ext cx="1952554" cy="10104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tx1"/>
                </a:solidFill>
              </a:rPr>
              <a:t>公众对科技活动和治理制度的信任可能受到影响</a:t>
            </a:r>
            <a:endParaRPr lang="zh-CN" altLang="en-US" dirty="0">
              <a:solidFill>
                <a:schemeClr val="tx1"/>
              </a:solidFill>
            </a:endParaRPr>
          </a:p>
        </p:txBody>
      </p:sp>
      <p:sp>
        <p:nvSpPr>
          <p:cNvPr id="20" name="矩形 19">
            <a:extLst>
              <a:ext uri="{FF2B5EF4-FFF2-40B4-BE49-F238E27FC236}">
                <a16:creationId xmlns:a16="http://schemas.microsoft.com/office/drawing/2014/main" id="{A6B60762-7968-2F96-4700-1F1C5ACC308F}"/>
              </a:ext>
            </a:extLst>
          </p:cNvPr>
          <p:cNvSpPr/>
          <p:nvPr/>
        </p:nvSpPr>
        <p:spPr>
          <a:xfrm>
            <a:off x="10004392" y="4242142"/>
            <a:ext cx="1952554" cy="10104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b="1" dirty="0">
                <a:solidFill>
                  <a:schemeClr val="tx1"/>
                </a:solidFill>
              </a:rPr>
              <a:t>前沿技术的社会接受与推广可能面临更大的信任障碍</a:t>
            </a:r>
            <a:endParaRPr lang="zh-CN" altLang="en-US" dirty="0">
              <a:solidFill>
                <a:schemeClr val="tx1"/>
              </a:solidFill>
            </a:endParaRPr>
          </a:p>
        </p:txBody>
      </p:sp>
      <p:sp>
        <p:nvSpPr>
          <p:cNvPr id="21" name="矩形 20">
            <a:extLst>
              <a:ext uri="{FF2B5EF4-FFF2-40B4-BE49-F238E27FC236}">
                <a16:creationId xmlns:a16="http://schemas.microsoft.com/office/drawing/2014/main" id="{7D311535-FF76-ADC8-336B-790C8624560A}"/>
              </a:ext>
            </a:extLst>
          </p:cNvPr>
          <p:cNvSpPr/>
          <p:nvPr/>
        </p:nvSpPr>
        <p:spPr>
          <a:xfrm>
            <a:off x="6441786" y="1038513"/>
            <a:ext cx="1368428" cy="37096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爱斯维尔</a:t>
            </a:r>
          </a:p>
        </p:txBody>
      </p:sp>
      <p:cxnSp>
        <p:nvCxnSpPr>
          <p:cNvPr id="23" name="直接箭头连接符 22">
            <a:extLst>
              <a:ext uri="{FF2B5EF4-FFF2-40B4-BE49-F238E27FC236}">
                <a16:creationId xmlns:a16="http://schemas.microsoft.com/office/drawing/2014/main" id="{4B74BECE-2D55-ECED-E5F0-BEEF0B30B745}"/>
              </a:ext>
            </a:extLst>
          </p:cNvPr>
          <p:cNvCxnSpPr>
            <a:stCxn id="8" idx="3"/>
            <a:endCxn id="13" idx="1"/>
          </p:cNvCxnSpPr>
          <p:nvPr/>
        </p:nvCxnSpPr>
        <p:spPr>
          <a:xfrm flipV="1">
            <a:off x="2278972" y="4747393"/>
            <a:ext cx="496158"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1BE73C9E-CD32-BE67-2D15-E59ABF76A3FB}"/>
              </a:ext>
            </a:extLst>
          </p:cNvPr>
          <p:cNvCxnSpPr>
            <a:cxnSpLocks/>
            <a:stCxn id="13" idx="3"/>
            <a:endCxn id="16" idx="1"/>
          </p:cNvCxnSpPr>
          <p:nvPr/>
        </p:nvCxnSpPr>
        <p:spPr>
          <a:xfrm flipV="1">
            <a:off x="4727684" y="4747392"/>
            <a:ext cx="457200"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198F8590-5996-1920-51BD-2E565D27A33E}"/>
              </a:ext>
            </a:extLst>
          </p:cNvPr>
          <p:cNvCxnSpPr>
            <a:cxnSpLocks/>
            <a:stCxn id="16" idx="3"/>
            <a:endCxn id="18" idx="1"/>
          </p:cNvCxnSpPr>
          <p:nvPr/>
        </p:nvCxnSpPr>
        <p:spPr>
          <a:xfrm>
            <a:off x="7137438" y="4747392"/>
            <a:ext cx="4572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6D0C4A26-2119-B07D-B6BA-6A7D0DBB5C8A}"/>
              </a:ext>
            </a:extLst>
          </p:cNvPr>
          <p:cNvCxnSpPr>
            <a:cxnSpLocks/>
            <a:stCxn id="18" idx="3"/>
            <a:endCxn id="20" idx="1"/>
          </p:cNvCxnSpPr>
          <p:nvPr/>
        </p:nvCxnSpPr>
        <p:spPr>
          <a:xfrm>
            <a:off x="9547192" y="4747392"/>
            <a:ext cx="4572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3" name="矩形: 圆角 52">
            <a:extLst>
              <a:ext uri="{FF2B5EF4-FFF2-40B4-BE49-F238E27FC236}">
                <a16:creationId xmlns:a16="http://schemas.microsoft.com/office/drawing/2014/main" id="{42EE5F80-1C1B-9DFA-7533-76F6E1E373BE}"/>
              </a:ext>
            </a:extLst>
          </p:cNvPr>
          <p:cNvSpPr/>
          <p:nvPr/>
        </p:nvSpPr>
        <p:spPr>
          <a:xfrm>
            <a:off x="577030" y="5680861"/>
            <a:ext cx="10820504" cy="958432"/>
          </a:xfrm>
          <a:prstGeom prst="roundRect">
            <a:avLst>
              <a:gd name="adj" fmla="val 27714"/>
            </a:avLst>
          </a:prstGeom>
          <a:solidFill>
            <a:srgbClr val="0F34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Times New Roman" panose="02020603050405020304" pitchFamily="18" charset="0"/>
                <a:ea typeface="微软雅黑" panose="020B0503020204020204" pitchFamily="34" charset="-122"/>
              </a:rPr>
              <a:t>科学研究的社会公信力是一种需要长期积累的信任资源，而维持这种信任的关键，不只是科学家作出道德承诺，更在于科学活动是否经得起独立审查和实践检验。</a:t>
            </a:r>
            <a:endParaRPr lang="zh-CN" altLang="zh-CN" sz="2000" b="1" dirty="0">
              <a:solidFill>
                <a:schemeClr val="bg1"/>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178446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7FD2A-5D55-996F-6CA4-ABDE5BB82A48}"/>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DBC10E21-AABC-C93E-0EF8-77B0B913ECF0}"/>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FF1FD380-F045-C531-9548-6FCC78F16153}"/>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C85391EF-4504-80CD-7CF8-DD5E92072E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1008A9B3-B809-6F3A-6FAF-CFCD39734140}"/>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E7EFA80-FD7A-1D64-7A5F-0F67A15E67D5}"/>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chemeClr val="bg1"/>
                </a:solidFill>
                <a:latin typeface="微软雅黑" panose="020B0503020204020204" pitchFamily="34" charset="-122"/>
                <a:ea typeface="微软雅黑" panose="020B0503020204020204" pitchFamily="34" charset="-122"/>
                <a:cs typeface="+mn-ea"/>
                <a:sym typeface="+mn-lt"/>
              </a:rPr>
              <a:t>启示</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8" name="文本框 47">
            <a:extLst>
              <a:ext uri="{FF2B5EF4-FFF2-40B4-BE49-F238E27FC236}">
                <a16:creationId xmlns:a16="http://schemas.microsoft.com/office/drawing/2014/main" id="{1D9D71D5-05D5-9EC9-88AD-8C20E3587E70}"/>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0C9835C1-D77D-964E-E4B3-0492D0E9AACD}"/>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A8498BC2-6583-F9A2-65C4-C33CF33BADE3}"/>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800" b="1" dirty="0">
                <a:solidFill>
                  <a:srgbClr val="0F349D"/>
                </a:solidFill>
                <a:latin typeface="微软雅黑" panose="020B0503020204020204" pitchFamily="34" charset="-122"/>
                <a:ea typeface="微软雅黑" panose="020B0503020204020204" pitchFamily="34" charset="-122"/>
                <a:cs typeface="+mn-ea"/>
                <a:sym typeface="+mn-lt"/>
              </a:rPr>
              <a:t>现实启示</a:t>
            </a:r>
          </a:p>
        </p:txBody>
      </p:sp>
      <p:pic>
        <p:nvPicPr>
          <p:cNvPr id="3" name="图片 2">
            <a:extLst>
              <a:ext uri="{FF2B5EF4-FFF2-40B4-BE49-F238E27FC236}">
                <a16:creationId xmlns:a16="http://schemas.microsoft.com/office/drawing/2014/main" id="{A13304B4-44B9-E09D-2EE7-A8E5F7BDEBFD}"/>
              </a:ext>
            </a:extLst>
          </p:cNvPr>
          <p:cNvPicPr>
            <a:picLocks noChangeAspect="1"/>
          </p:cNvPicPr>
          <p:nvPr/>
        </p:nvPicPr>
        <p:blipFill>
          <a:blip r:embed="rId5"/>
          <a:stretch>
            <a:fillRect/>
          </a:stretch>
        </p:blipFill>
        <p:spPr>
          <a:xfrm>
            <a:off x="8453983" y="1746008"/>
            <a:ext cx="3466599" cy="2311066"/>
          </a:xfrm>
          <a:prstGeom prst="rect">
            <a:avLst/>
          </a:prstGeom>
        </p:spPr>
      </p:pic>
      <p:sp>
        <p:nvSpPr>
          <p:cNvPr id="5" name="文本框 4">
            <a:extLst>
              <a:ext uri="{FF2B5EF4-FFF2-40B4-BE49-F238E27FC236}">
                <a16:creationId xmlns:a16="http://schemas.microsoft.com/office/drawing/2014/main" id="{FF9479EA-A7D3-5C44-C3A9-28A8E2AEA642}"/>
              </a:ext>
            </a:extLst>
          </p:cNvPr>
          <p:cNvSpPr txBox="1"/>
          <p:nvPr/>
        </p:nvSpPr>
        <p:spPr>
          <a:xfrm>
            <a:off x="326418" y="1222788"/>
            <a:ext cx="5345612" cy="523220"/>
          </a:xfrm>
          <a:prstGeom prst="rect">
            <a:avLst/>
          </a:prstGeom>
          <a:noFill/>
        </p:spPr>
        <p:txBody>
          <a:bodyPr wrap="square">
            <a:spAutoFit/>
          </a:bodyPr>
          <a:lstStyle/>
          <a:p>
            <a:r>
              <a:rPr lang="zh-CN" altLang="zh-CN" sz="2800" b="1" kern="100" dirty="0">
                <a:effectLst/>
                <a:latin typeface="微软雅黑" panose="020B0503020204020204" pitchFamily="34" charset="-122"/>
                <a:ea typeface="微软雅黑" panose="020B0503020204020204" pitchFamily="34" charset="-122"/>
                <a:cs typeface="Times New Roman" panose="02020603050405020304" pitchFamily="18" charset="0"/>
              </a:rPr>
              <a:t>对研究生科研实践的方法论启发</a:t>
            </a:r>
            <a:endParaRPr lang="zh-CN" altLang="en-US" sz="2800" dirty="0">
              <a:latin typeface="微软雅黑" panose="020B0503020204020204" pitchFamily="34" charset="-122"/>
              <a:ea typeface="微软雅黑" panose="020B0503020204020204" pitchFamily="34" charset="-122"/>
            </a:endParaRPr>
          </a:p>
        </p:txBody>
      </p:sp>
      <p:sp>
        <p:nvSpPr>
          <p:cNvPr id="8" name="Shape 4">
            <a:extLst>
              <a:ext uri="{FF2B5EF4-FFF2-40B4-BE49-F238E27FC236}">
                <a16:creationId xmlns:a16="http://schemas.microsoft.com/office/drawing/2014/main" id="{48BF24B5-05E6-9C52-FB78-B0D400EF2C5B}"/>
              </a:ext>
            </a:extLst>
          </p:cNvPr>
          <p:cNvSpPr/>
          <p:nvPr/>
        </p:nvSpPr>
        <p:spPr>
          <a:xfrm>
            <a:off x="326418" y="2115765"/>
            <a:ext cx="566928" cy="566928"/>
          </a:xfrm>
          <a:prstGeom prst="roundRect">
            <a:avLst>
              <a:gd name="adj" fmla="val 16129"/>
            </a:avLst>
          </a:prstGeom>
          <a:solidFill>
            <a:schemeClr val="accent1">
              <a:lumMod val="40000"/>
              <a:lumOff val="60000"/>
            </a:schemeClr>
          </a:solidFill>
          <a:ln>
            <a:noFill/>
          </a:ln>
        </p:spPr>
      </p:sp>
      <p:sp>
        <p:nvSpPr>
          <p:cNvPr id="12" name="Text 5">
            <a:extLst>
              <a:ext uri="{FF2B5EF4-FFF2-40B4-BE49-F238E27FC236}">
                <a16:creationId xmlns:a16="http://schemas.microsoft.com/office/drawing/2014/main" id="{48DBEF52-7DA9-C193-60BA-AA8918BC56C7}"/>
              </a:ext>
            </a:extLst>
          </p:cNvPr>
          <p:cNvSpPr/>
          <p:nvPr/>
        </p:nvSpPr>
        <p:spPr>
          <a:xfrm>
            <a:off x="326418" y="2115765"/>
            <a:ext cx="566928" cy="566928"/>
          </a:xfrm>
          <a:prstGeom prst="rect">
            <a:avLst/>
          </a:prstGeom>
          <a:noFill/>
          <a:ln>
            <a:noFill/>
          </a:ln>
        </p:spPr>
        <p:txBody>
          <a:bodyPr wrap="square" lIns="0" tIns="0" rIns="0" bIns="0" rtlCol="0" anchor="ctr"/>
          <a:lstStyle/>
          <a:p>
            <a:pPr marL="0" indent="0" algn="ctr">
              <a:lnSpc>
                <a:spcPct val="125000"/>
              </a:lnSpc>
              <a:buNone/>
            </a:pPr>
            <a:r>
              <a:rPr lang="en-US" sz="1700" b="1" dirty="0">
                <a:solidFill>
                  <a:srgbClr val="FFFFFF"/>
                </a:solidFill>
                <a:latin typeface="Microsoft YaHei" pitchFamily="34" charset="0"/>
                <a:ea typeface="Microsoft YaHei" pitchFamily="34" charset="-122"/>
                <a:cs typeface="Microsoft YaHei" pitchFamily="34" charset="-120"/>
              </a:rPr>
              <a:t>01</a:t>
            </a:r>
            <a:endParaRPr lang="en-US" sz="1700" dirty="0"/>
          </a:p>
        </p:txBody>
      </p:sp>
      <p:sp>
        <p:nvSpPr>
          <p:cNvPr id="14" name="Shape 8">
            <a:extLst>
              <a:ext uri="{FF2B5EF4-FFF2-40B4-BE49-F238E27FC236}">
                <a16:creationId xmlns:a16="http://schemas.microsoft.com/office/drawing/2014/main" id="{AE75FE18-B963-07FD-AFB6-24514D44F9BB}"/>
              </a:ext>
            </a:extLst>
          </p:cNvPr>
          <p:cNvSpPr/>
          <p:nvPr/>
        </p:nvSpPr>
        <p:spPr>
          <a:xfrm>
            <a:off x="326418" y="3249621"/>
            <a:ext cx="566928" cy="566928"/>
          </a:xfrm>
          <a:prstGeom prst="roundRect">
            <a:avLst>
              <a:gd name="adj" fmla="val 16129"/>
            </a:avLst>
          </a:prstGeom>
          <a:solidFill>
            <a:schemeClr val="accent1">
              <a:lumMod val="60000"/>
              <a:lumOff val="40000"/>
            </a:schemeClr>
          </a:solidFill>
          <a:ln>
            <a:noFill/>
          </a:ln>
        </p:spPr>
      </p:sp>
      <p:sp>
        <p:nvSpPr>
          <p:cNvPr id="16" name="Text 9">
            <a:extLst>
              <a:ext uri="{FF2B5EF4-FFF2-40B4-BE49-F238E27FC236}">
                <a16:creationId xmlns:a16="http://schemas.microsoft.com/office/drawing/2014/main" id="{10744430-628A-930F-1CE5-71F833F3B245}"/>
              </a:ext>
            </a:extLst>
          </p:cNvPr>
          <p:cNvSpPr/>
          <p:nvPr/>
        </p:nvSpPr>
        <p:spPr>
          <a:xfrm>
            <a:off x="326418" y="3249621"/>
            <a:ext cx="566928" cy="566928"/>
          </a:xfrm>
          <a:prstGeom prst="rect">
            <a:avLst/>
          </a:prstGeom>
          <a:noFill/>
          <a:ln>
            <a:noFill/>
          </a:ln>
        </p:spPr>
        <p:txBody>
          <a:bodyPr wrap="square" lIns="0" tIns="0" rIns="0" bIns="0" rtlCol="0" anchor="ctr"/>
          <a:lstStyle/>
          <a:p>
            <a:pPr marL="0" indent="0" algn="ctr">
              <a:lnSpc>
                <a:spcPct val="125000"/>
              </a:lnSpc>
              <a:buNone/>
            </a:pPr>
            <a:r>
              <a:rPr lang="en-US" sz="1700" b="1" dirty="0">
                <a:solidFill>
                  <a:srgbClr val="FFFFFF"/>
                </a:solidFill>
                <a:latin typeface="Microsoft YaHei" pitchFamily="34" charset="0"/>
                <a:ea typeface="Microsoft YaHei" pitchFamily="34" charset="-122"/>
                <a:cs typeface="Microsoft YaHei" pitchFamily="34" charset="-120"/>
              </a:rPr>
              <a:t>02</a:t>
            </a:r>
            <a:endParaRPr lang="en-US" sz="1700" dirty="0"/>
          </a:p>
        </p:txBody>
      </p:sp>
      <p:sp>
        <p:nvSpPr>
          <p:cNvPr id="18" name="Shape 12">
            <a:extLst>
              <a:ext uri="{FF2B5EF4-FFF2-40B4-BE49-F238E27FC236}">
                <a16:creationId xmlns:a16="http://schemas.microsoft.com/office/drawing/2014/main" id="{C05D29E0-EF73-67C1-5723-23B13C41053F}"/>
              </a:ext>
            </a:extLst>
          </p:cNvPr>
          <p:cNvSpPr/>
          <p:nvPr/>
        </p:nvSpPr>
        <p:spPr>
          <a:xfrm>
            <a:off x="326418" y="4383477"/>
            <a:ext cx="566928" cy="566928"/>
          </a:xfrm>
          <a:prstGeom prst="roundRect">
            <a:avLst>
              <a:gd name="adj" fmla="val 16129"/>
            </a:avLst>
          </a:prstGeom>
          <a:solidFill>
            <a:schemeClr val="accent1">
              <a:lumMod val="75000"/>
            </a:schemeClr>
          </a:solidFill>
          <a:ln>
            <a:noFill/>
          </a:ln>
        </p:spPr>
      </p:sp>
      <p:sp>
        <p:nvSpPr>
          <p:cNvPr id="20" name="Text 13">
            <a:extLst>
              <a:ext uri="{FF2B5EF4-FFF2-40B4-BE49-F238E27FC236}">
                <a16:creationId xmlns:a16="http://schemas.microsoft.com/office/drawing/2014/main" id="{178A1652-5F9E-20F4-C4F2-4A8390C35C08}"/>
              </a:ext>
            </a:extLst>
          </p:cNvPr>
          <p:cNvSpPr/>
          <p:nvPr/>
        </p:nvSpPr>
        <p:spPr>
          <a:xfrm>
            <a:off x="326418" y="4383477"/>
            <a:ext cx="566928" cy="566928"/>
          </a:xfrm>
          <a:prstGeom prst="rect">
            <a:avLst/>
          </a:prstGeom>
          <a:noFill/>
          <a:ln>
            <a:noFill/>
          </a:ln>
        </p:spPr>
        <p:txBody>
          <a:bodyPr wrap="square" lIns="0" tIns="0" rIns="0" bIns="0" rtlCol="0" anchor="ctr"/>
          <a:lstStyle/>
          <a:p>
            <a:pPr marL="0" indent="0" algn="ctr">
              <a:lnSpc>
                <a:spcPct val="125000"/>
              </a:lnSpc>
              <a:buNone/>
            </a:pPr>
            <a:r>
              <a:rPr lang="en-US" sz="1700" b="1" dirty="0">
                <a:solidFill>
                  <a:srgbClr val="FFFFFF"/>
                </a:solidFill>
                <a:latin typeface="Microsoft YaHei" pitchFamily="34" charset="0"/>
                <a:ea typeface="Microsoft YaHei" pitchFamily="34" charset="-122"/>
                <a:cs typeface="Microsoft YaHei" pitchFamily="34" charset="-120"/>
              </a:rPr>
              <a:t>03</a:t>
            </a:r>
            <a:endParaRPr lang="en-US" sz="1700" dirty="0"/>
          </a:p>
        </p:txBody>
      </p:sp>
      <p:sp>
        <p:nvSpPr>
          <p:cNvPr id="22" name="Shape 16">
            <a:extLst>
              <a:ext uri="{FF2B5EF4-FFF2-40B4-BE49-F238E27FC236}">
                <a16:creationId xmlns:a16="http://schemas.microsoft.com/office/drawing/2014/main" id="{066483AF-EE08-A5E0-8B0D-33E1FBD018E6}"/>
              </a:ext>
            </a:extLst>
          </p:cNvPr>
          <p:cNvSpPr/>
          <p:nvPr/>
        </p:nvSpPr>
        <p:spPr>
          <a:xfrm>
            <a:off x="326418" y="5517333"/>
            <a:ext cx="566928" cy="566928"/>
          </a:xfrm>
          <a:prstGeom prst="roundRect">
            <a:avLst>
              <a:gd name="adj" fmla="val 16129"/>
            </a:avLst>
          </a:prstGeom>
          <a:solidFill>
            <a:schemeClr val="accent1">
              <a:lumMod val="50000"/>
            </a:schemeClr>
          </a:solidFill>
          <a:ln>
            <a:noFill/>
          </a:ln>
        </p:spPr>
      </p:sp>
      <p:sp>
        <p:nvSpPr>
          <p:cNvPr id="24" name="Text 17">
            <a:extLst>
              <a:ext uri="{FF2B5EF4-FFF2-40B4-BE49-F238E27FC236}">
                <a16:creationId xmlns:a16="http://schemas.microsoft.com/office/drawing/2014/main" id="{F660F6E7-6BBC-85DC-E1D1-44680B3F7317}"/>
              </a:ext>
            </a:extLst>
          </p:cNvPr>
          <p:cNvSpPr/>
          <p:nvPr/>
        </p:nvSpPr>
        <p:spPr>
          <a:xfrm>
            <a:off x="326418" y="5517333"/>
            <a:ext cx="566928" cy="566928"/>
          </a:xfrm>
          <a:prstGeom prst="rect">
            <a:avLst/>
          </a:prstGeom>
          <a:noFill/>
          <a:ln>
            <a:noFill/>
          </a:ln>
        </p:spPr>
        <p:txBody>
          <a:bodyPr wrap="square" lIns="0" tIns="0" rIns="0" bIns="0" rtlCol="0" anchor="ctr"/>
          <a:lstStyle/>
          <a:p>
            <a:pPr marL="0" indent="0" algn="ctr">
              <a:lnSpc>
                <a:spcPct val="125000"/>
              </a:lnSpc>
              <a:buNone/>
            </a:pPr>
            <a:r>
              <a:rPr lang="en-US" sz="1700" b="1" dirty="0">
                <a:solidFill>
                  <a:srgbClr val="FFFFFF"/>
                </a:solidFill>
                <a:latin typeface="Microsoft YaHei" pitchFamily="34" charset="0"/>
                <a:ea typeface="Microsoft YaHei" pitchFamily="34" charset="-122"/>
                <a:cs typeface="Microsoft YaHei" pitchFamily="34" charset="-120"/>
              </a:rPr>
              <a:t>04</a:t>
            </a:r>
            <a:endParaRPr lang="en-US" sz="1700" dirty="0"/>
          </a:p>
        </p:txBody>
      </p:sp>
      <p:sp>
        <p:nvSpPr>
          <p:cNvPr id="27" name="文本框 26">
            <a:extLst>
              <a:ext uri="{FF2B5EF4-FFF2-40B4-BE49-F238E27FC236}">
                <a16:creationId xmlns:a16="http://schemas.microsoft.com/office/drawing/2014/main" id="{2E2DF735-8ED2-35B0-227A-6608AD15C85C}"/>
              </a:ext>
            </a:extLst>
          </p:cNvPr>
          <p:cNvSpPr txBox="1"/>
          <p:nvPr/>
        </p:nvSpPr>
        <p:spPr>
          <a:xfrm>
            <a:off x="1067372" y="2214563"/>
            <a:ext cx="5491557" cy="441916"/>
          </a:xfrm>
          <a:prstGeom prst="rect">
            <a:avLst/>
          </a:prstGeom>
          <a:noFill/>
        </p:spPr>
        <p:txBody>
          <a:bodyPr wrap="square">
            <a:spAutoFit/>
          </a:bodyPr>
          <a:lstStyle/>
          <a:p>
            <a:pPr>
              <a:lnSpc>
                <a:spcPct val="125000"/>
              </a:lnSpc>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选题与设计阶段实行伦理嵌入</a:t>
            </a: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，而非亡羊补牢。</a:t>
            </a:r>
            <a:endParaRPr lang="zh-CN" altLang="en-US" sz="20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C86E6137-B8F7-8178-2293-A14C49D4773F}"/>
              </a:ext>
            </a:extLst>
          </p:cNvPr>
          <p:cNvSpPr txBox="1"/>
          <p:nvPr/>
        </p:nvSpPr>
        <p:spPr>
          <a:xfrm>
            <a:off x="1067371" y="3179142"/>
            <a:ext cx="7331611" cy="826637"/>
          </a:xfrm>
          <a:prstGeom prst="rect">
            <a:avLst/>
          </a:prstGeom>
          <a:noFill/>
        </p:spPr>
        <p:txBody>
          <a:bodyPr wrap="square">
            <a:spAutoFit/>
          </a:bodyPr>
          <a:lstStyle/>
          <a:p>
            <a:pPr>
              <a:lnSpc>
                <a:spcPct val="125000"/>
              </a:lnSpc>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技术可行不能单独作为行动理由。工程上能实现的事情很多，但只有经过伦理、法律和社会三重过滤的，才应进入实验阶段。</a:t>
            </a:r>
            <a:endParaRPr lang="zh-CN" altLang="en-US" sz="20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02B9A31D-4F91-0E9E-3DAA-7FAF2744307D}"/>
              </a:ext>
            </a:extLst>
          </p:cNvPr>
          <p:cNvSpPr txBox="1"/>
          <p:nvPr/>
        </p:nvSpPr>
        <p:spPr>
          <a:xfrm>
            <a:off x="1067371" y="4312998"/>
            <a:ext cx="7331611" cy="826637"/>
          </a:xfrm>
          <a:prstGeom prst="rect">
            <a:avLst/>
          </a:prstGeom>
          <a:noFill/>
        </p:spPr>
        <p:txBody>
          <a:bodyPr wrap="square">
            <a:spAutoFit/>
          </a:bodyPr>
          <a:lstStyle/>
          <a:p>
            <a:pPr>
              <a:lnSpc>
                <a:spcPct val="125000"/>
              </a:lnSpc>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以可追溯性承载科研诚信。从日常做起，原始数据真实完整记录，实验操作透明留痕，合作研究权责清晰。</a:t>
            </a:r>
            <a:endParaRPr lang="zh-CN" altLang="en-US" sz="20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421DEE70-B6A1-AF4A-6AB1-26CAE47E20B2}"/>
              </a:ext>
            </a:extLst>
          </p:cNvPr>
          <p:cNvSpPr txBox="1"/>
          <p:nvPr/>
        </p:nvSpPr>
        <p:spPr>
          <a:xfrm>
            <a:off x="1067371" y="5446854"/>
            <a:ext cx="7331611" cy="826637"/>
          </a:xfrm>
          <a:prstGeom prst="rect">
            <a:avLst/>
          </a:prstGeom>
          <a:noFill/>
        </p:spPr>
        <p:txBody>
          <a:bodyPr wrap="square">
            <a:spAutoFit/>
          </a:bodyPr>
          <a:lstStyle/>
          <a:p>
            <a:pPr>
              <a:lnSpc>
                <a:spcPct val="125000"/>
              </a:lnSpc>
            </a:pPr>
            <a:r>
              <a:rPr lang="zh-CN" altLang="en-US" sz="2000" kern="100" dirty="0">
                <a:effectLst/>
                <a:latin typeface="微软雅黑" panose="020B0503020204020204" pitchFamily="34" charset="-122"/>
                <a:ea typeface="微软雅黑" panose="020B0503020204020204" pitchFamily="34" charset="-122"/>
                <a:cs typeface="Times New Roman" panose="02020603050405020304" pitchFamily="18" charset="0"/>
              </a:rPr>
              <a:t>把知识优势转化为风险预判和告知义务。自然辩证法强调实践主体的能动性。研究生比公众更了解技术细节，也更应预判风险。</a:t>
            </a:r>
            <a:endParaRPr lang="zh-CN" altLang="en-US" sz="2000" dirty="0">
              <a:latin typeface="微软雅黑" panose="020B0503020204020204" pitchFamily="34" charset="-122"/>
              <a:ea typeface="微软雅黑" panose="020B0503020204020204" pitchFamily="34" charset="-122"/>
            </a:endParaRPr>
          </a:p>
        </p:txBody>
      </p:sp>
      <p:pic>
        <p:nvPicPr>
          <p:cNvPr id="35" name="图片 34" descr="科研诚信专题知识">
            <a:extLst>
              <a:ext uri="{FF2B5EF4-FFF2-40B4-BE49-F238E27FC236}">
                <a16:creationId xmlns:a16="http://schemas.microsoft.com/office/drawing/2014/main" id="{AA2118FB-94EB-1011-EA35-5AD765742868}"/>
              </a:ext>
            </a:extLst>
          </p:cNvPr>
          <p:cNvPicPr>
            <a:picLocks noChangeAspect="1"/>
          </p:cNvPicPr>
          <p:nvPr/>
        </p:nvPicPr>
        <p:blipFill>
          <a:blip r:embed="rId6"/>
          <a:stretch>
            <a:fillRect/>
          </a:stretch>
        </p:blipFill>
        <p:spPr>
          <a:xfrm>
            <a:off x="8453983" y="4540192"/>
            <a:ext cx="3466599" cy="1733299"/>
          </a:xfrm>
          <a:prstGeom prst="rect">
            <a:avLst/>
          </a:prstGeom>
        </p:spPr>
      </p:pic>
    </p:spTree>
    <p:extLst>
      <p:ext uri="{BB962C8B-B14F-4D97-AF65-F5344CB8AC3E}">
        <p14:creationId xmlns:p14="http://schemas.microsoft.com/office/powerpoint/2010/main" val="993358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A9AD0-1C84-7A45-427A-4DF13AA3220F}"/>
            </a:ext>
          </a:extLst>
        </p:cNvPr>
        <p:cNvGrpSpPr/>
        <p:nvPr/>
      </p:nvGrpSpPr>
      <p:grpSpPr>
        <a:xfrm>
          <a:off x="0" y="0"/>
          <a:ext cx="0" cy="0"/>
          <a:chOff x="0" y="0"/>
          <a:chExt cx="0" cy="0"/>
        </a:xfrm>
      </p:grpSpPr>
      <p:grpSp>
        <p:nvGrpSpPr>
          <p:cNvPr id="34" name="组合 33">
            <a:extLst>
              <a:ext uri="{FF2B5EF4-FFF2-40B4-BE49-F238E27FC236}">
                <a16:creationId xmlns:a16="http://schemas.microsoft.com/office/drawing/2014/main" id="{B827064B-2A17-6ABE-D5A3-ADC2EA57B9EB}"/>
              </a:ext>
            </a:extLst>
          </p:cNvPr>
          <p:cNvGrpSpPr/>
          <p:nvPr/>
        </p:nvGrpSpPr>
        <p:grpSpPr>
          <a:xfrm>
            <a:off x="326420" y="145039"/>
            <a:ext cx="11539161" cy="707991"/>
            <a:chOff x="305081" y="145039"/>
            <a:chExt cx="11539161" cy="707991"/>
          </a:xfrm>
        </p:grpSpPr>
        <p:sp>
          <p:nvSpPr>
            <p:cNvPr id="7" name="图形">
              <a:extLst>
                <a:ext uri="{FF2B5EF4-FFF2-40B4-BE49-F238E27FC236}">
                  <a16:creationId xmlns:a16="http://schemas.microsoft.com/office/drawing/2014/main" id="{ADD81E84-CC30-CEF4-26DE-47B0E49B4137}"/>
                </a:ext>
              </a:extLst>
            </p:cNvPr>
            <p:cNvSpPr/>
            <p:nvPr>
              <p:custDataLst>
                <p:tags r:id="rId1"/>
              </p:custDataLst>
            </p:nvPr>
          </p:nvSpPr>
          <p:spPr>
            <a:xfrm>
              <a:off x="305081" y="145039"/>
              <a:ext cx="11539161" cy="70799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汉仪大宋简"/>
                <a:cs typeface="思源黑体旧字形 Light" panose="020B0300000000000000" charset="-128"/>
                <a:sym typeface="Arial"/>
              </a:endParaRPr>
            </a:p>
          </p:txBody>
        </p:sp>
        <p:pic>
          <p:nvPicPr>
            <p:cNvPr id="26" name="图片 25">
              <a:extLst>
                <a:ext uri="{FF2B5EF4-FFF2-40B4-BE49-F238E27FC236}">
                  <a16:creationId xmlns:a16="http://schemas.microsoft.com/office/drawing/2014/main" id="{9863949E-EE9C-05B8-69B7-08A718AC80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8302" y="212089"/>
              <a:ext cx="2733801" cy="573890"/>
            </a:xfrm>
            <a:prstGeom prst="rect">
              <a:avLst/>
            </a:prstGeom>
          </p:spPr>
        </p:pic>
      </p:grpSp>
      <p:sp>
        <p:nvSpPr>
          <p:cNvPr id="9" name="矩形 8">
            <a:extLst>
              <a:ext uri="{FF2B5EF4-FFF2-40B4-BE49-F238E27FC236}">
                <a16:creationId xmlns:a16="http://schemas.microsoft.com/office/drawing/2014/main" id="{7CA03829-E40A-6AAA-F882-D5C7EC4C7DAA}"/>
              </a:ext>
            </a:extLst>
          </p:cNvPr>
          <p:cNvSpPr/>
          <p:nvPr/>
        </p:nvSpPr>
        <p:spPr>
          <a:xfrm>
            <a:off x="326418" y="159329"/>
            <a:ext cx="2700000" cy="693702"/>
          </a:xfrm>
          <a:prstGeom prst="rect">
            <a:avLst/>
          </a:prstGeom>
          <a:gradFill flip="none" rotWithShape="1">
            <a:gsLst>
              <a:gs pos="100000">
                <a:srgbClr val="1B47E2">
                  <a:alpha val="0"/>
                </a:srgbClr>
              </a:gs>
              <a:gs pos="25000">
                <a:srgbClr val="0F349D"/>
              </a:gs>
            </a:gsLst>
            <a:lin ang="108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62629EEB-EFF4-123E-A017-F014F4B814DF}"/>
              </a:ext>
            </a:extLst>
          </p:cNvPr>
          <p:cNvSpPr txBox="1"/>
          <p:nvPr/>
        </p:nvSpPr>
        <p:spPr>
          <a:xfrm>
            <a:off x="817341" y="216232"/>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参考资料</a:t>
            </a:r>
          </a:p>
        </p:txBody>
      </p:sp>
      <p:sp>
        <p:nvSpPr>
          <p:cNvPr id="48" name="文本框 47">
            <a:extLst>
              <a:ext uri="{FF2B5EF4-FFF2-40B4-BE49-F238E27FC236}">
                <a16:creationId xmlns:a16="http://schemas.microsoft.com/office/drawing/2014/main" id="{A9FC8F3A-6D0C-BDC5-1E62-790360954777}"/>
              </a:ext>
            </a:extLst>
          </p:cNvPr>
          <p:cNvSpPr txBox="1"/>
          <p:nvPr/>
        </p:nvSpPr>
        <p:spPr>
          <a:xfrm>
            <a:off x="3230593"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事件梳理</a:t>
            </a:r>
          </a:p>
        </p:txBody>
      </p:sp>
      <p:sp>
        <p:nvSpPr>
          <p:cNvPr id="49" name="文本框 48">
            <a:extLst>
              <a:ext uri="{FF2B5EF4-FFF2-40B4-BE49-F238E27FC236}">
                <a16:creationId xmlns:a16="http://schemas.microsoft.com/office/drawing/2014/main" id="{06B097C7-CE16-1E6B-9500-4516059D688C}"/>
              </a:ext>
            </a:extLst>
          </p:cNvPr>
          <p:cNvSpPr txBox="1"/>
          <p:nvPr/>
        </p:nvSpPr>
        <p:spPr>
          <a:xfrm>
            <a:off x="5128205"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分析解读</a:t>
            </a:r>
          </a:p>
        </p:txBody>
      </p:sp>
      <p:sp>
        <p:nvSpPr>
          <p:cNvPr id="50" name="文本框 49">
            <a:extLst>
              <a:ext uri="{FF2B5EF4-FFF2-40B4-BE49-F238E27FC236}">
                <a16:creationId xmlns:a16="http://schemas.microsoft.com/office/drawing/2014/main" id="{BB2D4621-F3A0-76C9-0F2F-74D8F7191713}"/>
              </a:ext>
            </a:extLst>
          </p:cNvPr>
          <p:cNvSpPr txBox="1"/>
          <p:nvPr/>
        </p:nvSpPr>
        <p:spPr>
          <a:xfrm>
            <a:off x="7025818" y="212089"/>
            <a:ext cx="1718154" cy="565604"/>
          </a:xfrm>
          <a:prstGeom prst="rect">
            <a:avLst/>
          </a:prstGeom>
          <a:noFill/>
        </p:spPr>
        <p:txBody>
          <a:bodyPr wrap="square">
            <a:spAutoFit/>
          </a:bodyPr>
          <a:lstStyle/>
          <a:p>
            <a:pPr marL="0" marR="0" lvl="0" indent="0" algn="ctr" defTabSz="914400" rtl="0" eaLnBrk="1" fontAlgn="auto" latinLnBrk="0" hangingPunct="1">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8AB1CE"/>
                </a:solidFill>
                <a:effectLst/>
                <a:uLnTx/>
                <a:uFillTx/>
                <a:latin typeface="微软雅黑" panose="020B0503020204020204" pitchFamily="34" charset="-122"/>
                <a:ea typeface="微软雅黑" panose="020B0503020204020204" pitchFamily="34" charset="-122"/>
                <a:cs typeface="+mn-ea"/>
                <a:sym typeface="+mn-lt"/>
              </a:rPr>
              <a:t>现实启示</a:t>
            </a:r>
          </a:p>
        </p:txBody>
      </p:sp>
      <p:sp>
        <p:nvSpPr>
          <p:cNvPr id="2" name="文本框 1">
            <a:extLst>
              <a:ext uri="{FF2B5EF4-FFF2-40B4-BE49-F238E27FC236}">
                <a16:creationId xmlns:a16="http://schemas.microsoft.com/office/drawing/2014/main" id="{AB147578-6924-81EF-05AC-38E1F4E14847}"/>
              </a:ext>
            </a:extLst>
          </p:cNvPr>
          <p:cNvSpPr txBox="1"/>
          <p:nvPr/>
        </p:nvSpPr>
        <p:spPr>
          <a:xfrm>
            <a:off x="326418" y="920080"/>
            <a:ext cx="11539161" cy="5988947"/>
          </a:xfrm>
          <a:prstGeom prst="rect">
            <a:avLst/>
          </a:prstGeom>
          <a:noFill/>
        </p:spPr>
        <p:txBody>
          <a:bodyPr wrap="square" rtlCol="0">
            <a:spAutoFit/>
          </a:bodyPr>
          <a:lstStyle/>
          <a:p>
            <a:pPr>
              <a:lnSpc>
                <a:spcPct val="125000"/>
              </a:lnSpc>
            </a:pPr>
            <a:r>
              <a:rPr lang="zh-CN" altLang="en-US" sz="2000" dirty="0">
                <a:latin typeface="微软雅黑" panose="020B0503020204020204" pitchFamily="34" charset="-122"/>
                <a:ea typeface="微软雅黑" panose="020B0503020204020204" pitchFamily="34" charset="-122"/>
              </a:rPr>
              <a:t>参考资料：</a:t>
            </a:r>
            <a:endParaRPr lang="en-US" altLang="zh-CN" sz="20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[1]   </a:t>
            </a:r>
            <a:r>
              <a:rPr lang="zh-CN" altLang="zh-CN" sz="1600" dirty="0">
                <a:latin typeface="微软雅黑" panose="020B0503020204020204" pitchFamily="34" charset="-122"/>
                <a:ea typeface="微软雅黑" panose="020B0503020204020204" pitchFamily="34" charset="-122"/>
              </a:rPr>
              <a:t>最新！广东初步查明“基因编辑婴儿事件” </a:t>
            </a:r>
            <a:r>
              <a:rPr lang="en-US" altLang="zh-CN" sz="1600" dirty="0">
                <a:latin typeface="微软雅黑" panose="020B0503020204020204" pitchFamily="34" charset="-122"/>
                <a:ea typeface="微软雅黑" panose="020B0503020204020204" pitchFamily="34" charset="-122"/>
              </a:rPr>
              <a:t>http://183.194.242.134/html/defaultsite/root_qcsh/2019-01-23/Detail_2168896.htm</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[2]   </a:t>
            </a:r>
            <a:r>
              <a:rPr lang="zh-CN" altLang="zh-CN" sz="1600" dirty="0">
                <a:latin typeface="微软雅黑" panose="020B0503020204020204" pitchFamily="34" charset="-122"/>
                <a:ea typeface="微软雅黑" panose="020B0503020204020204" pitchFamily="34" charset="-122"/>
              </a:rPr>
              <a:t>科技日报评基因编辑：科学伦理的“高压线”不容触碰 </a:t>
            </a:r>
            <a:r>
              <a:rPr lang="en-US" altLang="zh-CN" sz="1600" dirty="0">
                <a:latin typeface="微软雅黑" panose="020B0503020204020204" pitchFamily="34" charset="-122"/>
                <a:ea typeface="微软雅黑" panose="020B0503020204020204" pitchFamily="34" charset="-122"/>
              </a:rPr>
              <a:t>https://www.kepuchina.cn/tech/biology/201811/t20181127_834811.shtml</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[3]   122</a:t>
            </a:r>
            <a:r>
              <a:rPr lang="zh-CN" altLang="zh-CN" sz="1600" dirty="0">
                <a:latin typeface="微软雅黑" panose="020B0503020204020204" pitchFamily="34" charset="-122"/>
                <a:ea typeface="微软雅黑" panose="020B0503020204020204" pitchFamily="34" charset="-122"/>
              </a:rPr>
              <a:t>名中国科学家联名谴责 基因编辑婴儿事件为什么不能原谅</a:t>
            </a:r>
            <a:r>
              <a:rPr lang="en-US" altLang="zh-CN" sz="1600" dirty="0">
                <a:latin typeface="微软雅黑" panose="020B0503020204020204" pitchFamily="34" charset="-122"/>
                <a:ea typeface="微软雅黑" panose="020B0503020204020204" pitchFamily="34" charset="-122"/>
              </a:rPr>
              <a:t>https://www.chinanews.com.cn/sh/2018/11-27/8686319.shtml</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[4]   https://xzfg.moj.gov.cn/front/law/detail?LawID=1714#1</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[5]   https://www.hnzf.gov.cn/content/2020/08/03/9274082.html</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[6]   https://policy.mofcom.gov.cn/claw/clawContent.shtml?id=100341#1</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[7]   http://www.lyjhongshi.jcy.gov.cn/yasf/202103/t20210315_3156631.shtml#1</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[8]   </a:t>
            </a:r>
            <a:r>
              <a:rPr lang="zh-CN" altLang="zh-CN" sz="1600" dirty="0">
                <a:latin typeface="微软雅黑" panose="020B0503020204020204" pitchFamily="34" charset="-122"/>
                <a:ea typeface="微软雅黑" panose="020B0503020204020204" pitchFamily="34" charset="-122"/>
              </a:rPr>
              <a:t>马克思主义理论研究和建设工程</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自然辩证法概论</a:t>
            </a:r>
            <a:r>
              <a:rPr lang="en-US" altLang="zh-CN" sz="1600" dirty="0">
                <a:latin typeface="微软雅黑" panose="020B0503020204020204" pitchFamily="34" charset="-122"/>
                <a:ea typeface="微软雅黑" panose="020B0503020204020204" pitchFamily="34" charset="-122"/>
              </a:rPr>
              <a:t>[M].</a:t>
            </a:r>
            <a:r>
              <a:rPr lang="zh-CN" altLang="zh-CN" sz="1600" dirty="0">
                <a:latin typeface="微软雅黑" panose="020B0503020204020204" pitchFamily="34" charset="-122"/>
                <a:ea typeface="微软雅黑" panose="020B0503020204020204" pitchFamily="34" charset="-122"/>
              </a:rPr>
              <a:t>高等教育出版社</a:t>
            </a:r>
            <a:r>
              <a:rPr lang="en-US" altLang="zh-CN" sz="1600" dirty="0">
                <a:latin typeface="微软雅黑" panose="020B0503020204020204" pitchFamily="34" charset="-122"/>
                <a:ea typeface="微软雅黑" panose="020B0503020204020204" pitchFamily="34" charset="-122"/>
              </a:rPr>
              <a:t>,2020.</a:t>
            </a:r>
          </a:p>
          <a:p>
            <a:pPr lvl="0" latinLnBrk="1">
              <a:lnSpc>
                <a:spcPct val="125000"/>
              </a:lnSpc>
            </a:pPr>
            <a:r>
              <a:rPr lang="en-US" altLang="zh-CN" sz="1600" dirty="0">
                <a:latin typeface="微软雅黑" panose="020B0503020204020204" pitchFamily="34" charset="-122"/>
                <a:ea typeface="微软雅黑" panose="020B0503020204020204" pitchFamily="34" charset="-122"/>
              </a:rPr>
              <a:t>[9]   </a:t>
            </a:r>
            <a:r>
              <a:rPr lang="zh-CN" altLang="en-US" sz="1600" dirty="0">
                <a:latin typeface="微软雅黑" panose="020B0503020204020204" pitchFamily="34" charset="-122"/>
                <a:ea typeface="微软雅黑" panose="020B0503020204020204" pitchFamily="34" charset="-122"/>
              </a:rPr>
              <a:t>恩格斯</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自然辩证法</a:t>
            </a:r>
            <a:r>
              <a:rPr lang="en-US" altLang="zh-CN" sz="1600" dirty="0">
                <a:latin typeface="微软雅黑" panose="020B0503020204020204" pitchFamily="34" charset="-122"/>
                <a:ea typeface="微软雅黑" panose="020B0503020204020204" pitchFamily="34" charset="-122"/>
              </a:rPr>
              <a:t>[M]. </a:t>
            </a:r>
            <a:r>
              <a:rPr lang="zh-CN" altLang="en-US" sz="1600" dirty="0">
                <a:latin typeface="微软雅黑" panose="020B0503020204020204" pitchFamily="34" charset="-122"/>
                <a:ea typeface="微软雅黑" panose="020B0503020204020204" pitchFamily="34" charset="-122"/>
              </a:rPr>
              <a:t>北京</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人民出版社</a:t>
            </a:r>
            <a:r>
              <a:rPr lang="en-US" altLang="zh-CN" sz="1600" dirty="0">
                <a:latin typeface="微软雅黑" panose="020B0503020204020204" pitchFamily="34" charset="-122"/>
                <a:ea typeface="微软雅黑" panose="020B0503020204020204" pitchFamily="34" charset="-122"/>
              </a:rPr>
              <a:t>, 2018.</a:t>
            </a:r>
          </a:p>
          <a:p>
            <a:pPr lvl="0" latinLnBrk="1">
              <a:lnSpc>
                <a:spcPct val="125000"/>
              </a:lnSpc>
            </a:pPr>
            <a:r>
              <a:rPr lang="en-US" altLang="zh-CN" sz="1600" dirty="0">
                <a:latin typeface="微软雅黑" panose="020B0503020204020204" pitchFamily="34" charset="-122"/>
                <a:ea typeface="微软雅黑" panose="020B0503020204020204" pitchFamily="34" charset="-122"/>
              </a:rPr>
              <a:t>[10] </a:t>
            </a:r>
            <a:r>
              <a:rPr lang="zh-CN" altLang="en-US" sz="1600" dirty="0">
                <a:latin typeface="微软雅黑" panose="020B0503020204020204" pitchFamily="34" charset="-122"/>
                <a:ea typeface="微软雅黑" panose="020B0503020204020204" pitchFamily="34" charset="-122"/>
              </a:rPr>
              <a:t>马克思</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资本论</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卷</a:t>
            </a:r>
            <a:r>
              <a:rPr lang="en-US" altLang="zh-CN" sz="1600" dirty="0">
                <a:latin typeface="微软雅黑" panose="020B0503020204020204" pitchFamily="34" charset="-122"/>
                <a:ea typeface="微软雅黑" panose="020B0503020204020204" pitchFamily="34" charset="-122"/>
              </a:rPr>
              <a:t>[M]. </a:t>
            </a:r>
            <a:r>
              <a:rPr lang="zh-CN" altLang="en-US" sz="1600" dirty="0">
                <a:latin typeface="微软雅黑" panose="020B0503020204020204" pitchFamily="34" charset="-122"/>
                <a:ea typeface="微软雅黑" panose="020B0503020204020204" pitchFamily="34" charset="-122"/>
              </a:rPr>
              <a:t>北京</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人民出版社</a:t>
            </a:r>
            <a:r>
              <a:rPr lang="en-US" altLang="zh-CN" sz="1600" dirty="0">
                <a:latin typeface="微软雅黑" panose="020B0503020204020204" pitchFamily="34" charset="-122"/>
                <a:ea typeface="微软雅黑" panose="020B0503020204020204" pitchFamily="34" charset="-122"/>
              </a:rPr>
              <a:t>, 2004.</a:t>
            </a:r>
          </a:p>
          <a:p>
            <a:pPr lvl="0" latinLnBrk="1">
              <a:lnSpc>
                <a:spcPct val="125000"/>
              </a:lnSpc>
            </a:pPr>
            <a:r>
              <a:rPr lang="en-US" altLang="zh-CN" sz="1600" dirty="0">
                <a:latin typeface="微软雅黑" panose="020B0503020204020204" pitchFamily="34" charset="-122"/>
                <a:ea typeface="微软雅黑" panose="020B0503020204020204" pitchFamily="34" charset="-122"/>
              </a:rPr>
              <a:t>[11] </a:t>
            </a:r>
            <a:r>
              <a:rPr lang="zh-CN" altLang="en-US" sz="1600" dirty="0">
                <a:latin typeface="微软雅黑" panose="020B0503020204020204" pitchFamily="34" charset="-122"/>
                <a:ea typeface="微软雅黑" panose="020B0503020204020204" pitchFamily="34" charset="-122"/>
              </a:rPr>
              <a:t>爱因斯坦</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爱因斯坦文集</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卷</a:t>
            </a:r>
            <a:r>
              <a:rPr lang="en-US" altLang="zh-CN" sz="1600" dirty="0">
                <a:latin typeface="微软雅黑" panose="020B0503020204020204" pitchFamily="34" charset="-122"/>
                <a:ea typeface="微软雅黑" panose="020B0503020204020204" pitchFamily="34" charset="-122"/>
              </a:rPr>
              <a:t>[M]. </a:t>
            </a:r>
            <a:r>
              <a:rPr lang="zh-CN" altLang="en-US" sz="1600" dirty="0">
                <a:latin typeface="微软雅黑" panose="020B0503020204020204" pitchFamily="34" charset="-122"/>
                <a:ea typeface="微软雅黑" panose="020B0503020204020204" pitchFamily="34" charset="-122"/>
              </a:rPr>
              <a:t>许良英</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等译</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北京</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商务印书馆</a:t>
            </a:r>
            <a:r>
              <a:rPr lang="en-US" altLang="zh-CN" sz="1600" dirty="0">
                <a:latin typeface="微软雅黑" panose="020B0503020204020204" pitchFamily="34" charset="-122"/>
                <a:ea typeface="微软雅黑" panose="020B0503020204020204" pitchFamily="34" charset="-122"/>
              </a:rPr>
              <a:t>, 1979: 72-73.</a:t>
            </a:r>
          </a:p>
          <a:p>
            <a:pPr lvl="0" latinLnBrk="1">
              <a:lnSpc>
                <a:spcPct val="125000"/>
              </a:lnSpc>
            </a:pPr>
            <a:r>
              <a:rPr lang="en-US" altLang="zh-CN" sz="1600" dirty="0">
                <a:latin typeface="微软雅黑" panose="020B0503020204020204" pitchFamily="34" charset="-122"/>
                <a:ea typeface="微软雅黑" panose="020B0503020204020204" pitchFamily="34" charset="-122"/>
              </a:rPr>
              <a:t>[12] </a:t>
            </a:r>
            <a:r>
              <a:rPr lang="zh-CN" altLang="zh-CN" sz="1600" dirty="0">
                <a:latin typeface="微软雅黑" panose="020B0503020204020204" pitchFamily="34" charset="-122"/>
                <a:ea typeface="微软雅黑" panose="020B0503020204020204" pitchFamily="34" charset="-122"/>
              </a:rPr>
              <a:t>科技部等</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科技伦理审查办法（试行），</a:t>
            </a:r>
            <a:r>
              <a:rPr lang="en-US" altLang="zh-CN" sz="1600" dirty="0">
                <a:latin typeface="微软雅黑" panose="020B0503020204020204" pitchFamily="34" charset="-122"/>
                <a:ea typeface="微软雅黑" panose="020B0503020204020204" pitchFamily="34" charset="-122"/>
              </a:rPr>
              <a:t>2023.</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[13] </a:t>
            </a:r>
            <a:r>
              <a:rPr lang="zh-CN" altLang="zh-CN" sz="1600" dirty="0">
                <a:latin typeface="微软雅黑" panose="020B0503020204020204" pitchFamily="34" charset="-122"/>
                <a:ea typeface="微软雅黑" panose="020B0503020204020204" pitchFamily="34" charset="-122"/>
              </a:rPr>
              <a:t>国家科技伦理委员会医学伦理分委员会</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人类基因组编辑研究伦理指引，</a:t>
            </a:r>
            <a:r>
              <a:rPr lang="en-US" altLang="zh-CN" sz="1600" dirty="0">
                <a:latin typeface="微软雅黑" panose="020B0503020204020204" pitchFamily="34" charset="-122"/>
                <a:ea typeface="微软雅黑" panose="020B0503020204020204" pitchFamily="34" charset="-122"/>
              </a:rPr>
              <a:t>2024.</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[14] World Health Organization. Human genome editing: a framework for governance. Geneva: WHO, 2021. </a:t>
            </a:r>
            <a:endParaRPr lang="zh-CN" altLang="zh-CN" sz="1600" dirty="0">
              <a:latin typeface="微软雅黑" panose="020B0503020204020204" pitchFamily="34" charset="-122"/>
              <a:ea typeface="微软雅黑" panose="020B0503020204020204" pitchFamily="34" charset="-122"/>
            </a:endParaRPr>
          </a:p>
          <a:p>
            <a:pPr lvl="0" latinLnBrk="1">
              <a:lnSpc>
                <a:spcPct val="125000"/>
              </a:lnSpc>
            </a:pPr>
            <a:r>
              <a:rPr lang="en-US" altLang="zh-CN" sz="1600" dirty="0">
                <a:latin typeface="微软雅黑" panose="020B0503020204020204" pitchFamily="34" charset="-122"/>
                <a:ea typeface="微软雅黑" panose="020B0503020204020204" pitchFamily="34" charset="-122"/>
              </a:rPr>
              <a:t>[15] BRAUN M, MEACHAM D. The trust game[J]. EMBO Reports, 2019, 20(2): e47583. </a:t>
            </a:r>
            <a:endParaRPr lang="zh-CN"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35112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8C0FE-92C5-8025-29B5-762E8FEC2460}"/>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7B7C18C8-D693-2879-93BE-95F67D715289}"/>
              </a:ext>
            </a:extLst>
          </p:cNvPr>
          <p:cNvPicPr>
            <a:picLocks noChangeAspect="1"/>
          </p:cNvPicPr>
          <p:nvPr/>
        </p:nvPicPr>
        <p:blipFill>
          <a:blip r:embed="rId5">
            <a:extLst>
              <a:ext uri="{28A0092B-C50C-407E-A947-70E740481C1C}">
                <a14:useLocalDpi xmlns:a14="http://schemas.microsoft.com/office/drawing/2010/main" val="0"/>
              </a:ext>
            </a:extLst>
          </a:blip>
          <a:srcRect t="24015" b="33601"/>
          <a:stretch>
            <a:fillRect/>
          </a:stretch>
        </p:blipFill>
        <p:spPr>
          <a:xfrm>
            <a:off x="1482" y="1314993"/>
            <a:ext cx="12189029" cy="3439887"/>
          </a:xfrm>
          <a:prstGeom prst="rect">
            <a:avLst/>
          </a:prstGeom>
        </p:spPr>
      </p:pic>
      <p:sp>
        <p:nvSpPr>
          <p:cNvPr id="22" name="矩形 21">
            <a:extLst>
              <a:ext uri="{FF2B5EF4-FFF2-40B4-BE49-F238E27FC236}">
                <a16:creationId xmlns:a16="http://schemas.microsoft.com/office/drawing/2014/main" id="{927EBBA3-D641-CF83-B6AB-733FBC7E8D5E}"/>
              </a:ext>
            </a:extLst>
          </p:cNvPr>
          <p:cNvSpPr/>
          <p:nvPr/>
        </p:nvSpPr>
        <p:spPr>
          <a:xfrm>
            <a:off x="-1482" y="1314993"/>
            <a:ext cx="12177154" cy="3439887"/>
          </a:xfrm>
          <a:prstGeom prst="rect">
            <a:avLst/>
          </a:prstGeom>
          <a:gradFill>
            <a:gsLst>
              <a:gs pos="0">
                <a:srgbClr val="0F349D">
                  <a:alpha val="0"/>
                </a:srgbClr>
              </a:gs>
              <a:gs pos="100000">
                <a:srgbClr val="0F349D"/>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033D683D-34E9-CF4C-4388-DF683084F10F}"/>
              </a:ext>
            </a:extLst>
          </p:cNvPr>
          <p:cNvPicPr>
            <a:picLocks noChangeAspect="1"/>
          </p:cNvPicPr>
          <p:nvPr/>
        </p:nvPicPr>
        <p:blipFill>
          <a:blip r:embed="rId6">
            <a:extLst>
              <a:ext uri="{28A0092B-C50C-407E-A947-70E740481C1C}">
                <a14:useLocalDpi xmlns:a14="http://schemas.microsoft.com/office/drawing/2010/main" val="0"/>
              </a:ext>
            </a:extLst>
          </a:blip>
          <a:srcRect t="7472" b="7689"/>
          <a:stretch>
            <a:fillRect/>
          </a:stretch>
        </p:blipFill>
        <p:spPr>
          <a:xfrm>
            <a:off x="-1483" y="-13788"/>
            <a:ext cx="12177154" cy="6885576"/>
          </a:xfrm>
          <a:custGeom>
            <a:avLst/>
            <a:gdLst>
              <a:gd name="connsiteX0" fmla="*/ 0 w 12177154"/>
              <a:gd name="connsiteY0" fmla="*/ 0 h 6885576"/>
              <a:gd name="connsiteX1" fmla="*/ 12177154 w 12177154"/>
              <a:gd name="connsiteY1" fmla="*/ 0 h 6885576"/>
              <a:gd name="connsiteX2" fmla="*/ 12177154 w 12177154"/>
              <a:gd name="connsiteY2" fmla="*/ 6885576 h 6885576"/>
              <a:gd name="connsiteX3" fmla="*/ 9653483 w 12177154"/>
              <a:gd name="connsiteY3" fmla="*/ 6885576 h 6885576"/>
              <a:gd name="connsiteX4" fmla="*/ 9653483 w 12177154"/>
              <a:gd name="connsiteY4" fmla="*/ 6871788 h 6885576"/>
              <a:gd name="connsiteX5" fmla="*/ 10430424 w 12177154"/>
              <a:gd name="connsiteY5" fmla="*/ 6871788 h 6885576"/>
              <a:gd name="connsiteX6" fmla="*/ 10430424 w 12177154"/>
              <a:gd name="connsiteY6" fmla="*/ 4779498 h 6885576"/>
              <a:gd name="connsiteX7" fmla="*/ 7519883 w 12177154"/>
              <a:gd name="connsiteY7" fmla="*/ 4779498 h 6885576"/>
              <a:gd name="connsiteX8" fmla="*/ 7519883 w 12177154"/>
              <a:gd name="connsiteY8" fmla="*/ 6871788 h 6885576"/>
              <a:gd name="connsiteX9" fmla="*/ 7878471 w 12177154"/>
              <a:gd name="connsiteY9" fmla="*/ 6871788 h 6885576"/>
              <a:gd name="connsiteX10" fmla="*/ 7878471 w 12177154"/>
              <a:gd name="connsiteY10" fmla="*/ 6885576 h 6885576"/>
              <a:gd name="connsiteX11" fmla="*/ 0 w 12177154"/>
              <a:gd name="connsiteY11" fmla="*/ 6885576 h 6885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77154" h="6885576">
                <a:moveTo>
                  <a:pt x="0" y="0"/>
                </a:moveTo>
                <a:lnTo>
                  <a:pt x="12177154" y="0"/>
                </a:lnTo>
                <a:lnTo>
                  <a:pt x="12177154" y="6885576"/>
                </a:lnTo>
                <a:lnTo>
                  <a:pt x="9653483" y="6885576"/>
                </a:lnTo>
                <a:lnTo>
                  <a:pt x="9653483" y="6871788"/>
                </a:lnTo>
                <a:lnTo>
                  <a:pt x="10430424" y="6871788"/>
                </a:lnTo>
                <a:lnTo>
                  <a:pt x="10430424" y="4779498"/>
                </a:lnTo>
                <a:lnTo>
                  <a:pt x="7519883" y="4779498"/>
                </a:lnTo>
                <a:lnTo>
                  <a:pt x="7519883" y="6871788"/>
                </a:lnTo>
                <a:lnTo>
                  <a:pt x="7878471" y="6871788"/>
                </a:lnTo>
                <a:lnTo>
                  <a:pt x="7878471" y="6885576"/>
                </a:lnTo>
                <a:lnTo>
                  <a:pt x="0" y="6885576"/>
                </a:lnTo>
                <a:close/>
              </a:path>
            </a:pathLst>
          </a:custGeom>
        </p:spPr>
      </p:pic>
      <p:pic>
        <p:nvPicPr>
          <p:cNvPr id="24" name="图片 23">
            <a:extLst>
              <a:ext uri="{FF2B5EF4-FFF2-40B4-BE49-F238E27FC236}">
                <a16:creationId xmlns:a16="http://schemas.microsoft.com/office/drawing/2014/main" id="{781FE13F-D4EB-EF9E-C7C7-58EB7BB9B16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5222" y="242410"/>
            <a:ext cx="3954641" cy="830173"/>
          </a:xfrm>
          <a:prstGeom prst="rect">
            <a:avLst/>
          </a:prstGeom>
        </p:spPr>
      </p:pic>
      <p:grpSp>
        <p:nvGrpSpPr>
          <p:cNvPr id="16" name="组合 15">
            <a:extLst>
              <a:ext uri="{FF2B5EF4-FFF2-40B4-BE49-F238E27FC236}">
                <a16:creationId xmlns:a16="http://schemas.microsoft.com/office/drawing/2014/main" id="{50C774C6-D180-F3DF-C555-7E976B06449C}"/>
              </a:ext>
            </a:extLst>
          </p:cNvPr>
          <p:cNvGrpSpPr/>
          <p:nvPr/>
        </p:nvGrpSpPr>
        <p:grpSpPr>
          <a:xfrm>
            <a:off x="7806741" y="5959991"/>
            <a:ext cx="3898065" cy="573630"/>
            <a:chOff x="7888942" y="6083661"/>
            <a:chExt cx="3898065" cy="573630"/>
          </a:xfrm>
        </p:grpSpPr>
        <p:pic>
          <p:nvPicPr>
            <p:cNvPr id="2" name="图形 1">
              <a:extLst>
                <a:ext uri="{FF2B5EF4-FFF2-40B4-BE49-F238E27FC236}">
                  <a16:creationId xmlns:a16="http://schemas.microsoft.com/office/drawing/2014/main" id="{92369229-0541-D12D-A35A-CAA6561C5AE5}"/>
                </a:ext>
              </a:extLst>
            </p:cNvPr>
            <p:cNvPicPr>
              <a:picLocks noChangeAspect="1"/>
            </p:cNvPicPr>
            <p:nvPr>
              <p:custDataLst>
                <p:tags r:id="rId2"/>
              </p:custDataLst>
            </p:nvPr>
          </p:nvPicPr>
          <p:blipFill>
            <a:blip>
              <a:extLst>
                <a:ext uri="{96DAC541-7B7A-43D3-8B79-37D633B846F1}">
                  <asvg:svgBlip xmlns:asvg="http://schemas.microsoft.com/office/drawing/2016/SVG/main" r:embed="rId8"/>
                </a:ext>
              </a:extLst>
            </a:blip>
            <a:stretch>
              <a:fillRect/>
            </a:stretch>
          </p:blipFill>
          <p:spPr>
            <a:xfrm>
              <a:off x="7888942" y="6083661"/>
              <a:ext cx="573630" cy="573630"/>
            </a:xfrm>
            <a:prstGeom prst="rect">
              <a:avLst/>
            </a:prstGeom>
          </p:spPr>
        </p:pic>
        <p:sp>
          <p:nvSpPr>
            <p:cNvPr id="3" name="文本框 2">
              <a:extLst>
                <a:ext uri="{FF2B5EF4-FFF2-40B4-BE49-F238E27FC236}">
                  <a16:creationId xmlns:a16="http://schemas.microsoft.com/office/drawing/2014/main" id="{D2D54FCD-FA17-0E20-A9EF-C59444204481}"/>
                </a:ext>
              </a:extLst>
            </p:cNvPr>
            <p:cNvSpPr txBox="1"/>
            <p:nvPr/>
          </p:nvSpPr>
          <p:spPr>
            <a:xfrm>
              <a:off x="8701905" y="6185810"/>
              <a:ext cx="3085102" cy="369332"/>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tabLst/>
                <a:defRPr/>
              </a:pPr>
              <a:r>
                <a:rPr lang="zh-CN" altLang="en-US" b="1" kern="100" dirty="0">
                  <a:solidFill>
                    <a:srgbClr val="0F349D"/>
                  </a:solidFill>
                  <a:latin typeface="Times New Roman" panose="02020603050405020304" pitchFamily="18" charset="0"/>
                  <a:ea typeface="微软雅黑" panose="020B0503020204020204" pitchFamily="34" charset="-122"/>
                </a:rPr>
                <a:t>时间</a:t>
              </a:r>
              <a:r>
                <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a:t>
              </a:r>
              <a:r>
                <a:rPr kumimoji="0" lang="en-US"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2026</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年</a:t>
              </a:r>
              <a:r>
                <a:rPr lang="en-US" altLang="zh-CN" kern="100" dirty="0">
                  <a:latin typeface="Times New Roman" panose="02020603050405020304" pitchFamily="18" charset="0"/>
                  <a:ea typeface="微软雅黑" panose="020B0503020204020204" pitchFamily="34" charset="-122"/>
                </a:rPr>
                <a:t>10</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月</a:t>
              </a:r>
              <a:r>
                <a:rPr kumimoji="0" lang="en-US"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22</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日</a:t>
              </a:r>
              <a:endPar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p:txBody>
        </p:sp>
      </p:grpSp>
      <p:sp>
        <p:nvSpPr>
          <p:cNvPr id="8" name="文本框 7">
            <a:extLst>
              <a:ext uri="{FF2B5EF4-FFF2-40B4-BE49-F238E27FC236}">
                <a16:creationId xmlns:a16="http://schemas.microsoft.com/office/drawing/2014/main" id="{9C9F515B-0982-D4C5-3CD6-99D056D7BEBD}"/>
              </a:ext>
            </a:extLst>
          </p:cNvPr>
          <p:cNvSpPr txBox="1"/>
          <p:nvPr/>
        </p:nvSpPr>
        <p:spPr>
          <a:xfrm>
            <a:off x="3892630" y="1523715"/>
            <a:ext cx="4401382" cy="338554"/>
          </a:xfrm>
          <a:prstGeom prst="rect">
            <a:avLst/>
          </a:prstGeom>
          <a:noFill/>
        </p:spPr>
        <p:txBody>
          <a:bodyPr wrap="square">
            <a:spAutoFit/>
          </a:bodyPr>
          <a:lstStyle/>
          <a:p>
            <a:pPr algn="dist"/>
            <a:r>
              <a:rPr kumimoji="0" lang="zh-CN" altLang="en-US" sz="1600" b="0" i="0" u="none" strike="noStrike" kern="100" cap="none" spc="0" normalizeH="0" baseline="0" noProof="0" dirty="0">
                <a:ln>
                  <a:noFill/>
                </a:ln>
                <a:solidFill>
                  <a:schemeClr val="bg1"/>
                </a:solidFill>
                <a:effectLst/>
                <a:uLnTx/>
                <a:uFillTx/>
                <a:latin typeface="Times New Roman" panose="02020603050405020304" pitchFamily="18" charset="0"/>
                <a:ea typeface="微软雅黑" panose="020B0503020204020204" pitchFamily="34" charset="-122"/>
                <a:cs typeface="+mn-cs"/>
              </a:rPr>
              <a:t>自然辩证法概论课程汇报</a:t>
            </a:r>
            <a:endParaRPr lang="zh-CN" altLang="en-US" sz="1600" dirty="0">
              <a:solidFill>
                <a:schemeClr val="bg1"/>
              </a:solidFill>
            </a:endParaRPr>
          </a:p>
        </p:txBody>
      </p:sp>
      <p:pic>
        <p:nvPicPr>
          <p:cNvPr id="10" name="图片 9">
            <a:extLst>
              <a:ext uri="{FF2B5EF4-FFF2-40B4-BE49-F238E27FC236}">
                <a16:creationId xmlns:a16="http://schemas.microsoft.com/office/drawing/2014/main" id="{BAFEE3F9-6E01-602A-B003-71B40F0CAD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7194" y="1598040"/>
            <a:ext cx="11217612" cy="2889754"/>
          </a:xfrm>
          <a:prstGeom prst="rect">
            <a:avLst/>
          </a:prstGeom>
        </p:spPr>
      </p:pic>
      <p:grpSp>
        <p:nvGrpSpPr>
          <p:cNvPr id="4" name="组合 3">
            <a:extLst>
              <a:ext uri="{FF2B5EF4-FFF2-40B4-BE49-F238E27FC236}">
                <a16:creationId xmlns:a16="http://schemas.microsoft.com/office/drawing/2014/main" id="{29CCCF69-3869-1CE4-75BF-684C183188C3}"/>
              </a:ext>
            </a:extLst>
          </p:cNvPr>
          <p:cNvGrpSpPr/>
          <p:nvPr/>
        </p:nvGrpSpPr>
        <p:grpSpPr>
          <a:xfrm>
            <a:off x="7888942" y="5151790"/>
            <a:ext cx="3898065" cy="615576"/>
            <a:chOff x="7888942" y="5151790"/>
            <a:chExt cx="3898065" cy="615576"/>
          </a:xfrm>
        </p:grpSpPr>
        <p:pic>
          <p:nvPicPr>
            <p:cNvPr id="7" name="图形 6">
              <a:extLst>
                <a:ext uri="{FF2B5EF4-FFF2-40B4-BE49-F238E27FC236}">
                  <a16:creationId xmlns:a16="http://schemas.microsoft.com/office/drawing/2014/main" id="{EDB1AE11-C1DF-D145-DD39-8D7C782B32F5}"/>
                </a:ext>
              </a:extLst>
            </p:cNvPr>
            <p:cNvPicPr>
              <a:picLocks noChangeAspect="1"/>
            </p:cNvPicPr>
            <p:nvPr>
              <p:custDataLst>
                <p:tags r:id="rId1"/>
              </p:custDataLst>
            </p:nvPr>
          </p:nvPicPr>
          <p:blipFill>
            <a:blip>
              <a:extLst>
                <a:ext uri="{96DAC541-7B7A-43D3-8B79-37D633B846F1}">
                  <asvg:svgBlip xmlns:asvg="http://schemas.microsoft.com/office/drawing/2016/SVG/main" r:embed="rId10"/>
                </a:ext>
              </a:extLst>
            </a:blip>
            <a:stretch>
              <a:fillRect/>
            </a:stretch>
          </p:blipFill>
          <p:spPr>
            <a:xfrm>
              <a:off x="7888942" y="5151790"/>
              <a:ext cx="615576" cy="615576"/>
            </a:xfrm>
            <a:prstGeom prst="rect">
              <a:avLst/>
            </a:prstGeom>
          </p:spPr>
        </p:pic>
        <p:sp>
          <p:nvSpPr>
            <p:cNvPr id="9" name="文本框 8">
              <a:extLst>
                <a:ext uri="{FF2B5EF4-FFF2-40B4-BE49-F238E27FC236}">
                  <a16:creationId xmlns:a16="http://schemas.microsoft.com/office/drawing/2014/main" id="{AFA09CDF-51D1-9973-1693-480082985B34}"/>
                </a:ext>
              </a:extLst>
            </p:cNvPr>
            <p:cNvSpPr txBox="1"/>
            <p:nvPr/>
          </p:nvSpPr>
          <p:spPr>
            <a:xfrm>
              <a:off x="8701905" y="5274912"/>
              <a:ext cx="3085102" cy="369332"/>
            </a:xfrm>
            <a:prstGeom prst="rect">
              <a:avLst/>
            </a:prstGeom>
            <a:noFill/>
          </p:spPr>
          <p:txBody>
            <a:bodyPr wrap="square">
              <a:spAutoFit/>
            </a:bodyPr>
            <a:lstStyle/>
            <a:p>
              <a:pPr marL="0" marR="0" lvl="0" indent="0" defTabSz="914400" rtl="0" eaLnBrk="1" fontAlgn="auto" latinLnBrk="0" hangingPunct="1">
                <a:spcBef>
                  <a:spcPts val="0"/>
                </a:spcBef>
                <a:spcAft>
                  <a:spcPts val="0"/>
                </a:spcAft>
                <a:buClrTx/>
                <a:buSzTx/>
                <a:buFontTx/>
                <a:buNone/>
                <a:tabLst/>
                <a:defRPr/>
              </a:pPr>
              <a:r>
                <a:rPr lang="zh-CN" altLang="en-US" b="1" kern="100" dirty="0">
                  <a:solidFill>
                    <a:srgbClr val="0F349D"/>
                  </a:solidFill>
                  <a:latin typeface="Times New Roman" panose="02020603050405020304" pitchFamily="18" charset="0"/>
                  <a:ea typeface="微软雅黑" panose="020B0503020204020204" pitchFamily="34" charset="-122"/>
                </a:rPr>
                <a:t>组别</a:t>
              </a:r>
              <a:r>
                <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第</a:t>
              </a:r>
              <a:r>
                <a:rPr kumimoji="0" lang="en-US"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2</a:t>
              </a:r>
              <a:r>
                <a:rPr kumimoji="0" lang="zh-CN" altLang="en-US"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小组</a:t>
              </a:r>
              <a:endParaRPr kumimoji="0" lang="zh-CN" altLang="zh-CN" sz="1800" b="0" i="0" u="none" strike="noStrike" kern="1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p:txBody>
        </p:sp>
      </p:grpSp>
    </p:spTree>
    <p:extLst>
      <p:ext uri="{BB962C8B-B14F-4D97-AF65-F5344CB8AC3E}">
        <p14:creationId xmlns:p14="http://schemas.microsoft.com/office/powerpoint/2010/main" val="19223063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icon"/>
</p:tagLst>
</file>

<file path=ppt/tags/tag2.xml><?xml version="1.0" encoding="utf-8"?>
<p:tagLst xmlns:a="http://schemas.openxmlformats.org/drawingml/2006/main" xmlns:r="http://schemas.openxmlformats.org/officeDocument/2006/relationships" xmlns:p="http://schemas.openxmlformats.org/presentationml/2006/main">
  <p:tag name="TYPE" val="icon"/>
</p:tagLst>
</file>

<file path=ppt/tags/tag3.xml><?xml version="1.0" encoding="utf-8"?>
<p:tagLst xmlns:a="http://schemas.openxmlformats.org/drawingml/2006/main" xmlns:r="http://schemas.openxmlformats.org/officeDocument/2006/relationships" xmlns:p="http://schemas.openxmlformats.org/presentationml/2006/main">
  <p:tag name="TYPE" val="icon"/>
</p:tagLst>
</file>

<file path=ppt/tags/tag4.xml><?xml version="1.0" encoding="utf-8"?>
<p:tagLst xmlns:a="http://schemas.openxmlformats.org/drawingml/2006/main" xmlns:r="http://schemas.openxmlformats.org/officeDocument/2006/relationships" xmlns:p="http://schemas.openxmlformats.org/presentationml/2006/main">
  <p:tag name="TYPE" val="icon"/>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TYPE" val="icon"/>
</p:tagLst>
</file>

<file path=ppt/tags/tag51.xml><?xml version="1.0" encoding="utf-8"?>
<p:tagLst xmlns:a="http://schemas.openxmlformats.org/drawingml/2006/main" xmlns:r="http://schemas.openxmlformats.org/officeDocument/2006/relationships" xmlns:p="http://schemas.openxmlformats.org/presentationml/2006/main">
  <p:tag name="TYPE" val="icon"/>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621</TotalTime>
  <Words>7686</Words>
  <Application>Microsoft Office PowerPoint</Application>
  <PresentationFormat>宽屏</PresentationFormat>
  <Paragraphs>325</Paragraphs>
  <Slides>18</Slides>
  <Notes>17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Times New Roman</vt:lpstr>
      <vt:lpstr>等线 Light</vt:lpstr>
      <vt:lpstr>微软雅黑</vt:lpstr>
      <vt:lpstr>Arial</vt:lpstr>
      <vt:lpstr>等线</vt:lpstr>
      <vt:lpstr>Wingdings</vt:lpstr>
      <vt:lpstr>仿宋</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Aphelion .</dc:creator>
  <cp:lastModifiedBy>文涛 李</cp:lastModifiedBy>
  <cp:revision>20</cp:revision>
  <dcterms:created xsi:type="dcterms:W3CDTF">2026-10-15T12:09:42Z</dcterms:created>
  <dcterms:modified xsi:type="dcterms:W3CDTF">2026-10-23T11:06:35Z</dcterms:modified>
</cp:coreProperties>
</file>