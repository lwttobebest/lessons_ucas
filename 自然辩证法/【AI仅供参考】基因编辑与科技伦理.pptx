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开场30秒：直接抛出问题——2018年那场实验里，科学上“能做”的事，伦理上为什么“不该做”？这就是今天汇报的主线。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30秒：四部分——先讲清事件，再追问伦理，然后用自然辩证法做理论透视，最后落到治理与启示。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75秒：一句话讲清事件——用CRISPR编辑人类胚胎的CCR5基因并让婴儿出生；强调最后被法院定性为犯罪，这不是“有争议的科研”，而是被判定违法的行为。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70秒：三问层层递进——对受试者（同意）、对制度（审查）、对法律（底线）。强调调查通报的认定是“伪造+蓄意逃避”，性质是明知故犯。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70秒：左边是技术账（不确定性），右边是伦理账（必要性）。落点：这组风险的特殊性在于不可逆、影响世代——这是与一般临床实验的本质区别。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60秒：这是全场的理论核心之一。恩格斯提醒：人类对自然的每一步“胜利”都有滞后报复；基因编辑把干预推进到人类基因库这个最深层，报复将以世代为单位，这正是恩格斯警示的当代版本。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60秒：自然辩证法不停留在道德指责——它区分技术能力与社会应用，把贺案理解为应用失范而非技术原罪；同时用爱因斯坦点出科学家的责任维度。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70秒：个案之后是制度化——中国的《意见》与《审查办法》、WHO 的全球建议，说明“负责任的研究”已经有明确制度通道；贺案不是终点，而是治理的起点。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60秒：落到自己身上——四条由制度到个人：伦理先行、敬畏不可逆、守住底线（第三条点出贺案获刑的警示）、负责任创新。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45秒：收束回主线——“能做”与“该做”之间站着责任；一句恩格斯式的收尾：技术每前进一步，伦理就要跟进一步。然后致谢，进入提问。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不必逐条念；说明文献以经典著作、官方文件与 Nature 报道为主，全部真实可查。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78992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950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自然辩证法概论 · 课程汇报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“能做”与“该做”之间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从“基因编辑婴儿”事件看科技伦理与责任治理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6352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94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知情同意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40280" y="379476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6352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3794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伦理审查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931920" y="3794760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16352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37947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责任治理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汇报人：【姓名】　　学号：【学号】　　院系：【学院】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83080" y="170078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事件回顾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83080" y="213969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三分钟还原“基因编辑婴儿”事件：从宣布、谴责到判决与治理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91672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79776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783080" y="285292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伦理追问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83080" y="32918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知情同意、伦理审查、风险与不可逆——实验究竟错在哪里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3192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83080" y="400507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辩证透视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83080" y="44439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自然界的报复与技术的社会性：自然辩证法如何审视这场实验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974336"/>
            <a:ext cx="11091672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8406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783080" y="515721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治理与启示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783080" y="55961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从个案到制度：治理框架与研究生的科研底线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事件回顾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三分钟看懂“基因编辑婴儿”事件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1481328"/>
            <a:ext cx="12188952" cy="713232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132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世界首例：可遗传生殖系基因编辑　　　｜　　　双胞胎“露露”与“娜娜”　　　｜　　　靶点 CCR5-Δ32，以期获得抗 HIV 免疫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310128"/>
            <a:ext cx="10469880" cy="0"/>
          </a:xfrm>
          <a:prstGeom prst="line">
            <a:avLst/>
          </a:prstGeom>
          <a:noFill/>
          <a:ln w="19050">
            <a:solidFill>
              <a:srgbClr val="D8E4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9304" y="3227832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2018.11.26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358444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贺建奎在深圳宣布：世界首例基因编辑婴儿诞生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02152" y="3227832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2532888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2018.11.28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32888" y="358444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第二届国际人类基因组编辑峰会声明：不负责任、不符合国际规范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3227832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2019.01.21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45736" y="358444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广东省调查组通报：伪造伦理审查、蓄意逃避监管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27848" y="3227832"/>
            <a:ext cx="164592" cy="164592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2019.12.30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58584" y="358444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一审宣判：非法行医罪，获刑三年、罚金三百万元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40696" y="3227832"/>
            <a:ext cx="164592" cy="16459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9171432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2022—2023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71432" y="358444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科技伦理治理制度化：《意见》与《审查办法》相继出台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资料来源：Nature (2018)；广东省调查组通报 (2019.1.21)；深圳市南山区人民法院一审宣判 (2019.12.30)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伦理追问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三重追问（上）：程序之问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知情同意之问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隐瞒真实目的与风险，甚至策划他人顶替志愿者验血；受试者并不真正理解“编辑基因”意味着什么。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同意不是签字，而是理解之后的授权。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4256" y="16002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4334256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34256" y="2304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伦理审查之问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334256" y="27889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通过他人伪造伦理审查书，蓄意逃避监管，私自组织实施国家明令禁止的生殖系基因编辑。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34256" y="44805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程序正义是科研的生命线，不是可选的手续。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9872" y="16002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19872" y="23042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法规底线之问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119872" y="27889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违反执业医师法与国家相关规定，最终以非法行医罪定谳。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19872" y="44805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科研自由有法律边界：不伤害、守法、可问责。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623560"/>
            <a:ext cx="12188952" cy="6858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程序不是形式：没有合规的知情同意与伦理审查，实验在起点就已越界。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知情同意与生命伦理原则，参见：邱仁宗. 生命伦理学. 上海人民出版社, 1987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伦理追问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三重追问（下）：风险之问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13248" cy="38862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技术的不确定性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41248" y="2395728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060704" y="228600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脱靶效应：可能误切其他基因位点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145536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" y="3035808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嵌合体风险：部分细胞被编辑、部分未被编辑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3895344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3785616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多效性疑点：CCR5 功能复杂，远期影响未知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4645152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704" y="4535424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编辑结果将遗传给后代，进入人类基因库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27064" y="1463040"/>
            <a:ext cx="5413248" cy="38862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1691640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医疗必要性质疑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519672" y="2395728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2286000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 HIV 已有成熟手段（洗精术＋药物阻断）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19672" y="3145536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6739128" y="3035808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无病可治，属于“预防性增强”而非治疗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19672" y="3895344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6739128" y="3785616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由“治疗”滑向“设计”：智商、容貌的想象空间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4645152"/>
            <a:ext cx="82296" cy="822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6739128" y="4535424"/>
            <a:ext cx="4590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优生学的历史阴影难以回避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5623560"/>
            <a:ext cx="12188952" cy="658368"/>
          </a:xfrm>
          <a:prstGeom prst="rect">
            <a:avLst/>
          </a:prstGeom>
          <a:solidFill>
            <a:srgbClr val="16352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 · 不可撤回 · 影响未出生者 —— 收益不确定，风险却由未来世代承担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风险与治理框架参见：World Health Organization. Human genome editing: recommendations. 2021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辩证透视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自然辩证法的审视（一）：自然界的报复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" y="11704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508760" y="1572768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我们不要过分陶醉于我们人类对自然界的胜利。对于每一次这样的胜利，自然界都对我们进行报复。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508760" y="2697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恩格斯《自然辩证法》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3520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技术的胜利只是局部与暂时的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08760" y="390448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第一步的胜利，往往在别处埋下第二步、第三步的代价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08760" y="4325112"/>
            <a:ext cx="9692640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44165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生殖系编辑触及“自然”的最深层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08760" y="480060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作用对象是人类基因库，后果以世代为单位展开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5221224"/>
            <a:ext cx="9692640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53126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预见有限，故须敬畏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08760" y="569671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当后果不可预知、不可撤回时，谨慎应当优先于冒进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辩证透视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自然辩证法的审视（二）：技术的社会性与责任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13248" cy="38862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马克思的镜鉴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22960" y="2267712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区分“机器本身”与“机器的资本主义应用”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矛盾不来自机器，而来自它的社会应用方式（《资本论》第一卷）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技术从来存在于社会形式之中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基因编辑无善恶，分歧在于：谁来用、为何用、如何用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315968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考察技术要看“科学技术与社会”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4700016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风险与收益的社会分配，是技术评估的应有之义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27064" y="1463040"/>
            <a:ext cx="5413248" cy="38862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501384" y="1691640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科学家的天平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501384" y="2267712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爱因斯坦的提醒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01384" y="2651760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“关心人本身，应当始终成为一切技术上奋斗的主要目标。”（《爱因斯坦文集》第三卷）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01384" y="3291840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“能做”不等于“该做”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01384" y="3675888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科学回答“可能与否”，伦理回答“正当与否”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01384" y="4315968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自由的边界是责任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01384" y="4700016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不伤害原则：当风险由他人（未出生者）承担时，决定权不能只在科学家手中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5623560"/>
            <a:ext cx="12188952" cy="6858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把技术放回“科学技术与社会”的总体联系之中：自由以责任为界。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参见：马克思《资本论》第1卷（2004）；郭贵春主编《自然辩证法概论》（2013）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治理与启示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从个案到制度：科技伦理的治理框架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1298448" cy="548640"/>
          </a:xfrm>
          <a:prstGeom prst="roundRect">
            <a:avLst>
              <a:gd name="adj" fmla="val 15000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82496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2022.03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48840" y="157276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《关于加强科技伦理治理的意见》（中办、国办）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48840" y="202996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首个国家层面科技伦理治理指导文件；五项治理原则：增进人类福祉／尊重生命权利／坚持公平公正／合理控制风险／保持公开透明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1672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63824"/>
            <a:ext cx="1298448" cy="548640"/>
          </a:xfrm>
          <a:prstGeom prst="roundRect">
            <a:avLst>
              <a:gd name="adj" fmla="val 15000"/>
            </a:avLst>
          </a:prstGeom>
          <a:solidFill>
            <a:srgbClr val="EAF3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6382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2023.12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48840" y="305409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《科技伦理审查办法（试行）》（科技部等十部门）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148840" y="3511296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2023年12月1日施行：伦理审查＋专家复核“双把关”，纳入清单的高风险科技活动从严监管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07408"/>
            <a:ext cx="11091672" cy="0"/>
          </a:xfrm>
          <a:prstGeom prst="line">
            <a:avLst/>
          </a:prstGeom>
          <a:noFill/>
          <a:ln w="12700">
            <a:solidFill>
              <a:srgbClr val="D8E4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645152"/>
            <a:ext cx="1298448" cy="548640"/>
          </a:xfrm>
          <a:prstGeom prst="roundRect">
            <a:avLst>
              <a:gd name="adj" fmla="val 15000"/>
            </a:avLst>
          </a:prstGeom>
          <a:solidFill>
            <a:srgbClr val="EA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451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2021.07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48840" y="453542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世界卫生组织《人类基因组编辑：建议》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148840" y="4992624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全球治理框架：在安全、有效、合乎伦理之前，可遗传基因组编辑不应用于生殖目的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来源：中国政府网 gov.cn 公开文本；World Health Organization, 2021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治理与启示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给研究生的四点启示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1328" y="161848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伦理先行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0756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伦理审查是防线，不是手续：先问“该不该”，再问“能不能”。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27523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敬畏不可逆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32095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风险与收益不对称时，宁可慢一步；对人类基因库保持敬畏。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81328" y="38862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守住底线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81328" y="43434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学术诚信与法律红线：数据不造假、程序不逾越——贺案获刑即是警示。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474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47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81328" y="502005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负责任创新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81328" y="54772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把伦理考量前置到研究设计阶段，而不是事后补救。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 · 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技术每前进一步，伦理就要跟进一步。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C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“能做”是科学的追问，“该做”是伦理的回答——两者之间，站着责任。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0749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 · 欢迎批评指正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18872" cy="11887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恩格斯. 自然辩证法[M]. 北京: 人民出版社, 2018.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马克思. 资本论: 第1卷[M]. 北京: 人民出版社, 2004.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郭贵春. 自然辩证法概论[M]. 北京: 高等教育出版社, 2013.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邱仁宗. 生命伦理学[M]. 上海: 上海人民出版社, 1987.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0273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爱因斯坦. 爱因斯坦文集: 第3卷[M]. 许良英, 等译. 北京: 商务印书馆, 1979: 72-73.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中共中央办公厅, 国务院办公厅. 关于加强科技伦理治理的意见[EB/OL]. (2022-03-20). https://www.gov.cn/zhengce/2022-03/20/content_5680105.htm.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268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科学技术部, 等. 科技伦理审查办法（试行）[EB/OL]. (2023-09-07). https://www.gov.cn/zhengce/zhengceku/202310/content_6908045.htm.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1389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CYRANOSKI D, LEDFORD H. Genome-edited baby claim provokes international outcry[J]. Nature, 2018, 563(7733): 607-608.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650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World Health Organization. Human genome editing: recommendations[R]. Geneva: WHO, 2021.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00023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C7D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从“基因编辑婴儿”事件看科技伦理与责任治理</dc:title>
  <dc:subject>PptxGenJS Presentation</dc:subject>
  <dc:creator>自然辩证法概论课程汇报</dc:creator>
  <cp:lastModifiedBy>自然辩证法概论课程汇报</cp:lastModifiedBy>
  <cp:revision>1</cp:revision>
  <dcterms:created xsi:type="dcterms:W3CDTF">2026-10-01T03:31:00Z</dcterms:created>
  <dcterms:modified xsi:type="dcterms:W3CDTF">2026-10-01T03:31:00Z</dcterms:modified>
</cp:coreProperties>
</file>