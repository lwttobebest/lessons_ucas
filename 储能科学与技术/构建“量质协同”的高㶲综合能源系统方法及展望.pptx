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2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84" r:id="rId3"/>
    <p:sldId id="257" r:id="rId4"/>
    <p:sldId id="287" r:id="rId5"/>
    <p:sldId id="286" r:id="rId6"/>
    <p:sldId id="258" r:id="rId7"/>
    <p:sldId id="288" r:id="rId8"/>
    <p:sldId id="259" r:id="rId9"/>
    <p:sldId id="293" r:id="rId10"/>
    <p:sldId id="295" r:id="rId11"/>
    <p:sldId id="296" r:id="rId12"/>
    <p:sldId id="297" r:id="rId13"/>
    <p:sldId id="300" r:id="rId14"/>
    <p:sldId id="302" r:id="rId15"/>
    <p:sldId id="304" r:id="rId16"/>
    <p:sldId id="308" r:id="rId17"/>
    <p:sldId id="309" r:id="rId18"/>
    <p:sldId id="307" r:id="rId19"/>
    <p:sldId id="267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8AA"/>
    <a:srgbClr val="174994"/>
    <a:srgbClr val="2E75B6"/>
    <a:srgbClr val="11366D"/>
    <a:srgbClr val="1627A6"/>
    <a:srgbClr val="2319A3"/>
    <a:srgbClr val="1E60C0"/>
    <a:srgbClr val="F2F2F2"/>
    <a:srgbClr val="E3E7EB"/>
    <a:srgbClr val="2A91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818" autoAdjust="0"/>
  </p:normalViewPr>
  <p:slideViewPr>
    <p:cSldViewPr snapToGrid="0">
      <p:cViewPr varScale="1">
        <p:scale>
          <a:sx n="82" d="100"/>
          <a:sy n="82" d="100"/>
        </p:scale>
        <p:origin x="111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CF513-1621-4D28-9321-276776531C7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893893-FA0D-4958-A690-9B93FCC716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477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381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345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444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438EC-18CC-0884-ABE6-82EB2701C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24149E-DFE7-840A-4500-E2CCF7A7E2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8DCDE6-3E7C-4127-4767-698C87E8E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676B31-2CE0-1EFB-350C-26E9D8E63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234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EDC06-9FD2-387E-F4C1-D65525259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C66DF4-2243-C686-A5E2-1685C54E79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1D8A91-A0D4-152B-5E6B-3A286B848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2192DC-A9CC-C594-3EA2-54BDD66F6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6989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u="none" strike="noStrike" baseline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852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32C82-C47F-2CF6-5905-7A02E93EB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FA50E5-0415-C38B-EEFE-B2AFA8139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85B699CD-A6F5-4A24-9F66-6B73E952770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85B699CD-A6F5-4A24-9F66-6B73E952770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首先是电力系统。电力系统的㶲流模型在三个子系统中最简洁，原因在于</a:t>
                </a:r>
                <a:r>
                  <a:rPr lang="zh-CN" altLang="zh-CN" dirty="0">
                    <a:effectLst/>
                  </a:rPr>
                  <a:t>电是纯㶲</a:t>
                </a:r>
                <a:r>
                  <a:rPr lang="zh-CN" altLang="zh-CN" dirty="0"/>
                  <a:t>——电能的品质系数 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</a:t>
                </a:r>
                <a:r>
                  <a:rPr lang="zh-CN" altLang="zh-CN" dirty="0"/>
                  <a:t>，全部电能都是可用功。</a:t>
                </a:r>
              </a:p>
              <a:p>
                <a:r>
                  <a:rPr lang="zh-CN" altLang="zh-CN" dirty="0"/>
                  <a:t>因此，电力系统的㶲势就是电压 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𝑝_𝑒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𝑈</a:t>
                </a:r>
                <a:r>
                  <a:rPr lang="zh-CN" altLang="zh-CN" dirty="0"/>
                  <a:t>（以大地为零㶲势点），㶲流就是有功功率，㶲损就是有功损耗（即 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𝐼^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𝑅</a:t>
                </a:r>
                <a:r>
                  <a:rPr lang="zh-CN" altLang="zh-CN" dirty="0"/>
                  <a:t>焦耳热）。</a:t>
                </a:r>
              </a:p>
              <a:p>
                <a:r>
                  <a:rPr lang="zh-CN" altLang="zh-CN" dirty="0"/>
                  <a:t>具体表达式</a:t>
                </a:r>
                <a:r>
                  <a:rPr lang="zh-CN" altLang="en-US" dirty="0"/>
                  <a:t>如图所示。</a:t>
                </a:r>
                <a:endParaRPr lang="en-US" altLang="zh-CN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828B41-3CAE-B82F-9512-5B7857A1B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135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116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624D4-AC53-DB7E-0ED0-2885B9882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5C1082-3EB3-97B0-F2BA-232BC33CF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EE30B5-24FD-14DF-78AB-C7DEFB7CA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0B9B98-3422-F9F2-F257-FE6869DA9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0650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FEBBD-0BA9-A5DC-006A-968F373FF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978C2C-36E3-352E-BBA7-B226BC0F7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847284-69C0-F63D-12F9-D5E12290E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14DDD9-08D3-95F3-F349-F91AA7F516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4866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7E05E-366B-DE79-338A-5E7709DBF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A6CAED-184C-3473-6F0D-B5AD3C96FE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1989C7-F41C-3506-8733-4C3980D6E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E17E80-40D4-8A42-FBA9-9249F9F11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1142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68651-CF75-9CA0-72E4-0F7822112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2F7316-8D3C-E39C-275D-E758FD282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14A175-4D5A-F7B1-18D5-AAA6BE312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C97635-A3D0-E766-577D-FA3D8455D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6776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8941B-6AFF-5D87-144A-0A2F2CAEC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3358D3-0595-76FC-2833-CC637B4B7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2530A9-BF04-DB15-5AC9-7C36AD975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50F267-EBE5-C0D4-8113-0C9B4925D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3488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5692D-B0B8-786A-7720-4F6C16341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C521A4-6330-70D1-E89F-300376859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56C2D681-63CA-6653-6C14-83C403E9DFA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zh-CN" dirty="0">
                    <a:effectLst/>
                  </a:rPr>
                  <a:t>符号㶲经济学</a:t>
                </a:r>
                <a:r>
                  <a:rPr lang="zh-CN" altLang="zh-CN" dirty="0"/>
                  <a:t> </a:t>
                </a:r>
                <a:r>
                  <a:rPr lang="zh-CN" altLang="zh-CN" dirty="0">
                    <a:effectLst/>
                  </a:rPr>
                  <a:t>+</a:t>
                </a:r>
                <a:r>
                  <a:rPr lang="zh-CN" altLang="zh-CN" dirty="0"/>
                  <a:t> </a:t>
                </a:r>
                <a:r>
                  <a:rPr lang="zh-CN" altLang="zh-CN" dirty="0">
                    <a:effectLst/>
                  </a:rPr>
                  <a:t>"结构系数"模式热经济学</a:t>
                </a:r>
                <a:r>
                  <a:rPr lang="zh-CN" altLang="zh-CN" dirty="0"/>
                  <a:t>：这是一种基于符号矩阵的建模方法，通过结构系数表征各组件之间的㶲流连接关系，形成符号化的成本方程。</a:t>
                </a:r>
              </a:p>
              <a:p>
                <a:r>
                  <a:rPr lang="zh-CN" altLang="zh-CN" dirty="0">
                    <a:effectLst/>
                  </a:rPr>
                  <a:t>Valero的㶲经济学结构理论</a:t>
                </a:r>
                <a:r>
                  <a:rPr lang="zh-CN" altLang="zh-CN" dirty="0"/>
                  <a:t>：这是统一㶲经济学的标准框架。核心是</a:t>
                </a:r>
                <a:r>
                  <a:rPr lang="zh-CN" altLang="zh-CN" dirty="0">
                    <a:effectLst/>
                  </a:rPr>
                  <a:t>㶲成本守恒模型</a:t>
                </a:r>
                <a:r>
                  <a:rPr lang="zh-CN" altLang="zh-CN" dirty="0"/>
                  <a:t>：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𝑝𝑟𝑜𝑑𝑢𝑐𝑡</m:t>
                          </m:r>
                        </m:sub>
                      </m:sSub>
                      <m:r>
                        <a:rPr lang="en-US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zh-CN" alt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𝑓𝑢𝑒𝑙</m:t>
                          </m:r>
                        </m:sub>
                      </m:sSub>
                      <m:r>
                        <a:rPr lang="en-US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zh-CN" alt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𝑛𝑜𝑛</m:t>
                          </m:r>
                          <m:r>
                            <a:rPr lang="zh-CN" alt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zh-CN" alt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𝑒𝑛𝑒𝑟𝑔𝑦</m:t>
                          </m:r>
                        </m:sub>
                      </m:sSub>
                    </m:oMath>
                  </m:oMathPara>
                </a14:m>
                <a:endParaRPr lang="zh-CN" altLang="zh-CN" dirty="0"/>
              </a:p>
              <a:p>
                <a:r>
                  <a:rPr lang="zh-CN" altLang="zh-CN" dirty="0"/>
                  <a:t>即产品的㶲经济成本 = 燃料的㶲经济成本 + 非能量费用（设备折旧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𝑍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dirty="0"/>
                  <a:t>、工人工资、管理等固定费用 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𝐿</m:t>
                    </m:r>
                  </m:oMath>
                </a14:m>
                <a:r>
                  <a:rPr lang="zh-CN" altLang="zh-CN" dirty="0"/>
                  <a:t>）。</a:t>
                </a:r>
              </a:p>
              <a:p>
                <a:r>
                  <a:rPr lang="zh-CN" altLang="zh-CN" dirty="0"/>
                  <a:t>展开为：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𝑒𝑓</m:t>
                        </m:r>
                      </m:sub>
                    </m:sSub>
                    <m:r>
                      <a:rPr lang="zh-CN" alt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⋅</m:t>
                    </m:r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𝐸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lang="en-US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𝑜𝑢𝑡</m:t>
                        </m:r>
                      </m:sub>
                    </m:sSub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𝑖𝑛</m:t>
                        </m:r>
                      </m:sub>
                    </m:sSub>
                    <m:r>
                      <a:rPr lang="zh-CN" alt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⋅</m:t>
                    </m:r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𝐸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lang="en-US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𝑖𝑛</m:t>
                        </m:r>
                      </m:sub>
                    </m:sSub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𝑍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𝐿</m:t>
                    </m:r>
                  </m:oMath>
                </a14:m>
                <a:endParaRPr lang="zh-CN" altLang="zh-CN" dirty="0"/>
              </a:p>
              <a:p>
                <a:r>
                  <a:rPr lang="zh-CN" altLang="zh-CN" dirty="0"/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𝑒𝑓</m:t>
                        </m:r>
                      </m:sub>
                    </m:sSub>
                  </m:oMath>
                </a14:m>
                <a:r>
                  <a:rPr lang="zh-CN" altLang="zh-CN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zh-CN" altLang="zh-CN" dirty="0"/>
                  <a:t> 分别为产品单价和输入系统的单价（元/kJ），注意单位是</a:t>
                </a:r>
                <a:r>
                  <a:rPr lang="zh-CN" altLang="zh-CN" dirty="0">
                    <a:effectLst/>
                  </a:rPr>
                  <a:t>每千焦㶲的成本</a:t>
                </a:r>
                <a:r>
                  <a:rPr lang="zh-CN" altLang="zh-CN" dirty="0"/>
                  <a:t>而非每千焦能量的成本——这是㶲经济学与传统能源经济学最根本的区别。</a:t>
                </a:r>
              </a:p>
              <a:p>
                <a:r>
                  <a:rPr lang="zh-CN" altLang="zh-CN" dirty="0"/>
                  <a:t>㶲成本守恒模型的正确性在于：它既遵守了热力学第二定律（㶲平衡），又遵守了经济学原则（成本守恒），因此能</a:t>
                </a:r>
                <a:r>
                  <a:rPr lang="zh-CN" altLang="zh-CN" dirty="0">
                    <a:effectLst/>
                  </a:rPr>
                  <a:t>正确反映用能的合理性及经济性，达到方案决策的目的</a:t>
                </a:r>
                <a:r>
                  <a:rPr lang="zh-CN" altLang="zh-CN" dirty="0"/>
                  <a:t>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56C2D681-63CA-6653-6C14-83C403E9DFA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zh-CN" dirty="0">
                    <a:effectLst/>
                  </a:rPr>
                  <a:t>符号㶲经济学</a:t>
                </a:r>
                <a:r>
                  <a:rPr lang="zh-CN" altLang="zh-CN" dirty="0"/>
                  <a:t> </a:t>
                </a:r>
                <a:r>
                  <a:rPr lang="zh-CN" altLang="zh-CN" dirty="0">
                    <a:effectLst/>
                  </a:rPr>
                  <a:t>+</a:t>
                </a:r>
                <a:r>
                  <a:rPr lang="zh-CN" altLang="zh-CN" dirty="0"/>
                  <a:t> </a:t>
                </a:r>
                <a:r>
                  <a:rPr lang="zh-CN" altLang="zh-CN" dirty="0">
                    <a:effectLst/>
                  </a:rPr>
                  <a:t>"结构系数"模式热经济学</a:t>
                </a:r>
                <a:r>
                  <a:rPr lang="zh-CN" altLang="zh-CN" dirty="0"/>
                  <a:t>：这是一种基于符号矩阵的建模方法，通过结构系数表征各组件之间的㶲流连接关系，形成符号化的成本方程。</a:t>
                </a:r>
              </a:p>
              <a:p>
                <a:r>
                  <a:rPr lang="zh-CN" altLang="zh-CN" dirty="0">
                    <a:effectLst/>
                  </a:rPr>
                  <a:t>Valero的㶲经济学结构理论</a:t>
                </a:r>
                <a:r>
                  <a:rPr lang="zh-CN" altLang="zh-CN" dirty="0"/>
                  <a:t>：这是统一㶲经济学的标准框架。核心是</a:t>
                </a:r>
                <a:r>
                  <a:rPr lang="zh-CN" altLang="zh-CN" dirty="0">
                    <a:effectLst/>
                  </a:rPr>
                  <a:t>㶲成本守恒模型</a:t>
                </a:r>
                <a:r>
                  <a:rPr lang="zh-CN" altLang="zh-CN" dirty="0"/>
                  <a:t>：</a:t>
                </a:r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𝐶_𝑝𝑟𝑜𝑑𝑢𝑐𝑡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𝐶_𝑓𝑢𝑒𝑙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+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𝐶_(𝑛𝑜𝑛−𝑒𝑛𝑒𝑟𝑔𝑦)</a:t>
                </a:r>
                <a:endParaRPr lang="zh-CN" altLang="zh-CN" dirty="0"/>
              </a:p>
              <a:p>
                <a:r>
                  <a:rPr lang="zh-CN" altLang="zh-CN" dirty="0"/>
                  <a:t>即产品的㶲经济成本 = 燃料的㶲经济成本 + 非能量费用（设备折旧 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𝑍_𝑖</a:t>
                </a:r>
                <a:r>
                  <a:rPr lang="zh-CN" altLang="zh-CN" dirty="0"/>
                  <a:t>、工人工资、管理等固定费用 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𝐿</a:t>
                </a:r>
                <a:r>
                  <a:rPr lang="zh-CN" altLang="zh-CN" dirty="0"/>
                  <a:t>）。</a:t>
                </a:r>
              </a:p>
              <a:p>
                <a:r>
                  <a:rPr lang="zh-CN" altLang="zh-CN" dirty="0"/>
                  <a:t>展开为：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𝑐_𝑒𝑓⋅𝐸_(𝑥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,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𝑜𝑢𝑡)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𝑐_𝑖𝑛⋅𝐸_(𝑥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,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𝑖𝑛)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+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𝑍_𝑖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+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𝐿</a:t>
                </a:r>
                <a:endParaRPr lang="zh-CN" altLang="zh-CN" dirty="0"/>
              </a:p>
              <a:p>
                <a:r>
                  <a:rPr lang="zh-CN" altLang="zh-CN" dirty="0"/>
                  <a:t>其中 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𝑐_𝑒𝑓</a:t>
                </a:r>
                <a:r>
                  <a:rPr lang="zh-CN" altLang="zh-CN" dirty="0"/>
                  <a:t>、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𝑐_𝑖𝑛</a:t>
                </a:r>
                <a:r>
                  <a:rPr lang="zh-CN" altLang="zh-CN" dirty="0"/>
                  <a:t> 分别为产品单价和输入系统的单价（元/kJ），注意单位是</a:t>
                </a:r>
                <a:r>
                  <a:rPr lang="zh-CN" altLang="zh-CN" dirty="0">
                    <a:effectLst/>
                  </a:rPr>
                  <a:t>每千焦㶲的成本</a:t>
                </a:r>
                <a:r>
                  <a:rPr lang="zh-CN" altLang="zh-CN" dirty="0"/>
                  <a:t>而非每千焦能量的成本——这是㶲经济学与传统能源经济学最根本的区别。</a:t>
                </a:r>
              </a:p>
              <a:p>
                <a:r>
                  <a:rPr lang="zh-CN" altLang="zh-CN" dirty="0"/>
                  <a:t>㶲成本守恒模型的正确性在于：它既遵守了热力学第二定律（㶲平衡），又遵守了经济学原则（成本守恒），因此能</a:t>
                </a:r>
                <a:r>
                  <a:rPr lang="zh-CN" altLang="zh-CN" dirty="0">
                    <a:effectLst/>
                  </a:rPr>
                  <a:t>正确反映用能的合理性及经济性，达到方案决策的目的</a:t>
                </a:r>
                <a:r>
                  <a:rPr lang="zh-CN" altLang="zh-CN" dirty="0"/>
                  <a:t>。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D3F6EB-22A8-2040-F27A-0E126F223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5980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A6425-6F8C-642A-BB2F-4D8122462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967B9E-A2EF-0BE7-C4D6-A67EE2F01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D1D288FC-801D-B939-500E-13FB9B3498C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有了多产品分摊的基础，我们可以提出一个更具普遍意义的定价原则：</a:t>
                </a:r>
                <a:r>
                  <a:rPr lang="zh-CN" altLang="zh-CN" dirty="0">
                    <a:effectLst/>
                  </a:rPr>
                  <a:t>优质优价</a:t>
                </a:r>
                <a:r>
                  <a:rPr lang="zh-CN" altLang="zh-CN" dirty="0"/>
                  <a:t>——从"按数量计价"到"按品质计价"。</a:t>
                </a:r>
              </a:p>
              <a:p>
                <a:r>
                  <a:rPr lang="zh-CN" altLang="zh-CN" dirty="0"/>
                  <a:t>表列了典型能源形式的品质系数：</a:t>
                </a:r>
              </a:p>
              <a:p>
                <a:pPr lvl="0"/>
                <a:r>
                  <a:rPr lang="zh-CN" altLang="zh-CN" dirty="0">
                    <a:effectLst/>
                  </a:rPr>
                  <a:t>电能/机械能：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𝜆</m:t>
                    </m:r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=1.00</m:t>
                    </m:r>
                  </m:oMath>
                </a14:m>
                <a:r>
                  <a:rPr lang="zh-CN" altLang="zh-CN" dirty="0">
                    <a:effectLst/>
                  </a:rPr>
                  <a:t>，品质基准；</a:t>
                </a:r>
                <a:endParaRPr lang="zh-CN" altLang="zh-CN" dirty="0"/>
              </a:p>
              <a:p>
                <a:pPr lvl="0"/>
                <a:r>
                  <a:rPr lang="zh-CN" altLang="zh-CN" dirty="0">
                    <a:effectLst/>
                  </a:rPr>
                  <a:t>高温蒸汽（&gt;200℃）：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𝜆</m:t>
                    </m:r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=0.5</m:t>
                    </m:r>
                    <m:r>
                      <m:rPr>
                        <m:nor/>
                      </m:rPr>
                      <a:rPr lang="en-US" altLang="zh-CN" sz="1200" b="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–</m:t>
                    </m:r>
                    <m:r>
                      <a:rPr lang="en-US" altLang="zh-CN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0.8</m:t>
                    </m:r>
                  </m:oMath>
                </a14:m>
                <a:r>
                  <a:rPr lang="zh-CN" altLang="zh-CN" dirty="0">
                    <a:effectLst/>
                  </a:rPr>
                  <a:t>，工业工艺热源；</a:t>
                </a:r>
                <a:endParaRPr lang="zh-CN" altLang="zh-CN" dirty="0"/>
              </a:p>
              <a:p>
                <a:pPr lvl="0"/>
                <a:r>
                  <a:rPr lang="zh-CN" altLang="zh-CN" dirty="0">
                    <a:effectLst/>
                  </a:rPr>
                  <a:t>热水（≤180℃）：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𝜆</m:t>
                    </m:r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=0.1</m:t>
                    </m:r>
                    <m:r>
                      <m:rPr>
                        <m:nor/>
                      </m:rPr>
                      <a:rPr lang="en-US" altLang="zh-CN" sz="1200" b="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–</m:t>
                    </m:r>
                    <m:r>
                      <a:rPr lang="en-US" altLang="zh-CN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0.3</m:t>
                    </m:r>
                  </m:oMath>
                </a14:m>
                <a:r>
                  <a:rPr lang="zh-CN" altLang="zh-CN" dirty="0">
                    <a:effectLst/>
                  </a:rPr>
                  <a:t>，低温供热。</a:t>
                </a:r>
                <a:endParaRPr lang="zh-CN" altLang="zh-CN" dirty="0"/>
              </a:p>
              <a:p>
                <a:r>
                  <a:rPr lang="zh-CN" altLang="zh-CN" dirty="0"/>
                  <a:t>对于任意异质能源形式，其</a:t>
                </a:r>
                <a:r>
                  <a:rPr lang="zh-CN" altLang="zh-CN" dirty="0">
                    <a:effectLst/>
                  </a:rPr>
                  <a:t>单位能量售价</a:t>
                </a:r>
                <a:r>
                  <a:rPr lang="zh-CN" altLang="zh-CN" dirty="0"/>
                  <a:t>为：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zh-CN" altLang="en-US" b="0" i="0"/>
                        <m:t>价格</m:t>
                      </m:r>
                      <m:r>
                        <a:rPr lang="en-US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基准电价</m:t>
                      </m:r>
                      <m:r>
                        <a:rPr lang="en-US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lang="zh-CN" altLang="en-US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𝜆</m:t>
                      </m:r>
                    </m:oMath>
                  </m:oMathPara>
                </a14:m>
                <a:endParaRPr lang="zh-CN" altLang="zh-CN" dirty="0"/>
              </a:p>
              <a:p>
                <a:r>
                  <a:rPr lang="zh-CN" altLang="zh-CN" dirty="0"/>
                  <a:t>即品质系数直接作为价格的折算因子。这一原则带来四大效果：</a:t>
                </a:r>
              </a:p>
              <a:p>
                <a:pPr lvl="0"/>
                <a:r>
                  <a:rPr lang="zh-CN" altLang="zh-CN" dirty="0">
                    <a:effectLst/>
                  </a:rPr>
                  <a:t>引导梯级利用——价格自动驱动"热尽其用"：低温用户买低价热，高温用户买高价热，不会出现用高品质电去满足低温热需求的逆向行为；</a:t>
                </a:r>
                <a:endParaRPr lang="zh-CN" altLang="zh-CN" dirty="0"/>
              </a:p>
              <a:p>
                <a:pPr lvl="0"/>
                <a:r>
                  <a:rPr lang="zh-CN" altLang="zh-CN" dirty="0">
                    <a:effectLst/>
                  </a:rPr>
                  <a:t>纠正逆向行为——电锅炉"高品低用"在经济上变得不划算（电价高、热价低），市场自发淘汰；</a:t>
                </a:r>
                <a:endParaRPr lang="zh-CN" altLang="zh-CN" dirty="0"/>
              </a:p>
              <a:p>
                <a:pPr lvl="0"/>
                <a:r>
                  <a:rPr lang="zh-CN" altLang="zh-CN" dirty="0">
                    <a:effectLst/>
                  </a:rPr>
                  <a:t>公平分摊成本——低品位用户不再为高品质传输损耗买单，每个用户只为与自己品质匹配的服务付费；</a:t>
                </a:r>
                <a:endParaRPr lang="zh-CN" altLang="zh-CN" dirty="0"/>
              </a:p>
              <a:p>
                <a:pPr lvl="0"/>
                <a:r>
                  <a:rPr lang="zh-CN" altLang="zh-CN" dirty="0">
                    <a:effectLst/>
                  </a:rPr>
                  <a:t>支撑双碳目标——减少㶲损即减少一次能源浪费，㶲定价将这一物理关系转化为经济信号。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D1D288FC-801D-B939-500E-13FB9B3498C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有了多产品分摊的基础，我们可以提出一个更具普遍意义的定价原则：</a:t>
                </a:r>
                <a:r>
                  <a:rPr lang="zh-CN" altLang="zh-CN" dirty="0">
                    <a:effectLst/>
                  </a:rPr>
                  <a:t>优质优价</a:t>
                </a:r>
                <a:r>
                  <a:rPr lang="zh-CN" altLang="zh-CN" dirty="0"/>
                  <a:t>——从"按数量计价"到"按品质计价"。</a:t>
                </a:r>
              </a:p>
              <a:p>
                <a:r>
                  <a:rPr lang="zh-CN" altLang="zh-CN" dirty="0"/>
                  <a:t>表列了典型能源形式的品质系数：</a:t>
                </a:r>
              </a:p>
              <a:p>
                <a:pPr lvl="0"/>
                <a:r>
                  <a:rPr lang="zh-CN" altLang="zh-CN" dirty="0">
                    <a:effectLst/>
                  </a:rPr>
                  <a:t>电能/机械能：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=1.00</a:t>
                </a:r>
                <a:r>
                  <a:rPr lang="zh-CN" altLang="zh-CN" dirty="0">
                    <a:effectLst/>
                  </a:rPr>
                  <a:t>，品质基准；</a:t>
                </a:r>
                <a:endParaRPr lang="zh-CN" altLang="zh-CN" dirty="0"/>
              </a:p>
              <a:p>
                <a:pPr lvl="0"/>
                <a:r>
                  <a:rPr lang="zh-CN" altLang="zh-CN" dirty="0">
                    <a:effectLst/>
                  </a:rPr>
                  <a:t>高温蒸汽（&gt;200℃）：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=0.5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"–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0.8</a:t>
                </a:r>
                <a:r>
                  <a:rPr lang="zh-CN" altLang="zh-CN" dirty="0">
                    <a:effectLst/>
                  </a:rPr>
                  <a:t>，工业工艺热源；</a:t>
                </a:r>
                <a:endParaRPr lang="zh-CN" altLang="zh-CN" dirty="0"/>
              </a:p>
              <a:p>
                <a:pPr lvl="0"/>
                <a:r>
                  <a:rPr lang="zh-CN" altLang="zh-CN" dirty="0">
                    <a:effectLst/>
                  </a:rPr>
                  <a:t>热水（≤180℃）：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=0.1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"–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0.3</a:t>
                </a:r>
                <a:r>
                  <a:rPr lang="zh-CN" altLang="zh-CN" dirty="0">
                    <a:effectLst/>
                  </a:rPr>
                  <a:t>，低温供热。</a:t>
                </a:r>
                <a:endParaRPr lang="zh-CN" altLang="zh-CN" dirty="0"/>
              </a:p>
              <a:p>
                <a:r>
                  <a:rPr lang="zh-CN" altLang="zh-CN" dirty="0"/>
                  <a:t>对于任意异质能源形式，其</a:t>
                </a:r>
                <a:r>
                  <a:rPr lang="zh-CN" altLang="zh-CN" dirty="0">
                    <a:effectLst/>
                  </a:rPr>
                  <a:t>单位能量售价</a:t>
                </a:r>
                <a:r>
                  <a:rPr lang="zh-CN" altLang="zh-CN" dirty="0"/>
                  <a:t>为：</a:t>
                </a:r>
              </a:p>
              <a:p>
                <a:r>
                  <a:rPr lang="zh-CN" altLang="en-US" b="0" i="0">
                    <a:latin typeface="Cambria Math" panose="02040503050406030204" pitchFamily="18" charset="0"/>
                  </a:rPr>
                  <a:t>"价格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"=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"基准电价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"×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</a:t>
                </a:r>
                <a:endParaRPr lang="zh-CN" altLang="zh-CN" dirty="0"/>
              </a:p>
              <a:p>
                <a:r>
                  <a:rPr lang="zh-CN" altLang="zh-CN" dirty="0"/>
                  <a:t>即品质系数直接作为价格的折算因子。这一原则带来四大效果：</a:t>
                </a:r>
              </a:p>
              <a:p>
                <a:pPr lvl="0"/>
                <a:r>
                  <a:rPr lang="zh-CN" altLang="zh-CN" dirty="0">
                    <a:effectLst/>
                  </a:rPr>
                  <a:t>引导梯级利用——价格自动驱动"热尽其用"：低温用户买低价热，高温用户买高价热，不会出现用高品质电去满足低温热需求的逆向行为；</a:t>
                </a:r>
                <a:endParaRPr lang="zh-CN" altLang="zh-CN" dirty="0"/>
              </a:p>
              <a:p>
                <a:pPr lvl="0"/>
                <a:r>
                  <a:rPr lang="zh-CN" altLang="zh-CN" dirty="0">
                    <a:effectLst/>
                  </a:rPr>
                  <a:t>纠正逆向行为——电锅炉"高品低用"在经济上变得不划算（电价高、热价低），市场自发淘汰；</a:t>
                </a:r>
                <a:endParaRPr lang="zh-CN" altLang="zh-CN" dirty="0"/>
              </a:p>
              <a:p>
                <a:pPr lvl="0"/>
                <a:r>
                  <a:rPr lang="zh-CN" altLang="zh-CN" dirty="0">
                    <a:effectLst/>
                  </a:rPr>
                  <a:t>公平分摊成本——低品位用户不再为高品质传输损耗买单，每个用户只为与自己品质匹配的服务付费；</a:t>
                </a:r>
                <a:endParaRPr lang="zh-CN" altLang="zh-CN" dirty="0"/>
              </a:p>
              <a:p>
                <a:pPr lvl="0"/>
                <a:r>
                  <a:rPr lang="zh-CN" altLang="zh-CN" dirty="0">
                    <a:effectLst/>
                  </a:rPr>
                  <a:t>支撑双碳目标——减少㶲损即减少一次能源浪费，㶲定价将这一物理关系转化为经济信号。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B8FC27-B4BF-85A7-8727-DF17A7D8E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9972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3E0AC-B8F9-CF9B-1F9E-DE1429DDD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DA2638-6B1A-325D-B4BF-9E46D7829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7739044E-D2A1-8866-E1F5-A2A755C30B8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有了多产品分摊的基础，我们可以提出一个更具普遍意义的定价原则：</a:t>
                </a:r>
                <a:r>
                  <a:rPr lang="zh-CN" altLang="zh-CN" dirty="0">
                    <a:effectLst/>
                  </a:rPr>
                  <a:t>优质优价</a:t>
                </a:r>
                <a:r>
                  <a:rPr lang="zh-CN" altLang="zh-CN" dirty="0"/>
                  <a:t>——从"按数量计价"到"按品质计价"。</a:t>
                </a:r>
              </a:p>
              <a:p>
                <a:r>
                  <a:rPr lang="zh-CN" altLang="zh-CN" dirty="0"/>
                  <a:t>表列了典型能源形式的品质系数：</a:t>
                </a:r>
              </a:p>
              <a:p>
                <a:pPr lvl="0"/>
                <a:r>
                  <a:rPr lang="zh-CN" altLang="zh-CN" dirty="0">
                    <a:effectLst/>
                  </a:rPr>
                  <a:t>电能/机械能：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𝜆</m:t>
                    </m:r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=1.00</m:t>
                    </m:r>
                  </m:oMath>
                </a14:m>
                <a:r>
                  <a:rPr lang="zh-CN" altLang="zh-CN" dirty="0">
                    <a:effectLst/>
                  </a:rPr>
                  <a:t>，品质基准；</a:t>
                </a:r>
                <a:endParaRPr lang="zh-CN" altLang="zh-CN" dirty="0"/>
              </a:p>
              <a:p>
                <a:pPr lvl="0"/>
                <a:r>
                  <a:rPr lang="zh-CN" altLang="zh-CN" dirty="0">
                    <a:effectLst/>
                  </a:rPr>
                  <a:t>高温蒸汽（&gt;200℃）：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𝜆</m:t>
                    </m:r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=0.5</m:t>
                    </m:r>
                    <m:r>
                      <m:rPr>
                        <m:nor/>
                      </m:rPr>
                      <a:rPr lang="en-US" altLang="zh-CN" sz="1200" b="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–</m:t>
                    </m:r>
                    <m:r>
                      <a:rPr lang="en-US" altLang="zh-CN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0.8</m:t>
                    </m:r>
                  </m:oMath>
                </a14:m>
                <a:r>
                  <a:rPr lang="zh-CN" altLang="zh-CN" dirty="0">
                    <a:effectLst/>
                  </a:rPr>
                  <a:t>，工业工艺热源；</a:t>
                </a:r>
                <a:endParaRPr lang="zh-CN" altLang="zh-CN" dirty="0"/>
              </a:p>
              <a:p>
                <a:pPr lvl="0"/>
                <a:r>
                  <a:rPr lang="zh-CN" altLang="zh-CN" dirty="0">
                    <a:effectLst/>
                  </a:rPr>
                  <a:t>热水（≤180℃）：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𝜆</m:t>
                    </m:r>
                    <m:r>
                      <a:rPr lang="en-US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=0.1</m:t>
                    </m:r>
                    <m:r>
                      <m:rPr>
                        <m:nor/>
                      </m:rPr>
                      <a:rPr lang="en-US" altLang="zh-CN" sz="1200" b="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–</m:t>
                    </m:r>
                    <m:r>
                      <a:rPr lang="en-US" altLang="zh-CN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0.3</m:t>
                    </m:r>
                  </m:oMath>
                </a14:m>
                <a:r>
                  <a:rPr lang="zh-CN" altLang="zh-CN" dirty="0">
                    <a:effectLst/>
                  </a:rPr>
                  <a:t>，低温供热。</a:t>
                </a:r>
                <a:endParaRPr lang="zh-CN" altLang="zh-CN" dirty="0"/>
              </a:p>
              <a:p>
                <a:r>
                  <a:rPr lang="zh-CN" altLang="zh-CN" dirty="0"/>
                  <a:t>对于任意异质能源形式，其</a:t>
                </a:r>
                <a:r>
                  <a:rPr lang="zh-CN" altLang="zh-CN" dirty="0">
                    <a:effectLst/>
                  </a:rPr>
                  <a:t>单位能量售价</a:t>
                </a:r>
                <a:r>
                  <a:rPr lang="zh-CN" altLang="zh-CN" dirty="0"/>
                  <a:t>为：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zh-CN" altLang="en-US" b="0" i="0"/>
                        <m:t>价格</m:t>
                      </m:r>
                      <m:r>
                        <a:rPr lang="en-US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基准电价</m:t>
                      </m:r>
                      <m:r>
                        <a:rPr lang="en-US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lang="zh-CN" altLang="en-US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𝜆</m:t>
                      </m:r>
                    </m:oMath>
                  </m:oMathPara>
                </a14:m>
                <a:endParaRPr lang="zh-CN" altLang="zh-CN" dirty="0"/>
              </a:p>
              <a:p>
                <a:r>
                  <a:rPr lang="zh-CN" altLang="zh-CN" dirty="0"/>
                  <a:t>即品质系数直接作为价格的折算因子。这一原则带来四大效果：</a:t>
                </a:r>
              </a:p>
              <a:p>
                <a:pPr lvl="0"/>
                <a:r>
                  <a:rPr lang="zh-CN" altLang="zh-CN" dirty="0">
                    <a:effectLst/>
                  </a:rPr>
                  <a:t>引导梯级利用——价格自动驱动"热尽其用"：低温用户买低价热，高温用户买高价热，不会出现用高品质电去满足低温热需求的逆向行为；</a:t>
                </a:r>
                <a:endParaRPr lang="zh-CN" altLang="zh-CN" dirty="0"/>
              </a:p>
              <a:p>
                <a:pPr lvl="0"/>
                <a:r>
                  <a:rPr lang="zh-CN" altLang="zh-CN" dirty="0">
                    <a:effectLst/>
                  </a:rPr>
                  <a:t>纠正逆向行为——电锅炉"高品低用"在经济上变得不划算（电价高、热价低），市场自发淘汰；</a:t>
                </a:r>
                <a:endParaRPr lang="zh-CN" altLang="zh-CN" dirty="0"/>
              </a:p>
              <a:p>
                <a:pPr lvl="0"/>
                <a:r>
                  <a:rPr lang="zh-CN" altLang="zh-CN" dirty="0">
                    <a:effectLst/>
                  </a:rPr>
                  <a:t>公平分摊成本——低品位用户不再为高品质传输损耗买单，每个用户只为与自己品质匹配的服务付费；</a:t>
                </a:r>
                <a:endParaRPr lang="zh-CN" altLang="zh-CN" dirty="0"/>
              </a:p>
              <a:p>
                <a:pPr lvl="0"/>
                <a:r>
                  <a:rPr lang="zh-CN" altLang="zh-CN" dirty="0">
                    <a:effectLst/>
                  </a:rPr>
                  <a:t>支撑双碳目标——减少㶲损即减少一次能源浪费，㶲定价将这一物理关系转化为经济信号。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D1D288FC-801D-B939-500E-13FB9B3498C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有了多产品分摊的基础，我们可以提出一个更具普遍意义的定价原则：</a:t>
                </a:r>
                <a:r>
                  <a:rPr lang="zh-CN" altLang="zh-CN" dirty="0">
                    <a:effectLst/>
                  </a:rPr>
                  <a:t>优质优价</a:t>
                </a:r>
                <a:r>
                  <a:rPr lang="zh-CN" altLang="zh-CN" dirty="0"/>
                  <a:t>——从"按数量计价"到"按品质计价"。</a:t>
                </a:r>
              </a:p>
              <a:p>
                <a:r>
                  <a:rPr lang="zh-CN" altLang="zh-CN" dirty="0"/>
                  <a:t>表列了典型能源形式的品质系数：</a:t>
                </a:r>
              </a:p>
              <a:p>
                <a:pPr lvl="0"/>
                <a:r>
                  <a:rPr lang="zh-CN" altLang="zh-CN" dirty="0">
                    <a:effectLst/>
                  </a:rPr>
                  <a:t>电能/机械能：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=1.00</a:t>
                </a:r>
                <a:r>
                  <a:rPr lang="zh-CN" altLang="zh-CN" dirty="0">
                    <a:effectLst/>
                  </a:rPr>
                  <a:t>，品质基准；</a:t>
                </a:r>
                <a:endParaRPr lang="zh-CN" altLang="zh-CN" dirty="0"/>
              </a:p>
              <a:p>
                <a:pPr lvl="0"/>
                <a:r>
                  <a:rPr lang="zh-CN" altLang="zh-CN" dirty="0">
                    <a:effectLst/>
                  </a:rPr>
                  <a:t>高温蒸汽（&gt;200℃）：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=0.5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"–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0.8</a:t>
                </a:r>
                <a:r>
                  <a:rPr lang="zh-CN" altLang="zh-CN" dirty="0">
                    <a:effectLst/>
                  </a:rPr>
                  <a:t>，工业工艺热源；</a:t>
                </a:r>
                <a:endParaRPr lang="zh-CN" altLang="zh-CN" dirty="0"/>
              </a:p>
              <a:p>
                <a:pPr lvl="0"/>
                <a:r>
                  <a:rPr lang="zh-CN" altLang="zh-CN" dirty="0">
                    <a:effectLst/>
                  </a:rPr>
                  <a:t>热水（≤180℃）：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=0.1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"–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0.3</a:t>
                </a:r>
                <a:r>
                  <a:rPr lang="zh-CN" altLang="zh-CN" dirty="0">
                    <a:effectLst/>
                  </a:rPr>
                  <a:t>，低温供热。</a:t>
                </a:r>
                <a:endParaRPr lang="zh-CN" altLang="zh-CN" dirty="0"/>
              </a:p>
              <a:p>
                <a:r>
                  <a:rPr lang="zh-CN" altLang="zh-CN" dirty="0"/>
                  <a:t>对于任意异质能源形式，其</a:t>
                </a:r>
                <a:r>
                  <a:rPr lang="zh-CN" altLang="zh-CN" dirty="0">
                    <a:effectLst/>
                  </a:rPr>
                  <a:t>单位能量售价</a:t>
                </a:r>
                <a:r>
                  <a:rPr lang="zh-CN" altLang="zh-CN" dirty="0"/>
                  <a:t>为：</a:t>
                </a:r>
              </a:p>
              <a:p>
                <a:r>
                  <a:rPr lang="zh-CN" altLang="en-US" b="0" i="0">
                    <a:latin typeface="Cambria Math" panose="02040503050406030204" pitchFamily="18" charset="0"/>
                  </a:rPr>
                  <a:t>"价格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"=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"基准电价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"×</a:t>
                </a:r>
                <a:r>
                  <a:rPr lang="zh-CN" alt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</a:t>
                </a:r>
                <a:endParaRPr lang="zh-CN" altLang="zh-CN" dirty="0"/>
              </a:p>
              <a:p>
                <a:r>
                  <a:rPr lang="zh-CN" altLang="zh-CN" dirty="0"/>
                  <a:t>即品质系数直接作为价格的折算因子。这一原则带来四大效果：</a:t>
                </a:r>
              </a:p>
              <a:p>
                <a:pPr lvl="0"/>
                <a:r>
                  <a:rPr lang="zh-CN" altLang="zh-CN" dirty="0">
                    <a:effectLst/>
                  </a:rPr>
                  <a:t>引导梯级利用——价格自动驱动"热尽其用"：低温用户买低价热，高温用户买高价热，不会出现用高品质电去满足低温热需求的逆向行为；</a:t>
                </a:r>
                <a:endParaRPr lang="zh-CN" altLang="zh-CN" dirty="0"/>
              </a:p>
              <a:p>
                <a:pPr lvl="0"/>
                <a:r>
                  <a:rPr lang="zh-CN" altLang="zh-CN" dirty="0">
                    <a:effectLst/>
                  </a:rPr>
                  <a:t>纠正逆向行为——电锅炉"高品低用"在经济上变得不划算（电价高、热价低），市场自发淘汰；</a:t>
                </a:r>
                <a:endParaRPr lang="zh-CN" altLang="zh-CN" dirty="0"/>
              </a:p>
              <a:p>
                <a:pPr lvl="0"/>
                <a:r>
                  <a:rPr lang="zh-CN" altLang="zh-CN" dirty="0">
                    <a:effectLst/>
                  </a:rPr>
                  <a:t>公平分摊成本——低品位用户不再为高品质传输损耗买单，每个用户只为与自己品质匹配的服务付费；</a:t>
                </a:r>
                <a:endParaRPr lang="zh-CN" altLang="zh-CN" dirty="0"/>
              </a:p>
              <a:p>
                <a:pPr lvl="0"/>
                <a:r>
                  <a:rPr lang="zh-CN" altLang="zh-CN" dirty="0">
                    <a:effectLst/>
                  </a:rPr>
                  <a:t>支撑双碳目标——减少㶲损即减少一次能源浪费，㶲定价将这一物理关系转化为经济信号。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7D18A3-6CCE-AF58-4691-8DE7C5040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8875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AD922-64AB-3072-51D2-772E17807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EFDD34-86BC-6250-B6C8-A4D30A8F0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DADCA8-7E6C-7753-BB46-4758301931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07F4CA-F159-9268-40D4-4228644DA7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1947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4267D-2EDD-51DC-E3BF-5826AB375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B61398-44B1-367F-37A8-0E7D0F1FE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071A0F-1817-97EC-23DB-2B0F6B596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556E97-A944-73B3-ECA4-45882889AB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538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4D346-80B8-5253-0BB2-64E4844E1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6FB5FF5-E95F-ACFA-5E1D-967EFB833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38BE88-74D7-62F1-E60B-077E2D3AC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113687-003A-09F0-CF0B-ABCC40FB3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3893-FA0D-4958-A690-9B93FCC716A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160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82904-29AB-AA2B-DECA-ED0A2B1B4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EE4DB94-1485-16B6-1ADA-A9BAD5154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94AFC4-1564-8E34-5241-9C6E7C909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A79E-45C3-4051-8A24-6E3643BE30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0DAF9B-47BF-3BDC-8489-179050BDD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706F11-2F7B-E9B6-B9F2-3CF7137DD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045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395E1A-21A6-D986-868A-8BEB80CA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8EE651-ACEA-C275-9FA5-ED7333838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6F0DFF-5D49-6A6D-EB1B-952A0EDEB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A79E-45C3-4051-8A24-6E3643BE30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47C16F-1656-E503-A808-AA5663537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C15DE1-68D2-36FB-4CA6-F975E4E10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0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747150-B519-B8BE-C4B7-7322A4D62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E6531D-A7AF-0D7F-0271-1B644013E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56BB20-904A-4898-91A4-EDC2DE74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A79E-45C3-4051-8A24-6E3643BE30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3B608C-0D13-DA9C-47D2-68DA55AF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5E5205-3C5B-3FF5-D9FD-0DB0EF08D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864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1325E9-AA3C-DD65-3DB0-107AC98D8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DFE9B8-3D59-BBBD-5652-B309BD3D2B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74A318-DBA3-1A93-E126-86915C5CA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17ABE5-8E36-A3C4-4971-E320BFB8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A79E-45C3-4051-8A24-6E3643BE30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076DE9-D4D7-DA03-E9D0-69C9F1219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9489C2-5547-7144-F10B-DEE7E6CD3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1834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1E44A-ACC7-14DA-011D-F9C24F794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2E9BDF-FB12-C689-8441-C066F6AF6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297878-60FD-557C-F575-F239FF7B7F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DE9D802-42FD-ACC1-D1ED-34CB7E094D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1150ABD-E55D-C8D3-0035-BDBF0EB274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5ACBD7F-4195-F4F5-D1C8-3E978793F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A79E-45C3-4051-8A24-6E3643BE30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4E99C8-A7FF-0241-C263-1392B6A99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F652F05-AA84-BBDD-C717-55D68154B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846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CDA6E6-BEA0-DE23-6EB4-8A084EC2F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5081F06-83A8-B5AB-33EE-A35660902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A79E-45C3-4051-8A24-6E3643BE30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D17EC4-DB7B-43BA-6FA4-C2C81A8CC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A97A3F-0DF1-6F6F-96B6-196F22447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582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3F64F9-FF96-59F4-A72D-7C208C642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A79E-45C3-4051-8A24-6E3643BE30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2093C54-C487-D8EA-80A9-51325831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68B5FC-166D-AD12-4CE0-C418A2DD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30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3F9C3A-84D4-CA3D-6109-B2C4B08E3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C5EF9C-CCFC-B787-0BCA-A2F05FA13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168C48-4AB9-82A3-5306-4E2BF7F68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3F132A-47DC-E188-4A56-676ECD18B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A79E-45C3-4051-8A24-6E3643BE30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B5BB41-DF3B-B5C0-5E92-869F349DD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646702-931E-B0A3-A7E5-FFA782FDC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385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CB0042-3DCF-FADD-5FE1-19679E078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4737FD5-634C-8E3A-9CF3-3EF54A7A30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F49E65-3A0B-1A90-B784-5EEEC3816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FEE1DC-A37B-7178-DC30-3BFCC0901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A79E-45C3-4051-8A24-6E3643BE30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A5D41F-0929-2158-E604-D2B7E410E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ED8EDD-2328-A89A-F5FE-AF7DD45CC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038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31B319-20F5-2710-5AE8-F25D568BA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97CFAD-D55B-BAD1-4F3D-2A236FB99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64B135-9FBF-E5EA-0435-C5F8C82A0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A79E-45C3-4051-8A24-6E3643BE30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B9FE8C-D55B-0104-45F2-C498FD905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0F339A-BE2F-9A6E-62B1-A6E50CE7D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874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2A7053B-FAF7-1679-AB30-3C575A097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E1DB2A-F37F-135B-A65D-78B67031E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7C6BF0-C83A-8CF8-3F35-E83CFA6FC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A79E-45C3-4051-8A24-6E3643BE30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D329F5-85CF-2BE7-4DE6-6745D8277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EBCA1B-9FF3-13A7-AC25-10197F63C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010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683928F-AE38-BD3D-801E-A4FB8E141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58F4DD-77ED-051C-5064-71E08690D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04BD71-7C88-7C89-8B6F-1A4DE1766C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9A79E-45C3-4051-8A24-6E3643BE30D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BE2248-C469-4FE6-6B5B-F2EB034EE5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8A862C-048B-5C8C-A5E8-60A40465C1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A7A0C-5831-4020-A3B2-2134E65AA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18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10" Type="http://schemas.openxmlformats.org/officeDocument/2006/relationships/image" Target="../media/image23.png"/><Relationship Id="rId4" Type="http://schemas.microsoft.com/office/2007/relationships/hdphoto" Target="../media/hdphoto1.wdp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image" Target="../media/image3.png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microsoft.com/office/2007/relationships/hdphoto" Target="../media/hdphoto1.wdp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image" Target="../media/image6.png"/><Relationship Id="rId5" Type="http://schemas.openxmlformats.org/officeDocument/2006/relationships/tags" Target="../tags/tag7.xml"/><Relationship Id="rId10" Type="http://schemas.openxmlformats.org/officeDocument/2006/relationships/notesSlide" Target="../notesSlides/notesSlide18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3A02017-6C13-4A59-EB05-2B397A6F231B}"/>
              </a:ext>
            </a:extLst>
          </p:cNvPr>
          <p:cNvSpPr/>
          <p:nvPr/>
        </p:nvSpPr>
        <p:spPr>
          <a:xfrm>
            <a:off x="0" y="1560533"/>
            <a:ext cx="12192000" cy="241269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9A0071-0BAC-AF00-4D27-21F3BF028468}"/>
              </a:ext>
            </a:extLst>
          </p:cNvPr>
          <p:cNvSpPr/>
          <p:nvPr/>
        </p:nvSpPr>
        <p:spPr>
          <a:xfrm>
            <a:off x="-3" y="1560533"/>
            <a:ext cx="12192000" cy="2412695"/>
          </a:xfrm>
          <a:prstGeom prst="rect">
            <a:avLst/>
          </a:prstGeom>
          <a:gradFill>
            <a:gsLst>
              <a:gs pos="35000">
                <a:srgbClr val="174994">
                  <a:alpha val="78000"/>
                </a:srgbClr>
              </a:gs>
              <a:gs pos="0">
                <a:schemeClr val="tx1">
                  <a:alpha val="29000"/>
                </a:schemeClr>
              </a:gs>
              <a:gs pos="100000">
                <a:srgbClr val="17499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F351897-C61B-69E4-C7A6-6BA384684034}"/>
              </a:ext>
            </a:extLst>
          </p:cNvPr>
          <p:cNvSpPr txBox="1"/>
          <p:nvPr/>
        </p:nvSpPr>
        <p:spPr>
          <a:xfrm>
            <a:off x="-6" y="2038982"/>
            <a:ext cx="121606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构建“量质协同”的高㶲综合能源系统方法及展望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5DD38E6-5ACB-702D-B056-12972375EA23}"/>
              </a:ext>
            </a:extLst>
          </p:cNvPr>
          <p:cNvSpPr txBox="1"/>
          <p:nvPr/>
        </p:nvSpPr>
        <p:spPr>
          <a:xfrm>
            <a:off x="3978088" y="4689371"/>
            <a:ext cx="4507234" cy="481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小组成员：安田盛、李文涛、马康辉</a:t>
            </a:r>
          </a:p>
        </p:txBody>
      </p:sp>
      <p:pic>
        <p:nvPicPr>
          <p:cNvPr id="8" name="图片 5" descr="D:\研1\溶酶体\1003剪影\剪影居中红 低版本.png剪影居中红 低版本">
            <a:extLst>
              <a:ext uri="{FF2B5EF4-FFF2-40B4-BE49-F238E27FC236}">
                <a16:creationId xmlns:a16="http://schemas.microsoft.com/office/drawing/2014/main" id="{E7A04D08-0F27-25BB-6393-8C8A1D15F28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5" b="5"/>
          <a:stretch>
            <a:fillRect/>
          </a:stretch>
        </p:blipFill>
        <p:spPr>
          <a:xfrm>
            <a:off x="-234950" y="4813716"/>
            <a:ext cx="12661900" cy="392222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742C554-DFEC-B899-945E-028CAD7F4A31}"/>
              </a:ext>
            </a:extLst>
          </p:cNvPr>
          <p:cNvSpPr txBox="1"/>
          <p:nvPr/>
        </p:nvSpPr>
        <p:spPr>
          <a:xfrm>
            <a:off x="3978086" y="5170016"/>
            <a:ext cx="4235823" cy="481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时间：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2026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29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日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731ED3-0ACF-F9ED-B87E-7CD309F613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604" y="302636"/>
            <a:ext cx="4952792" cy="88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99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85DF540-E80F-F1A3-AF7C-26AECE4AE2A4}"/>
              </a:ext>
            </a:extLst>
          </p:cNvPr>
          <p:cNvSpPr/>
          <p:nvPr/>
        </p:nvSpPr>
        <p:spPr>
          <a:xfrm>
            <a:off x="0" y="0"/>
            <a:ext cx="4174777" cy="68580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F24E189-53A8-81EF-6E3D-DE921FA41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07" y="410934"/>
            <a:ext cx="3108962" cy="54283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3569C96-2441-CBB7-5542-B085DC24C3A9}"/>
              </a:ext>
            </a:extLst>
          </p:cNvPr>
          <p:cNvSpPr txBox="1"/>
          <p:nvPr/>
        </p:nvSpPr>
        <p:spPr>
          <a:xfrm>
            <a:off x="839675" y="2306647"/>
            <a:ext cx="2495427" cy="1830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目录</a:t>
            </a:r>
            <a:endParaRPr lang="en-US" altLang="zh-CN" sz="40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4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Content</a:t>
            </a:r>
            <a:endParaRPr lang="zh-CN" altLang="en-US" sz="40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4" name="图片 2" descr="D:\研1\溶酶体\1003剪影\剪影红 低版本.png剪影红 低版本">
            <a:extLst>
              <a:ext uri="{FF2B5EF4-FFF2-40B4-BE49-F238E27FC236}">
                <a16:creationId xmlns:a16="http://schemas.microsoft.com/office/drawing/2014/main" id="{96ECCA6A-6B25-E87A-3101-77AE7B8EF31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-71120" y="5483912"/>
            <a:ext cx="12183880" cy="243677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6627EFB5-FEF7-E030-65CC-1144566EDAE1}"/>
              </a:ext>
            </a:extLst>
          </p:cNvPr>
          <p:cNvSpPr/>
          <p:nvPr/>
        </p:nvSpPr>
        <p:spPr>
          <a:xfrm>
            <a:off x="5318683" y="1011402"/>
            <a:ext cx="576000" cy="5760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65D85C1-E6A1-1D9D-DC9D-F6AC0186B203}"/>
              </a:ext>
            </a:extLst>
          </p:cNvPr>
          <p:cNvSpPr/>
          <p:nvPr/>
        </p:nvSpPr>
        <p:spPr>
          <a:xfrm>
            <a:off x="5318683" y="1981467"/>
            <a:ext cx="576000" cy="5760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1E5D6FB-97AE-5E68-C67A-97AE4EBA26BC}"/>
              </a:ext>
            </a:extLst>
          </p:cNvPr>
          <p:cNvSpPr/>
          <p:nvPr/>
        </p:nvSpPr>
        <p:spPr>
          <a:xfrm>
            <a:off x="5318683" y="3921597"/>
            <a:ext cx="576000" cy="5760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4DCEAA7-1668-160E-9B43-2C6543D17968}"/>
              </a:ext>
            </a:extLst>
          </p:cNvPr>
          <p:cNvSpPr/>
          <p:nvPr/>
        </p:nvSpPr>
        <p:spPr>
          <a:xfrm>
            <a:off x="5318683" y="4891663"/>
            <a:ext cx="576000" cy="5760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688E006-2527-BB43-B556-2DCBEFE020E2}"/>
              </a:ext>
            </a:extLst>
          </p:cNvPr>
          <p:cNvSpPr/>
          <p:nvPr/>
        </p:nvSpPr>
        <p:spPr>
          <a:xfrm>
            <a:off x="5318683" y="2951532"/>
            <a:ext cx="576000" cy="5760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0CA1B5A-9A57-F0DF-E4C3-708F06D62421}"/>
              </a:ext>
            </a:extLst>
          </p:cNvPr>
          <p:cNvSpPr txBox="1"/>
          <p:nvPr/>
        </p:nvSpPr>
        <p:spPr>
          <a:xfrm>
            <a:off x="6718261" y="968832"/>
            <a:ext cx="30617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研究背景与概念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865372-E988-D10F-85B2-3BA1FB092E73}"/>
              </a:ext>
            </a:extLst>
          </p:cNvPr>
          <p:cNvSpPr txBox="1"/>
          <p:nvPr/>
        </p:nvSpPr>
        <p:spPr>
          <a:xfrm>
            <a:off x="6161756" y="1934569"/>
            <a:ext cx="41747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㶲流建模与量质协同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09450AB-C02B-516F-4CCD-EFCAAA58D9E9}"/>
              </a:ext>
            </a:extLst>
          </p:cNvPr>
          <p:cNvSpPr txBox="1"/>
          <p:nvPr/>
        </p:nvSpPr>
        <p:spPr>
          <a:xfrm>
            <a:off x="6718261" y="2938610"/>
            <a:ext cx="30617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㶲经济与市场化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0211D50-A776-2648-A375-D3391C743822}"/>
              </a:ext>
            </a:extLst>
          </p:cNvPr>
          <p:cNvSpPr txBox="1"/>
          <p:nvPr/>
        </p:nvSpPr>
        <p:spPr>
          <a:xfrm>
            <a:off x="6718260" y="3942651"/>
            <a:ext cx="30617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案例分析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A2D0DF2-3A17-65B6-EFCE-E4570EB67CFC}"/>
              </a:ext>
            </a:extLst>
          </p:cNvPr>
          <p:cNvSpPr txBox="1"/>
          <p:nvPr/>
        </p:nvSpPr>
        <p:spPr>
          <a:xfrm>
            <a:off x="6718260" y="4946692"/>
            <a:ext cx="30617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研究展望</a:t>
            </a:r>
          </a:p>
        </p:txBody>
      </p:sp>
    </p:spTree>
    <p:extLst>
      <p:ext uri="{BB962C8B-B14F-4D97-AF65-F5344CB8AC3E}">
        <p14:creationId xmlns:p14="http://schemas.microsoft.com/office/powerpoint/2010/main" val="1273983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ECCB73C-1265-6C7A-C668-54EB6A8AE22B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3A4AB9D-4E06-C61B-4714-B9FA445280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07376" y="134657"/>
            <a:ext cx="2468798" cy="438897"/>
          </a:xfrm>
          <a:prstGeom prst="rect">
            <a:avLst/>
          </a:prstGeom>
        </p:spPr>
      </p:pic>
      <p:pic>
        <p:nvPicPr>
          <p:cNvPr id="40" name="图片 2" descr="D:\研1\溶酶体\1003剪影\剪影红 低版本.png剪影红 低版本">
            <a:extLst>
              <a:ext uri="{FF2B5EF4-FFF2-40B4-BE49-F238E27FC236}">
                <a16:creationId xmlns:a16="http://schemas.microsoft.com/office/drawing/2014/main" id="{1A8F7179-A9BD-48E0-FD4F-725615DC57C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-71120" y="5483912"/>
            <a:ext cx="12183880" cy="2436776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" name="traditional">
            <a:extLst>
              <a:ext uri="{FF2B5EF4-FFF2-40B4-BE49-F238E27FC236}">
                <a16:creationId xmlns:a16="http://schemas.microsoft.com/office/drawing/2014/main" id="{B46C3FB0-1397-6AE2-CB3B-AFCCFEE2723F}"/>
              </a:ext>
            </a:extLst>
          </p:cNvPr>
          <p:cNvGrpSpPr/>
          <p:nvPr/>
        </p:nvGrpSpPr>
        <p:grpSpPr>
          <a:xfrm>
            <a:off x="762000" y="1329690"/>
            <a:ext cx="2286000" cy="3432810"/>
            <a:chOff x="762000" y="1329690"/>
            <a:chExt cx="2286000" cy="3432810"/>
          </a:xfrm>
        </p:grpSpPr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34BE5533-6314-796E-41A3-FF11EF6275D9}"/>
                </a:ext>
              </a:extLst>
            </p:cNvPr>
            <p:cNvSpPr txBox="1"/>
            <p:nvPr/>
          </p:nvSpPr>
          <p:spPr>
            <a:xfrm>
              <a:off x="981671" y="1329690"/>
              <a:ext cx="184665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传统能源系统</a:t>
              </a:r>
            </a:p>
          </p:txBody>
        </p:sp>
        <p:sp>
          <p:nvSpPr>
            <p:cNvPr id="12" name="Rectangle 4">
              <a:extLst>
                <a:ext uri="{FF2B5EF4-FFF2-40B4-BE49-F238E27FC236}">
                  <a16:creationId xmlns:a16="http://schemas.microsoft.com/office/drawing/2014/main" id="{E642FEB0-2652-A70C-3C69-2A2C1B88D8E0}"/>
                </a:ext>
              </a:extLst>
            </p:cNvPr>
            <p:cNvSpPr/>
            <p:nvPr/>
          </p:nvSpPr>
          <p:spPr>
            <a:xfrm>
              <a:off x="762000" y="1905000"/>
              <a:ext cx="2286000" cy="2857500"/>
            </a:xfrm>
            <a:prstGeom prst="roundRect">
              <a:avLst>
                <a:gd name="adj" fmla="val 1667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3" name="TextBox 5">
              <a:extLst>
                <a:ext uri="{FF2B5EF4-FFF2-40B4-BE49-F238E27FC236}">
                  <a16:creationId xmlns:a16="http://schemas.microsoft.com/office/drawing/2014/main" id="{DB4135EB-C766-7E3A-4277-C9D88DB03E43}"/>
                </a:ext>
              </a:extLst>
            </p:cNvPr>
            <p:cNvSpPr txBox="1"/>
            <p:nvPr/>
          </p:nvSpPr>
          <p:spPr>
            <a:xfrm>
              <a:off x="1212503" y="2219325"/>
              <a:ext cx="138499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单一能量形式</a:t>
              </a:r>
            </a:p>
          </p:txBody>
        </p:sp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FB5AE442-B9FF-5B4E-1586-01A837217199}"/>
                </a:ext>
              </a:extLst>
            </p:cNvPr>
            <p:cNvSpPr txBox="1"/>
            <p:nvPr/>
          </p:nvSpPr>
          <p:spPr>
            <a:xfrm>
              <a:off x="1270213" y="2695575"/>
              <a:ext cx="126957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→ 电能为主</a:t>
              </a:r>
            </a:p>
          </p:txBody>
        </p: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08082485-DC36-9C33-5E2C-9B2F802CE8E7}"/>
                </a:ext>
              </a:extLst>
            </p:cNvPr>
            <p:cNvSpPr txBox="1"/>
            <p:nvPr/>
          </p:nvSpPr>
          <p:spPr>
            <a:xfrm>
              <a:off x="1212503" y="3267075"/>
              <a:ext cx="138499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能量数量评价</a:t>
              </a:r>
            </a:p>
          </p:txBody>
        </p:sp>
        <p:sp>
          <p:nvSpPr>
            <p:cNvPr id="16" name="TextBox 8">
              <a:extLst>
                <a:ext uri="{FF2B5EF4-FFF2-40B4-BE49-F238E27FC236}">
                  <a16:creationId xmlns:a16="http://schemas.microsoft.com/office/drawing/2014/main" id="{C9F9C187-0407-2A27-A8CD-98FE819EE6A9}"/>
                </a:ext>
              </a:extLst>
            </p:cNvPr>
            <p:cNvSpPr txBox="1"/>
            <p:nvPr/>
          </p:nvSpPr>
          <p:spPr>
            <a:xfrm>
              <a:off x="1270213" y="3648075"/>
              <a:ext cx="126957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→ 能量效率</a:t>
              </a:r>
            </a:p>
          </p:txBody>
        </p:sp>
        <p:sp>
          <p:nvSpPr>
            <p:cNvPr id="17" name="TextBox 9">
              <a:extLst>
                <a:ext uri="{FF2B5EF4-FFF2-40B4-BE49-F238E27FC236}">
                  <a16:creationId xmlns:a16="http://schemas.microsoft.com/office/drawing/2014/main" id="{A267A344-E2FB-4F59-7D36-5516F1B4E01E}"/>
                </a:ext>
              </a:extLst>
            </p:cNvPr>
            <p:cNvSpPr txBox="1"/>
            <p:nvPr/>
          </p:nvSpPr>
          <p:spPr>
            <a:xfrm>
              <a:off x="1571576" y="4235768"/>
              <a:ext cx="66685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✓ 足够</a:t>
              </a:r>
            </a:p>
          </p:txBody>
        </p:sp>
      </p:grpSp>
      <p:grpSp>
        <p:nvGrpSpPr>
          <p:cNvPr id="18" name="integrated">
            <a:extLst>
              <a:ext uri="{FF2B5EF4-FFF2-40B4-BE49-F238E27FC236}">
                <a16:creationId xmlns:a16="http://schemas.microsoft.com/office/drawing/2014/main" id="{B4AEFF21-208F-1E0E-B1CB-47D80022418C}"/>
              </a:ext>
            </a:extLst>
          </p:cNvPr>
          <p:cNvGrpSpPr/>
          <p:nvPr/>
        </p:nvGrpSpPr>
        <p:grpSpPr>
          <a:xfrm>
            <a:off x="9132838" y="1329690"/>
            <a:ext cx="2308324" cy="3432810"/>
            <a:chOff x="9132838" y="1329690"/>
            <a:chExt cx="2308324" cy="3432810"/>
          </a:xfrm>
        </p:grpSpPr>
        <p:sp>
          <p:nvSpPr>
            <p:cNvPr id="19" name="TextBox 12">
              <a:extLst>
                <a:ext uri="{FF2B5EF4-FFF2-40B4-BE49-F238E27FC236}">
                  <a16:creationId xmlns:a16="http://schemas.microsoft.com/office/drawing/2014/main" id="{80647385-CB2C-3C59-24AD-D3BB36670AB0}"/>
                </a:ext>
              </a:extLst>
            </p:cNvPr>
            <p:cNvSpPr txBox="1"/>
            <p:nvPr/>
          </p:nvSpPr>
          <p:spPr>
            <a:xfrm>
              <a:off x="9363671" y="1329690"/>
              <a:ext cx="18466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综合能源系统</a:t>
              </a:r>
            </a:p>
          </p:txBody>
        </p:sp>
        <p:sp>
          <p:nvSpPr>
            <p:cNvPr id="20" name="Rectangle 13">
              <a:extLst>
                <a:ext uri="{FF2B5EF4-FFF2-40B4-BE49-F238E27FC236}">
                  <a16:creationId xmlns:a16="http://schemas.microsoft.com/office/drawing/2014/main" id="{F01815C7-7EFD-EAAC-D482-3B84719F25F1}"/>
                </a:ext>
              </a:extLst>
            </p:cNvPr>
            <p:cNvSpPr/>
            <p:nvPr/>
          </p:nvSpPr>
          <p:spPr>
            <a:xfrm>
              <a:off x="9144000" y="1905000"/>
              <a:ext cx="2286000" cy="2857500"/>
            </a:xfrm>
            <a:prstGeom prst="roundRect">
              <a:avLst>
                <a:gd name="adj" fmla="val 1667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1" name="TextBox 14">
              <a:extLst>
                <a:ext uri="{FF2B5EF4-FFF2-40B4-BE49-F238E27FC236}">
                  <a16:creationId xmlns:a16="http://schemas.microsoft.com/office/drawing/2014/main" id="{330A2CD3-1854-EEB8-6838-04C765F079D7}"/>
                </a:ext>
              </a:extLst>
            </p:cNvPr>
            <p:cNvSpPr txBox="1"/>
            <p:nvPr/>
          </p:nvSpPr>
          <p:spPr>
            <a:xfrm>
              <a:off x="9594503" y="2219325"/>
              <a:ext cx="138499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多种能源融合</a:t>
              </a:r>
            </a:p>
          </p:txBody>
        </p:sp>
        <p:sp>
          <p:nvSpPr>
            <p:cNvPr id="22" name="TextBox 15">
              <a:extLst>
                <a:ext uri="{FF2B5EF4-FFF2-40B4-BE49-F238E27FC236}">
                  <a16:creationId xmlns:a16="http://schemas.microsoft.com/office/drawing/2014/main" id="{8184DDF2-620B-BCFC-AEB5-4B960A866F4B}"/>
                </a:ext>
              </a:extLst>
            </p:cNvPr>
            <p:cNvSpPr txBox="1"/>
            <p:nvPr/>
          </p:nvSpPr>
          <p:spPr>
            <a:xfrm>
              <a:off x="9132838" y="2695575"/>
              <a:ext cx="230832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→ 电、气、热、氢...</a:t>
              </a:r>
            </a:p>
          </p:txBody>
        </p:sp>
        <p:sp>
          <p:nvSpPr>
            <p:cNvPr id="23" name="TextBox 16">
              <a:extLst>
                <a:ext uri="{FF2B5EF4-FFF2-40B4-BE49-F238E27FC236}">
                  <a16:creationId xmlns:a16="http://schemas.microsoft.com/office/drawing/2014/main" id="{70B453E6-EA13-9F15-9731-5DDDECB4BBE3}"/>
                </a:ext>
              </a:extLst>
            </p:cNvPr>
            <p:cNvSpPr txBox="1"/>
            <p:nvPr/>
          </p:nvSpPr>
          <p:spPr>
            <a:xfrm>
              <a:off x="9421379" y="3267075"/>
              <a:ext cx="173124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数量 + 品质评价</a:t>
              </a:r>
            </a:p>
          </p:txBody>
        </p:sp>
        <p:sp>
          <p:nvSpPr>
            <p:cNvPr id="24" name="TextBox 17">
              <a:extLst>
                <a:ext uri="{FF2B5EF4-FFF2-40B4-BE49-F238E27FC236}">
                  <a16:creationId xmlns:a16="http://schemas.microsoft.com/office/drawing/2014/main" id="{9A745B79-F358-9E4B-0CFC-6240CA1AF373}"/>
                </a:ext>
              </a:extLst>
            </p:cNvPr>
            <p:cNvSpPr txBox="1"/>
            <p:nvPr/>
          </p:nvSpPr>
          <p:spPr>
            <a:xfrm>
              <a:off x="9767627" y="3648075"/>
              <a:ext cx="103874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→ 㶲效率</a:t>
              </a:r>
            </a:p>
          </p:txBody>
        </p:sp>
        <p:sp>
          <p:nvSpPr>
            <p:cNvPr id="25" name="TextBox 18">
              <a:extLst>
                <a:ext uri="{FF2B5EF4-FFF2-40B4-BE49-F238E27FC236}">
                  <a16:creationId xmlns:a16="http://schemas.microsoft.com/office/drawing/2014/main" id="{0B258A74-6096-2BEE-A34F-DC59AD0B977C}"/>
                </a:ext>
              </a:extLst>
            </p:cNvPr>
            <p:cNvSpPr txBox="1"/>
            <p:nvPr/>
          </p:nvSpPr>
          <p:spPr>
            <a:xfrm>
              <a:off x="9638584" y="4235768"/>
              <a:ext cx="129683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✗ 需要新标准</a:t>
              </a:r>
            </a:p>
          </p:txBody>
        </p:sp>
      </p:grpSp>
      <p:sp>
        <p:nvSpPr>
          <p:cNvPr id="29" name="Rectangle 20">
            <a:extLst>
              <a:ext uri="{FF2B5EF4-FFF2-40B4-BE49-F238E27FC236}">
                <a16:creationId xmlns:a16="http://schemas.microsoft.com/office/drawing/2014/main" id="{D1A2DBCF-510A-C344-7F06-3483DCB37297}"/>
              </a:ext>
            </a:extLst>
          </p:cNvPr>
          <p:cNvSpPr/>
          <p:nvPr/>
        </p:nvSpPr>
        <p:spPr>
          <a:xfrm>
            <a:off x="3238500" y="2591574"/>
            <a:ext cx="5715000" cy="762000"/>
          </a:xfrm>
          <a:prstGeom prst="roundRect">
            <a:avLst>
              <a:gd name="adj" fmla="val 5000"/>
            </a:avLst>
          </a:prstGeom>
          <a:solidFill>
            <a:schemeClr val="accent2">
              <a:alpha val="10000"/>
            </a:schemeClr>
          </a:solidFill>
          <a:ln w="19050">
            <a:solidFill>
              <a:schemeClr val="accent2"/>
            </a:solidFill>
          </a:ln>
        </p:spPr>
      </p:sp>
      <p:sp>
        <p:nvSpPr>
          <p:cNvPr id="41" name="TextBox 21">
            <a:extLst>
              <a:ext uri="{FF2B5EF4-FFF2-40B4-BE49-F238E27FC236}">
                <a16:creationId xmlns:a16="http://schemas.microsoft.com/office/drawing/2014/main" id="{54DCE1FB-7A66-F3BC-2222-8788C074C5A5}"/>
              </a:ext>
            </a:extLst>
          </p:cNvPr>
          <p:cNvSpPr txBox="1"/>
          <p:nvPr/>
        </p:nvSpPr>
        <p:spPr>
          <a:xfrm>
            <a:off x="3643406" y="2889706"/>
            <a:ext cx="4905189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00" b="1" dirty="0"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核心问题:如何科学评价能源综合利用水平?</a:t>
            </a:r>
          </a:p>
        </p:txBody>
      </p:sp>
      <p:sp>
        <p:nvSpPr>
          <p:cNvPr id="44" name="箭头: 右 43">
            <a:extLst>
              <a:ext uri="{FF2B5EF4-FFF2-40B4-BE49-F238E27FC236}">
                <a16:creationId xmlns:a16="http://schemas.microsoft.com/office/drawing/2014/main" id="{C8CB3CD6-B5D5-59A4-2769-0F52A4A87967}"/>
              </a:ext>
            </a:extLst>
          </p:cNvPr>
          <p:cNvSpPr/>
          <p:nvPr/>
        </p:nvSpPr>
        <p:spPr>
          <a:xfrm>
            <a:off x="3238500" y="3487118"/>
            <a:ext cx="5851256" cy="360981"/>
          </a:xfrm>
          <a:prstGeom prst="rightArrow">
            <a:avLst>
              <a:gd name="adj1" fmla="val 50000"/>
              <a:gd name="adj2" fmla="val 4563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F61A95-E250-D134-2912-99B03420E61C}"/>
              </a:ext>
            </a:extLst>
          </p:cNvPr>
          <p:cNvSpPr txBox="1"/>
          <p:nvPr/>
        </p:nvSpPr>
        <p:spPr>
          <a:xfrm>
            <a:off x="0" y="45005"/>
            <a:ext cx="3068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研究背景与概念</a:t>
            </a:r>
          </a:p>
        </p:txBody>
      </p:sp>
    </p:spTree>
    <p:extLst>
      <p:ext uri="{BB962C8B-B14F-4D97-AF65-F5344CB8AC3E}">
        <p14:creationId xmlns:p14="http://schemas.microsoft.com/office/powerpoint/2010/main" val="1901593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DDBBF-F4E8-44EA-F3D5-4349FEEB1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4938353-F5F8-6532-B44D-B4DA2802A48B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5521C7E-4DAB-E409-EB01-D96F08BA16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07376" y="134657"/>
            <a:ext cx="2468798" cy="438897"/>
          </a:xfrm>
          <a:prstGeom prst="rect">
            <a:avLst/>
          </a:prstGeom>
        </p:spPr>
      </p:pic>
      <p:pic>
        <p:nvPicPr>
          <p:cNvPr id="40" name="图片 2" descr="D:\研1\溶酶体\1003剪影\剪影红 低版本.png剪影红 低版本">
            <a:extLst>
              <a:ext uri="{FF2B5EF4-FFF2-40B4-BE49-F238E27FC236}">
                <a16:creationId xmlns:a16="http://schemas.microsoft.com/office/drawing/2014/main" id="{05C21727-4B99-7256-933A-133F44DFDE0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-71120" y="5483912"/>
            <a:ext cx="12183880" cy="243677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2DC789D-E26E-EACF-A78F-12139678D17F}"/>
              </a:ext>
            </a:extLst>
          </p:cNvPr>
          <p:cNvSpPr txBox="1"/>
          <p:nvPr/>
        </p:nvSpPr>
        <p:spPr>
          <a:xfrm>
            <a:off x="0" y="45005"/>
            <a:ext cx="3068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研究背景与概念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99F78C5-E621-829B-CE4D-B9683E9C8404}"/>
              </a:ext>
            </a:extLst>
          </p:cNvPr>
          <p:cNvSpPr/>
          <p:nvPr/>
        </p:nvSpPr>
        <p:spPr>
          <a:xfrm>
            <a:off x="762000" y="1143000"/>
            <a:ext cx="10668000" cy="952500"/>
          </a:xfrm>
          <a:prstGeom prst="roundRect">
            <a:avLst>
              <a:gd name="adj" fmla="val 4000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660A0FA-080D-B797-940C-EA20C1660F40}"/>
              </a:ext>
            </a:extLst>
          </p:cNvPr>
          <p:cNvSpPr txBox="1"/>
          <p:nvPr/>
        </p:nvSpPr>
        <p:spPr>
          <a:xfrm>
            <a:off x="944118" y="1298258"/>
            <a:ext cx="774251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定义: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F0ED14C-9D3C-941D-71A5-037EB0F46E1C}"/>
              </a:ext>
            </a:extLst>
          </p:cNvPr>
          <p:cNvSpPr txBox="1"/>
          <p:nvPr/>
        </p:nvSpPr>
        <p:spPr>
          <a:xfrm>
            <a:off x="1835067" y="1298258"/>
            <a:ext cx="8771632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给定环境条件下,能量中理论上可最大限度转换为机械能的那部分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D5E423-9625-EE37-6B1D-A03AC13E53C5}"/>
              </a:ext>
            </a:extLst>
          </p:cNvPr>
          <p:cNvSpPr txBox="1"/>
          <p:nvPr/>
        </p:nvSpPr>
        <p:spPr>
          <a:xfrm>
            <a:off x="944880" y="1695450"/>
            <a:ext cx="2436564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00" dirty="0">
                <a:solidFill>
                  <a:schemeClr val="accent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又称:可用能、有效能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CFE95FAB-00F4-6E9B-494D-72B5FAB4C285}"/>
              </a:ext>
            </a:extLst>
          </p:cNvPr>
          <p:cNvSpPr txBox="1"/>
          <p:nvPr/>
        </p:nvSpPr>
        <p:spPr>
          <a:xfrm>
            <a:off x="1881306" y="2371799"/>
            <a:ext cx="2164054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00" b="1" dirty="0"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能量构成公式</a:t>
            </a:r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E075EC8D-1993-49F2-A73E-DB0660DDC17A}"/>
              </a:ext>
            </a:extLst>
          </p:cNvPr>
          <p:cNvSpPr/>
          <p:nvPr/>
        </p:nvSpPr>
        <p:spPr>
          <a:xfrm>
            <a:off x="1058333" y="2922477"/>
            <a:ext cx="3810000" cy="762000"/>
          </a:xfrm>
          <a:prstGeom prst="roundRect">
            <a:avLst>
              <a:gd name="adj" fmla="val 5000"/>
            </a:avLst>
          </a:prstGeom>
          <a:solidFill>
            <a:schemeClr val="accent3">
              <a:alpha val="10000"/>
            </a:schemeClr>
          </a:solidFill>
          <a:ln w="19050">
            <a:solidFill>
              <a:schemeClr val="accent3"/>
            </a:solidFill>
          </a:ln>
        </p:spPr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9187871E-77BE-F3EC-E7B8-14EB9E23DEAF}"/>
              </a:ext>
            </a:extLst>
          </p:cNvPr>
          <p:cNvSpPr txBox="1"/>
          <p:nvPr/>
        </p:nvSpPr>
        <p:spPr>
          <a:xfrm>
            <a:off x="2146603" y="3053789"/>
            <a:ext cx="1633460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 = Eₓ + Aₙ</a:t>
            </a:r>
          </a:p>
        </p:txBody>
      </p:sp>
      <p:grpSp>
        <p:nvGrpSpPr>
          <p:cNvPr id="28" name="legend">
            <a:extLst>
              <a:ext uri="{FF2B5EF4-FFF2-40B4-BE49-F238E27FC236}">
                <a16:creationId xmlns:a16="http://schemas.microsoft.com/office/drawing/2014/main" id="{8736152B-7D0F-BC45-189B-B958ECA2E05B}"/>
              </a:ext>
            </a:extLst>
          </p:cNvPr>
          <p:cNvGrpSpPr/>
          <p:nvPr/>
        </p:nvGrpSpPr>
        <p:grpSpPr>
          <a:xfrm>
            <a:off x="1294084" y="4188883"/>
            <a:ext cx="3238500" cy="1341240"/>
            <a:chOff x="762000" y="4000500"/>
            <a:chExt cx="3238500" cy="1341240"/>
          </a:xfrm>
        </p:grpSpPr>
        <p:sp>
          <p:nvSpPr>
            <p:cNvPr id="30" name="Rectangle 10">
              <a:extLst>
                <a:ext uri="{FF2B5EF4-FFF2-40B4-BE49-F238E27FC236}">
                  <a16:creationId xmlns:a16="http://schemas.microsoft.com/office/drawing/2014/main" id="{4A01E4B7-6092-00A0-5117-144618AF014F}"/>
                </a:ext>
              </a:extLst>
            </p:cNvPr>
            <p:cNvSpPr/>
            <p:nvPr/>
          </p:nvSpPr>
          <p:spPr>
            <a:xfrm>
              <a:off x="762000" y="4000500"/>
              <a:ext cx="3238500" cy="9525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TextBox 11">
              <a:extLst>
                <a:ext uri="{FF2B5EF4-FFF2-40B4-BE49-F238E27FC236}">
                  <a16:creationId xmlns:a16="http://schemas.microsoft.com/office/drawing/2014/main" id="{763A7ED4-6236-E301-D441-1B0519821663}"/>
                </a:ext>
              </a:extLst>
            </p:cNvPr>
            <p:cNvSpPr txBox="1"/>
            <p:nvPr/>
          </p:nvSpPr>
          <p:spPr>
            <a:xfrm>
              <a:off x="944880" y="4171950"/>
              <a:ext cx="230832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 — 能量 (Energy)</a:t>
              </a:r>
            </a:p>
          </p:txBody>
        </p:sp>
        <p:sp>
          <p:nvSpPr>
            <p:cNvPr id="32" name="TextBox 12">
              <a:extLst>
                <a:ext uri="{FF2B5EF4-FFF2-40B4-BE49-F238E27FC236}">
                  <a16:creationId xmlns:a16="http://schemas.microsoft.com/office/drawing/2014/main" id="{AE1DC3A4-9521-BBCD-9566-94D502AC2825}"/>
                </a:ext>
              </a:extLst>
            </p:cNvPr>
            <p:cNvSpPr txBox="1"/>
            <p:nvPr/>
          </p:nvSpPr>
          <p:spPr>
            <a:xfrm>
              <a:off x="944880" y="4505325"/>
              <a:ext cx="304250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dirty="0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Eₓ — 㶲 (Exergy) 可用能</a:t>
              </a:r>
            </a:p>
          </p:txBody>
        </p:sp>
        <p:sp>
          <p:nvSpPr>
            <p:cNvPr id="33" name="TextBox 13">
              <a:extLst>
                <a:ext uri="{FF2B5EF4-FFF2-40B4-BE49-F238E27FC236}">
                  <a16:creationId xmlns:a16="http://schemas.microsoft.com/office/drawing/2014/main" id="{FF588935-B108-4797-C9E0-FB86509F7CB4}"/>
                </a:ext>
              </a:extLst>
            </p:cNvPr>
            <p:cNvSpPr txBox="1"/>
            <p:nvPr/>
          </p:nvSpPr>
          <p:spPr>
            <a:xfrm>
              <a:off x="1292161" y="5064741"/>
              <a:ext cx="230832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dirty="0">
                  <a:solidFill>
                    <a:schemeClr val="accent5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可转换为机械能的部分</a:t>
              </a:r>
            </a:p>
          </p:txBody>
        </p:sp>
      </p:grpSp>
      <p:sp>
        <p:nvSpPr>
          <p:cNvPr id="20" name="TextBox 7">
            <a:extLst>
              <a:ext uri="{FF2B5EF4-FFF2-40B4-BE49-F238E27FC236}">
                <a16:creationId xmlns:a16="http://schemas.microsoft.com/office/drawing/2014/main" id="{9DAFD371-7E9D-2E88-2967-AFEF921BF447}"/>
              </a:ext>
            </a:extLst>
          </p:cNvPr>
          <p:cNvSpPr txBox="1"/>
          <p:nvPr/>
        </p:nvSpPr>
        <p:spPr>
          <a:xfrm>
            <a:off x="8035759" y="2371799"/>
            <a:ext cx="2164054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能量品质系数</a:t>
            </a:r>
            <a:endParaRPr lang="zh-CN" sz="2800" b="1" dirty="0"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6DA5E58D-1F79-9977-3DB3-DFC00AD7FDCD}"/>
              </a:ext>
            </a:extLst>
          </p:cNvPr>
          <p:cNvSpPr/>
          <p:nvPr/>
        </p:nvSpPr>
        <p:spPr>
          <a:xfrm>
            <a:off x="7212782" y="2922477"/>
            <a:ext cx="3810000" cy="762000"/>
          </a:xfrm>
          <a:prstGeom prst="roundRect">
            <a:avLst>
              <a:gd name="adj" fmla="val 5000"/>
            </a:avLst>
          </a:prstGeom>
          <a:solidFill>
            <a:schemeClr val="accent3">
              <a:alpha val="10000"/>
            </a:schemeClr>
          </a:solidFill>
          <a:ln w="19050">
            <a:solidFill>
              <a:schemeClr val="accent3"/>
            </a:solidFill>
          </a:ln>
        </p:spPr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F14BE8F3-DBE0-C53E-0238-994D472AB4CB}"/>
              </a:ext>
            </a:extLst>
          </p:cNvPr>
          <p:cNvSpPr txBox="1"/>
          <p:nvPr/>
        </p:nvSpPr>
        <p:spPr>
          <a:xfrm>
            <a:off x="8597608" y="3053789"/>
            <a:ext cx="104034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Eₓ</a:t>
            </a:r>
            <a:r>
              <a:rPr lang="en-US" sz="2400" b="1" dirty="0"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2400" b="1" dirty="0"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λ</a:t>
            </a:r>
            <a:r>
              <a:rPr lang="en-US" sz="2400" b="1" dirty="0"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</a:t>
            </a:r>
            <a:endParaRPr lang="en-US" sz="2400" b="1" dirty="0"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3" name="legend">
            <a:extLst>
              <a:ext uri="{FF2B5EF4-FFF2-40B4-BE49-F238E27FC236}">
                <a16:creationId xmlns:a16="http://schemas.microsoft.com/office/drawing/2014/main" id="{AC9ADACF-6158-EF42-333E-6FC1F40BEB1A}"/>
              </a:ext>
            </a:extLst>
          </p:cNvPr>
          <p:cNvGrpSpPr/>
          <p:nvPr/>
        </p:nvGrpSpPr>
        <p:grpSpPr>
          <a:xfrm>
            <a:off x="7448533" y="4188883"/>
            <a:ext cx="3238500" cy="1341240"/>
            <a:chOff x="762000" y="4000500"/>
            <a:chExt cx="3238500" cy="1341240"/>
          </a:xfrm>
        </p:grpSpPr>
        <p:sp>
          <p:nvSpPr>
            <p:cNvPr id="24" name="Rectangle 10">
              <a:extLst>
                <a:ext uri="{FF2B5EF4-FFF2-40B4-BE49-F238E27FC236}">
                  <a16:creationId xmlns:a16="http://schemas.microsoft.com/office/drawing/2014/main" id="{B73BFDA6-33CD-0AF6-3835-DFFE961C251E}"/>
                </a:ext>
              </a:extLst>
            </p:cNvPr>
            <p:cNvSpPr/>
            <p:nvPr/>
          </p:nvSpPr>
          <p:spPr>
            <a:xfrm>
              <a:off x="762000" y="4000500"/>
              <a:ext cx="3238500" cy="9525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11">
              <a:extLst>
                <a:ext uri="{FF2B5EF4-FFF2-40B4-BE49-F238E27FC236}">
                  <a16:creationId xmlns:a16="http://schemas.microsoft.com/office/drawing/2014/main" id="{DF094B12-E9E8-3F77-16E8-7C13F0F02F26}"/>
                </a:ext>
              </a:extLst>
            </p:cNvPr>
            <p:cNvSpPr txBox="1"/>
            <p:nvPr/>
          </p:nvSpPr>
          <p:spPr>
            <a:xfrm>
              <a:off x="1224280" y="4321817"/>
              <a:ext cx="21800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000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λ— </a:t>
              </a:r>
              <a:r>
                <a:rPr lang="zh-CN" altLang="en-US" sz="2000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能量品质系数</a:t>
              </a:r>
              <a:endParaRPr lang="zh-CN" sz="2000" dirty="0"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8" name="TextBox 13">
              <a:extLst>
                <a:ext uri="{FF2B5EF4-FFF2-40B4-BE49-F238E27FC236}">
                  <a16:creationId xmlns:a16="http://schemas.microsoft.com/office/drawing/2014/main" id="{DEB0DDDA-ECDA-64F9-7654-9C9CF7E8A872}"/>
                </a:ext>
              </a:extLst>
            </p:cNvPr>
            <p:cNvSpPr txBox="1"/>
            <p:nvPr/>
          </p:nvSpPr>
          <p:spPr>
            <a:xfrm>
              <a:off x="1292161" y="5064741"/>
              <a:ext cx="230832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dirty="0">
                  <a:solidFill>
                    <a:schemeClr val="accent5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可转换为机械能的部分</a:t>
              </a:r>
            </a:p>
          </p:txBody>
        </p:sp>
      </p:grpSp>
      <p:sp>
        <p:nvSpPr>
          <p:cNvPr id="39" name="箭头: 右 38">
            <a:extLst>
              <a:ext uri="{FF2B5EF4-FFF2-40B4-BE49-F238E27FC236}">
                <a16:creationId xmlns:a16="http://schemas.microsoft.com/office/drawing/2014/main" id="{3871BEBB-702D-732C-5F24-9259B0A98C76}"/>
              </a:ext>
            </a:extLst>
          </p:cNvPr>
          <p:cNvSpPr/>
          <p:nvPr/>
        </p:nvSpPr>
        <p:spPr>
          <a:xfrm>
            <a:off x="5091650" y="3684477"/>
            <a:ext cx="2008700" cy="6758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0962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00D3D-2217-F19B-4660-C781456E1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7E71B1D-D058-ADE7-9CEF-DC13879C2637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EF35B8C-FF08-CC9C-045F-F3E34B6F2B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07376" y="134657"/>
            <a:ext cx="2468798" cy="438897"/>
          </a:xfrm>
          <a:prstGeom prst="rect">
            <a:avLst/>
          </a:prstGeom>
        </p:spPr>
      </p:pic>
      <p:pic>
        <p:nvPicPr>
          <p:cNvPr id="40" name="图片 2" descr="D:\研1\溶酶体\1003剪影\剪影红 低版本.png剪影红 低版本">
            <a:extLst>
              <a:ext uri="{FF2B5EF4-FFF2-40B4-BE49-F238E27FC236}">
                <a16:creationId xmlns:a16="http://schemas.microsoft.com/office/drawing/2014/main" id="{97AC2D13-AF32-010D-95F5-F6A698FB985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-71120" y="5483912"/>
            <a:ext cx="12183880" cy="2436776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4" name="energy_efficiency">
            <a:extLst>
              <a:ext uri="{FF2B5EF4-FFF2-40B4-BE49-F238E27FC236}">
                <a16:creationId xmlns:a16="http://schemas.microsoft.com/office/drawing/2014/main" id="{F77C4876-5FB5-337B-335A-02E3EB37700E}"/>
              </a:ext>
            </a:extLst>
          </p:cNvPr>
          <p:cNvGrpSpPr/>
          <p:nvPr/>
        </p:nvGrpSpPr>
        <p:grpSpPr>
          <a:xfrm>
            <a:off x="762000" y="1143000"/>
            <a:ext cx="4762500" cy="3810000"/>
            <a:chOff x="762000" y="1143000"/>
            <a:chExt cx="4762500" cy="3810000"/>
          </a:xfrm>
        </p:grpSpPr>
        <p:sp>
          <p:nvSpPr>
            <p:cNvPr id="55" name="Rectangle 3">
              <a:extLst>
                <a:ext uri="{FF2B5EF4-FFF2-40B4-BE49-F238E27FC236}">
                  <a16:creationId xmlns:a16="http://schemas.microsoft.com/office/drawing/2014/main" id="{A8A3EFD2-AB11-50B2-1D4B-E83390E30654}"/>
                </a:ext>
              </a:extLst>
            </p:cNvPr>
            <p:cNvSpPr/>
            <p:nvPr/>
          </p:nvSpPr>
          <p:spPr>
            <a:xfrm>
              <a:off x="762000" y="1143000"/>
              <a:ext cx="4762500" cy="3810000"/>
            </a:xfrm>
            <a:prstGeom prst="roundRect">
              <a:avLst>
                <a:gd name="adj" fmla="val 1000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56" name="TextBox 4">
              <a:extLst>
                <a:ext uri="{FF2B5EF4-FFF2-40B4-BE49-F238E27FC236}">
                  <a16:creationId xmlns:a16="http://schemas.microsoft.com/office/drawing/2014/main" id="{E08C493C-7117-6227-9281-09C293AECCF6}"/>
                </a:ext>
              </a:extLst>
            </p:cNvPr>
            <p:cNvSpPr txBox="1"/>
            <p:nvPr/>
          </p:nvSpPr>
          <p:spPr>
            <a:xfrm>
              <a:off x="2319307" y="1392555"/>
              <a:ext cx="1647887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200" b="1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能量效率</a:t>
              </a:r>
            </a:p>
          </p:txBody>
        </p:sp>
        <p:sp>
          <p:nvSpPr>
            <p:cNvPr id="57" name="Rectangle 5">
              <a:extLst>
                <a:ext uri="{FF2B5EF4-FFF2-40B4-BE49-F238E27FC236}">
                  <a16:creationId xmlns:a16="http://schemas.microsoft.com/office/drawing/2014/main" id="{10F513B8-EE92-BF9F-63A4-2C014B972012}"/>
                </a:ext>
              </a:extLst>
            </p:cNvPr>
            <p:cNvSpPr/>
            <p:nvPr/>
          </p:nvSpPr>
          <p:spPr>
            <a:xfrm>
              <a:off x="1238250" y="2095500"/>
              <a:ext cx="3810000" cy="762000"/>
            </a:xfrm>
            <a:prstGeom prst="roundRect">
              <a:avLst>
                <a:gd name="adj" fmla="val 5000"/>
              </a:avLst>
            </a:prstGeom>
            <a:solidFill>
              <a:schemeClr val="accent3">
                <a:alpha val="15000"/>
              </a:scheme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58" name="TextBox 6">
              <a:extLst>
                <a:ext uri="{FF2B5EF4-FFF2-40B4-BE49-F238E27FC236}">
                  <a16:creationId xmlns:a16="http://schemas.microsoft.com/office/drawing/2014/main" id="{BBE73796-129E-83BD-2148-8F1498B62DC1}"/>
                </a:ext>
              </a:extLst>
            </p:cNvPr>
            <p:cNvSpPr txBox="1"/>
            <p:nvPr/>
          </p:nvSpPr>
          <p:spPr>
            <a:xfrm>
              <a:off x="1679390" y="2282606"/>
              <a:ext cx="2912657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3200" b="1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η = Eₒᵤₜ / Eᵢₙ</a:t>
              </a:r>
            </a:p>
          </p:txBody>
        </p:sp>
        <p:sp>
          <p:nvSpPr>
            <p:cNvPr id="59" name="TextBox 7">
              <a:extLst>
                <a:ext uri="{FF2B5EF4-FFF2-40B4-BE49-F238E27FC236}">
                  <a16:creationId xmlns:a16="http://schemas.microsoft.com/office/drawing/2014/main" id="{6317B6F5-904A-774F-574D-A21005C26D87}"/>
                </a:ext>
              </a:extLst>
            </p:cNvPr>
            <p:cNvSpPr txBox="1"/>
            <p:nvPr/>
          </p:nvSpPr>
          <p:spPr>
            <a:xfrm>
              <a:off x="2066033" y="3155632"/>
              <a:ext cx="21544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accent5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仅考虑能量数量</a:t>
              </a:r>
            </a:p>
          </p:txBody>
        </p:sp>
        <p:sp>
          <p:nvSpPr>
            <p:cNvPr id="60" name="TextBox 8">
              <a:extLst>
                <a:ext uri="{FF2B5EF4-FFF2-40B4-BE49-F238E27FC236}">
                  <a16:creationId xmlns:a16="http://schemas.microsoft.com/office/drawing/2014/main" id="{377E9923-F2D8-358D-7734-65A79C1BD8EC}"/>
                </a:ext>
              </a:extLst>
            </p:cNvPr>
            <p:cNvSpPr txBox="1"/>
            <p:nvPr/>
          </p:nvSpPr>
          <p:spPr>
            <a:xfrm>
              <a:off x="2691204" y="3838575"/>
              <a:ext cx="90409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局限性:</a:t>
              </a:r>
            </a:p>
          </p:txBody>
        </p:sp>
        <p:sp>
          <p:nvSpPr>
            <p:cNvPr id="61" name="TextBox 9">
              <a:extLst>
                <a:ext uri="{FF2B5EF4-FFF2-40B4-BE49-F238E27FC236}">
                  <a16:creationId xmlns:a16="http://schemas.microsoft.com/office/drawing/2014/main" id="{6A36FFFD-907D-1C63-A3AA-DDB6A7193EFC}"/>
                </a:ext>
              </a:extLst>
            </p:cNvPr>
            <p:cNvSpPr txBox="1"/>
            <p:nvPr/>
          </p:nvSpPr>
          <p:spPr>
            <a:xfrm>
              <a:off x="1231392" y="4188142"/>
              <a:ext cx="199349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忽略能量品质差异</a:t>
              </a:r>
            </a:p>
          </p:txBody>
        </p:sp>
        <p:sp>
          <p:nvSpPr>
            <p:cNvPr id="62" name="TextBox 10">
              <a:extLst>
                <a:ext uri="{FF2B5EF4-FFF2-40B4-BE49-F238E27FC236}">
                  <a16:creationId xmlns:a16="http://schemas.microsoft.com/office/drawing/2014/main" id="{D0B88E70-D851-B487-84C7-DE2705801310}"/>
                </a:ext>
              </a:extLst>
            </p:cNvPr>
            <p:cNvSpPr txBox="1"/>
            <p:nvPr/>
          </p:nvSpPr>
          <p:spPr>
            <a:xfrm>
              <a:off x="1231392" y="4473892"/>
              <a:ext cx="199349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无法识别品质损失</a:t>
              </a:r>
            </a:p>
          </p:txBody>
        </p:sp>
      </p:grpSp>
      <p:grpSp>
        <p:nvGrpSpPr>
          <p:cNvPr id="63" name="exergy_efficiency">
            <a:extLst>
              <a:ext uri="{FF2B5EF4-FFF2-40B4-BE49-F238E27FC236}">
                <a16:creationId xmlns:a16="http://schemas.microsoft.com/office/drawing/2014/main" id="{6CB86EFD-2EC6-2CDC-AF89-6DDD39EEEF67}"/>
              </a:ext>
            </a:extLst>
          </p:cNvPr>
          <p:cNvGrpSpPr/>
          <p:nvPr/>
        </p:nvGrpSpPr>
        <p:grpSpPr>
          <a:xfrm>
            <a:off x="6667500" y="1143000"/>
            <a:ext cx="4762500" cy="3810000"/>
            <a:chOff x="6667500" y="1143000"/>
            <a:chExt cx="4762500" cy="3810000"/>
          </a:xfrm>
        </p:grpSpPr>
        <p:sp>
          <p:nvSpPr>
            <p:cNvPr id="64" name="Rectangle 12">
              <a:extLst>
                <a:ext uri="{FF2B5EF4-FFF2-40B4-BE49-F238E27FC236}">
                  <a16:creationId xmlns:a16="http://schemas.microsoft.com/office/drawing/2014/main" id="{C3076596-AC5E-2E35-CA1C-6A5E019B0950}"/>
                </a:ext>
              </a:extLst>
            </p:cNvPr>
            <p:cNvSpPr/>
            <p:nvPr/>
          </p:nvSpPr>
          <p:spPr>
            <a:xfrm>
              <a:off x="6667500" y="1143000"/>
              <a:ext cx="4762500" cy="3810000"/>
            </a:xfrm>
            <a:prstGeom prst="roundRect">
              <a:avLst>
                <a:gd name="adj" fmla="val 1000"/>
              </a:avLst>
            </a:prstGeom>
            <a:solidFill>
              <a:schemeClr val="accent2">
                <a:alpha val="5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65" name="TextBox 13">
              <a:extLst>
                <a:ext uri="{FF2B5EF4-FFF2-40B4-BE49-F238E27FC236}">
                  <a16:creationId xmlns:a16="http://schemas.microsoft.com/office/drawing/2014/main" id="{83F6710F-2A24-9127-454D-E99AB439D4C6}"/>
                </a:ext>
              </a:extLst>
            </p:cNvPr>
            <p:cNvSpPr txBox="1"/>
            <p:nvPr/>
          </p:nvSpPr>
          <p:spPr>
            <a:xfrm>
              <a:off x="8430792" y="1392555"/>
              <a:ext cx="1235916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200" b="1" dirty="0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㶲效率</a:t>
              </a:r>
            </a:p>
          </p:txBody>
        </p:sp>
        <p:sp>
          <p:nvSpPr>
            <p:cNvPr id="66" name="Rectangle 14">
              <a:extLst>
                <a:ext uri="{FF2B5EF4-FFF2-40B4-BE49-F238E27FC236}">
                  <a16:creationId xmlns:a16="http://schemas.microsoft.com/office/drawing/2014/main" id="{80255C00-C322-0D51-67B6-FE415BC4A487}"/>
                </a:ext>
              </a:extLst>
            </p:cNvPr>
            <p:cNvSpPr/>
            <p:nvPr/>
          </p:nvSpPr>
          <p:spPr>
            <a:xfrm>
              <a:off x="7143750" y="2095500"/>
              <a:ext cx="3810000" cy="762000"/>
            </a:xfrm>
            <a:prstGeom prst="roundRect">
              <a:avLst>
                <a:gd name="adj" fmla="val 5000"/>
              </a:avLst>
            </a:prstGeom>
            <a:solidFill>
              <a:schemeClr val="accent2">
                <a:alpha val="15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67" name="TextBox 15">
              <a:extLst>
                <a:ext uri="{FF2B5EF4-FFF2-40B4-BE49-F238E27FC236}">
                  <a16:creationId xmlns:a16="http://schemas.microsoft.com/office/drawing/2014/main" id="{8841F777-562B-3FB1-5F72-CE43EDD37B94}"/>
                </a:ext>
              </a:extLst>
            </p:cNvPr>
            <p:cNvSpPr txBox="1"/>
            <p:nvPr/>
          </p:nvSpPr>
          <p:spPr>
            <a:xfrm>
              <a:off x="7379222" y="2246232"/>
              <a:ext cx="3339056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3200" b="1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ηₑₓ = Eₓₒᵤₜ / Eₓᵢₙ</a:t>
              </a:r>
            </a:p>
          </p:txBody>
        </p:sp>
        <p:sp>
          <p:nvSpPr>
            <p:cNvPr id="68" name="TextBox 16">
              <a:extLst>
                <a:ext uri="{FF2B5EF4-FFF2-40B4-BE49-F238E27FC236}">
                  <a16:creationId xmlns:a16="http://schemas.microsoft.com/office/drawing/2014/main" id="{2E497F6B-7B34-3F7C-8F03-C6F71413D3AE}"/>
                </a:ext>
              </a:extLst>
            </p:cNvPr>
            <p:cNvSpPr txBox="1"/>
            <p:nvPr/>
          </p:nvSpPr>
          <p:spPr>
            <a:xfrm>
              <a:off x="7586811" y="3155632"/>
              <a:ext cx="292387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数量 + 品质双重考量</a:t>
              </a:r>
            </a:p>
          </p:txBody>
        </p:sp>
        <p:sp>
          <p:nvSpPr>
            <p:cNvPr id="69" name="TextBox 17">
              <a:extLst>
                <a:ext uri="{FF2B5EF4-FFF2-40B4-BE49-F238E27FC236}">
                  <a16:creationId xmlns:a16="http://schemas.microsoft.com/office/drawing/2014/main" id="{9892D096-FC9F-1D7C-9342-D0CDFD17026D}"/>
                </a:ext>
              </a:extLst>
            </p:cNvPr>
            <p:cNvSpPr txBox="1"/>
            <p:nvPr/>
          </p:nvSpPr>
          <p:spPr>
            <a:xfrm>
              <a:off x="8725746" y="3838575"/>
              <a:ext cx="646011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27AE6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优势:</a:t>
              </a:r>
            </a:p>
          </p:txBody>
        </p:sp>
        <p:sp>
          <p:nvSpPr>
            <p:cNvPr id="70" name="TextBox 18">
              <a:extLst>
                <a:ext uri="{FF2B5EF4-FFF2-40B4-BE49-F238E27FC236}">
                  <a16:creationId xmlns:a16="http://schemas.microsoft.com/office/drawing/2014/main" id="{F5C74F94-454D-C7A0-8C07-5ADEAECFA204}"/>
                </a:ext>
              </a:extLst>
            </p:cNvPr>
            <p:cNvSpPr txBox="1"/>
            <p:nvPr/>
          </p:nvSpPr>
          <p:spPr>
            <a:xfrm>
              <a:off x="7136892" y="4188142"/>
              <a:ext cx="233974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全面:兼顾数量与品质</a:t>
              </a:r>
            </a:p>
          </p:txBody>
        </p:sp>
        <p:sp>
          <p:nvSpPr>
            <p:cNvPr id="71" name="TextBox 19">
              <a:extLst>
                <a:ext uri="{FF2B5EF4-FFF2-40B4-BE49-F238E27FC236}">
                  <a16:creationId xmlns:a16="http://schemas.microsoft.com/office/drawing/2014/main" id="{5B2938B0-F667-26E8-E4BE-5A98B7F457FD}"/>
                </a:ext>
              </a:extLst>
            </p:cNvPr>
            <p:cNvSpPr txBox="1"/>
            <p:nvPr/>
          </p:nvSpPr>
          <p:spPr>
            <a:xfrm>
              <a:off x="7136892" y="4473892"/>
              <a:ext cx="21089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科学:反映真实损失</a:t>
              </a:r>
            </a:p>
          </p:txBody>
        </p:sp>
      </p:grpSp>
      <p:sp>
        <p:nvSpPr>
          <p:cNvPr id="72" name="Line 21">
            <a:extLst>
              <a:ext uri="{FF2B5EF4-FFF2-40B4-BE49-F238E27FC236}">
                <a16:creationId xmlns:a16="http://schemas.microsoft.com/office/drawing/2014/main" id="{338D9F21-461D-F0BF-B12D-D2A3CB09FB28}"/>
              </a:ext>
            </a:extLst>
          </p:cNvPr>
          <p:cNvSpPr/>
          <p:nvPr/>
        </p:nvSpPr>
        <p:spPr>
          <a:xfrm>
            <a:off x="5524500" y="26670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28575">
            <a:solidFill>
              <a:schemeClr val="accent2"/>
            </a:solidFill>
            <a:custDash>
              <a:ds d="333333" sp="166667"/>
            </a:custDash>
          </a:ln>
        </p:spPr>
      </p:sp>
      <p:sp>
        <p:nvSpPr>
          <p:cNvPr id="73" name="Polygon 22">
            <a:extLst>
              <a:ext uri="{FF2B5EF4-FFF2-40B4-BE49-F238E27FC236}">
                <a16:creationId xmlns:a16="http://schemas.microsoft.com/office/drawing/2014/main" id="{27D1C4DA-BEE9-F639-E722-600CECDB9CF8}"/>
              </a:ext>
            </a:extLst>
          </p:cNvPr>
          <p:cNvSpPr/>
          <p:nvPr/>
        </p:nvSpPr>
        <p:spPr>
          <a:xfrm>
            <a:off x="6572250" y="2571750"/>
            <a:ext cx="95250" cy="190500"/>
          </a:xfrm>
          <a:custGeom>
            <a:avLst/>
            <a:gdLst/>
            <a:ahLst/>
            <a:cxnLst/>
            <a:rect l="l" t="t" r="r" b="b"/>
            <a:pathLst>
              <a:path w="95250" h="190500">
                <a:moveTo>
                  <a:pt x="95250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4" name="Rectangle 23">
            <a:extLst>
              <a:ext uri="{FF2B5EF4-FFF2-40B4-BE49-F238E27FC236}">
                <a16:creationId xmlns:a16="http://schemas.microsoft.com/office/drawing/2014/main" id="{8BADA600-28CB-EC3E-760D-BA71D7EF8AC5}"/>
              </a:ext>
            </a:extLst>
          </p:cNvPr>
          <p:cNvSpPr/>
          <p:nvPr/>
        </p:nvSpPr>
        <p:spPr>
          <a:xfrm>
            <a:off x="1786467" y="5102912"/>
            <a:ext cx="8856133" cy="762000"/>
          </a:xfrm>
          <a:prstGeom prst="roundRect">
            <a:avLst>
              <a:gd name="adj" fmla="val 5000"/>
            </a:avLst>
          </a:prstGeom>
          <a:solidFill>
            <a:srgbClr val="27AE60">
              <a:alpha val="10000"/>
            </a:srgbClr>
          </a:solidFill>
          <a:ln w="19050">
            <a:solidFill>
              <a:srgbClr val="27AE60"/>
            </a:solidFill>
          </a:ln>
        </p:spPr>
      </p:sp>
      <p:sp>
        <p:nvSpPr>
          <p:cNvPr id="75" name="TextBox 24">
            <a:extLst>
              <a:ext uri="{FF2B5EF4-FFF2-40B4-BE49-F238E27FC236}">
                <a16:creationId xmlns:a16="http://schemas.microsoft.com/office/drawing/2014/main" id="{F9FB4075-4DFF-2E75-B297-0B78DB79503D}"/>
              </a:ext>
            </a:extLst>
          </p:cNvPr>
          <p:cNvSpPr txBox="1"/>
          <p:nvPr/>
        </p:nvSpPr>
        <p:spPr>
          <a:xfrm>
            <a:off x="2066033" y="5334000"/>
            <a:ext cx="8295541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00" b="1" dirty="0"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㶲效率更全面、科学、准确地衡量能量转换过程优劣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6B4074-5585-8F5A-49BA-6B36AFC21F61}"/>
              </a:ext>
            </a:extLst>
          </p:cNvPr>
          <p:cNvSpPr txBox="1"/>
          <p:nvPr/>
        </p:nvSpPr>
        <p:spPr>
          <a:xfrm>
            <a:off x="0" y="45005"/>
            <a:ext cx="3068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研究背景与概念</a:t>
            </a:r>
          </a:p>
        </p:txBody>
      </p:sp>
    </p:spTree>
    <p:extLst>
      <p:ext uri="{BB962C8B-B14F-4D97-AF65-F5344CB8AC3E}">
        <p14:creationId xmlns:p14="http://schemas.microsoft.com/office/powerpoint/2010/main" val="3758514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16AB6-FB37-EB87-7831-8A18479FF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" descr="D:\研1\溶酶体\1003剪影\剪影红 低版本.png剪影红 低版本">
            <a:extLst>
              <a:ext uri="{FF2B5EF4-FFF2-40B4-BE49-F238E27FC236}">
                <a16:creationId xmlns:a16="http://schemas.microsoft.com/office/drawing/2014/main" id="{1B088467-1597-A9B8-4BD1-EAB38B3CEBE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-71120" y="5483912"/>
            <a:ext cx="12183880" cy="243677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8BC0044-3520-F2B2-3C7F-E7F63EA8C463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五边形 22">
            <a:extLst>
              <a:ext uri="{FF2B5EF4-FFF2-40B4-BE49-F238E27FC236}">
                <a16:creationId xmlns:a16="http://schemas.microsoft.com/office/drawing/2014/main" id="{059AB2EE-FE6F-A3BA-B3EB-2B63E9187F75}"/>
              </a:ext>
            </a:extLst>
          </p:cNvPr>
          <p:cNvSpPr/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2F2F2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782C0EA-526D-6C59-B1CE-6EB635542DBC}"/>
              </a:ext>
            </a:extLst>
          </p:cNvPr>
          <p:cNvSpPr txBox="1"/>
          <p:nvPr/>
        </p:nvSpPr>
        <p:spPr>
          <a:xfrm>
            <a:off x="60968" y="1025341"/>
            <a:ext cx="3736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白箱模型与黑箱模型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D0FC80-7CD0-B9C4-18AD-528B53EF3877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0C4411E-4F06-ABBE-871C-9FDB50DB63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07376" y="134657"/>
            <a:ext cx="2468798" cy="438897"/>
          </a:xfrm>
          <a:prstGeom prst="rect">
            <a:avLst/>
          </a:prstGeom>
        </p:spPr>
      </p:pic>
      <p:grpSp>
        <p:nvGrpSpPr>
          <p:cNvPr id="18" name="black_box">
            <a:extLst>
              <a:ext uri="{FF2B5EF4-FFF2-40B4-BE49-F238E27FC236}">
                <a16:creationId xmlns:a16="http://schemas.microsoft.com/office/drawing/2014/main" id="{5C12A37F-1F51-2F44-B1A8-F2BE08BEE4F0}"/>
              </a:ext>
            </a:extLst>
          </p:cNvPr>
          <p:cNvGrpSpPr/>
          <p:nvPr/>
        </p:nvGrpSpPr>
        <p:grpSpPr>
          <a:xfrm>
            <a:off x="603250" y="1804137"/>
            <a:ext cx="5334000" cy="4244102"/>
            <a:chOff x="476250" y="1106805"/>
            <a:chExt cx="5334000" cy="4244102"/>
          </a:xfrm>
        </p:grpSpPr>
        <p:sp>
          <p:nvSpPr>
            <p:cNvPr id="26" name="TextBox 3">
              <a:extLst>
                <a:ext uri="{FF2B5EF4-FFF2-40B4-BE49-F238E27FC236}">
                  <a16:creationId xmlns:a16="http://schemas.microsoft.com/office/drawing/2014/main" id="{974FF8C1-55E9-3B66-6261-4531CFAD8A6A}"/>
                </a:ext>
              </a:extLst>
            </p:cNvPr>
            <p:cNvSpPr txBox="1"/>
            <p:nvPr/>
          </p:nvSpPr>
          <p:spPr>
            <a:xfrm>
              <a:off x="2219921" y="1106805"/>
              <a:ext cx="184666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黑箱模型</a:t>
              </a:r>
            </a:p>
          </p:txBody>
        </p:sp>
        <p:sp>
          <p:nvSpPr>
            <p:cNvPr id="28" name="Rectangle 4">
              <a:extLst>
                <a:ext uri="{FF2B5EF4-FFF2-40B4-BE49-F238E27FC236}">
                  <a16:creationId xmlns:a16="http://schemas.microsoft.com/office/drawing/2014/main" id="{421C1810-88B6-310E-E31C-9843ED67990A}"/>
                </a:ext>
              </a:extLst>
            </p:cNvPr>
            <p:cNvSpPr/>
            <p:nvPr/>
          </p:nvSpPr>
          <p:spPr>
            <a:xfrm>
              <a:off x="1238250" y="1714500"/>
              <a:ext cx="3810000" cy="2667000"/>
            </a:xfrm>
            <a:prstGeom prst="roundRect">
              <a:avLst>
                <a:gd name="adj" fmla="val 14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5">
              <a:extLst>
                <a:ext uri="{FF2B5EF4-FFF2-40B4-BE49-F238E27FC236}">
                  <a16:creationId xmlns:a16="http://schemas.microsoft.com/office/drawing/2014/main" id="{5ACF4C6E-E94B-FE33-E93D-19D6DBA75533}"/>
                </a:ext>
              </a:extLst>
            </p:cNvPr>
            <p:cNvSpPr txBox="1"/>
            <p:nvPr/>
          </p:nvSpPr>
          <p:spPr>
            <a:xfrm>
              <a:off x="2073175" y="2713077"/>
              <a:ext cx="2051845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2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不透明边界</a:t>
              </a:r>
            </a:p>
          </p:txBody>
        </p:sp>
        <p:sp>
          <p:nvSpPr>
            <p:cNvPr id="30" name="TextBox 6">
              <a:extLst>
                <a:ext uri="{FF2B5EF4-FFF2-40B4-BE49-F238E27FC236}">
                  <a16:creationId xmlns:a16="http://schemas.microsoft.com/office/drawing/2014/main" id="{C4015B16-6F10-190D-4086-2C44BBD7B522}"/>
                </a:ext>
              </a:extLst>
            </p:cNvPr>
            <p:cNvSpPr txBox="1"/>
            <p:nvPr/>
          </p:nvSpPr>
          <p:spPr>
            <a:xfrm>
              <a:off x="1912144" y="3457575"/>
              <a:ext cx="246221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(内部过程不可见)</a:t>
              </a:r>
            </a:p>
          </p:txBody>
        </p:sp>
        <p:sp>
          <p:nvSpPr>
            <p:cNvPr id="31" name="Line 7">
              <a:extLst>
                <a:ext uri="{FF2B5EF4-FFF2-40B4-BE49-F238E27FC236}">
                  <a16:creationId xmlns:a16="http://schemas.microsoft.com/office/drawing/2014/main" id="{BB2CF4F9-5F07-26AC-2D83-0A1AC5C10CE0}"/>
                </a:ext>
              </a:extLst>
            </p:cNvPr>
            <p:cNvSpPr/>
            <p:nvPr/>
          </p:nvSpPr>
          <p:spPr>
            <a:xfrm>
              <a:off x="476250" y="30480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36" name="Polygon 8">
              <a:extLst>
                <a:ext uri="{FF2B5EF4-FFF2-40B4-BE49-F238E27FC236}">
                  <a16:creationId xmlns:a16="http://schemas.microsoft.com/office/drawing/2014/main" id="{7FE3FCB8-8094-C0A9-61F0-185428D6D35A}"/>
                </a:ext>
              </a:extLst>
            </p:cNvPr>
            <p:cNvSpPr/>
            <p:nvPr/>
          </p:nvSpPr>
          <p:spPr>
            <a:xfrm>
              <a:off x="1143000" y="2952750"/>
              <a:ext cx="95250" cy="190500"/>
            </a:xfrm>
            <a:custGeom>
              <a:avLst/>
              <a:gdLst/>
              <a:ahLst/>
              <a:cxnLst/>
              <a:rect l="l" t="t" r="r" b="b"/>
              <a:pathLst>
                <a:path w="95250" h="190500">
                  <a:moveTo>
                    <a:pt x="95250" y="95250"/>
                  </a:move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7" name="TextBox 9">
              <a:extLst>
                <a:ext uri="{FF2B5EF4-FFF2-40B4-BE49-F238E27FC236}">
                  <a16:creationId xmlns:a16="http://schemas.microsoft.com/office/drawing/2014/main" id="{63FBBA3C-C7E0-3BA9-83F7-CBB30368EE06}"/>
                </a:ext>
              </a:extLst>
            </p:cNvPr>
            <p:cNvSpPr txBox="1"/>
            <p:nvPr/>
          </p:nvSpPr>
          <p:spPr>
            <a:xfrm>
              <a:off x="600770" y="2775585"/>
              <a:ext cx="5129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dirty="0">
                  <a:solidFill>
                    <a:schemeClr val="accent3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输入</a:t>
              </a:r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11AFA450-8483-30FA-9256-189B3B9EC21A}"/>
                </a:ext>
              </a:extLst>
            </p:cNvPr>
            <p:cNvSpPr/>
            <p:nvPr/>
          </p:nvSpPr>
          <p:spPr>
            <a:xfrm>
              <a:off x="5048250" y="30480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39" name="Polygon 11">
              <a:extLst>
                <a:ext uri="{FF2B5EF4-FFF2-40B4-BE49-F238E27FC236}">
                  <a16:creationId xmlns:a16="http://schemas.microsoft.com/office/drawing/2014/main" id="{3212F45D-8A5F-BFC5-A34B-9C09AAA7CB91}"/>
                </a:ext>
              </a:extLst>
            </p:cNvPr>
            <p:cNvSpPr/>
            <p:nvPr/>
          </p:nvSpPr>
          <p:spPr>
            <a:xfrm>
              <a:off x="5715000" y="2952750"/>
              <a:ext cx="95250" cy="190500"/>
            </a:xfrm>
            <a:custGeom>
              <a:avLst/>
              <a:gdLst/>
              <a:ahLst/>
              <a:cxnLst/>
              <a:rect l="l" t="t" r="r" b="b"/>
              <a:pathLst>
                <a:path w="95250" h="190500">
                  <a:moveTo>
                    <a:pt x="95250" y="95250"/>
                  </a:move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12">
              <a:extLst>
                <a:ext uri="{FF2B5EF4-FFF2-40B4-BE49-F238E27FC236}">
                  <a16:creationId xmlns:a16="http://schemas.microsoft.com/office/drawing/2014/main" id="{0E2AD740-D27D-C468-9957-11947C35A7C7}"/>
                </a:ext>
              </a:extLst>
            </p:cNvPr>
            <p:cNvSpPr txBox="1"/>
            <p:nvPr/>
          </p:nvSpPr>
          <p:spPr>
            <a:xfrm>
              <a:off x="5172770" y="2775585"/>
              <a:ext cx="5129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dirty="0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输出</a:t>
              </a:r>
            </a:p>
          </p:txBody>
        </p:sp>
        <p:sp>
          <p:nvSpPr>
            <p:cNvPr id="41" name="TextBox 13">
              <a:extLst>
                <a:ext uri="{FF2B5EF4-FFF2-40B4-BE49-F238E27FC236}">
                  <a16:creationId xmlns:a16="http://schemas.microsoft.com/office/drawing/2014/main" id="{1ADF0FBF-4F23-4093-A825-50DE38D8FD14}"/>
                </a:ext>
              </a:extLst>
            </p:cNvPr>
            <p:cNvSpPr txBox="1"/>
            <p:nvPr/>
          </p:nvSpPr>
          <p:spPr>
            <a:xfrm>
              <a:off x="1758256" y="4600575"/>
              <a:ext cx="27699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仅关注输入输出关系</a:t>
              </a:r>
            </a:p>
          </p:txBody>
        </p:sp>
        <p:sp>
          <p:nvSpPr>
            <p:cNvPr id="44" name="TextBox 14">
              <a:extLst>
                <a:ext uri="{FF2B5EF4-FFF2-40B4-BE49-F238E27FC236}">
                  <a16:creationId xmlns:a16="http://schemas.microsoft.com/office/drawing/2014/main" id="{5D019750-DA6E-3793-FDB9-44BFC9A9D46A}"/>
                </a:ext>
              </a:extLst>
            </p:cNvPr>
            <p:cNvSpPr txBox="1"/>
            <p:nvPr/>
          </p:nvSpPr>
          <p:spPr>
            <a:xfrm>
              <a:off x="1681313" y="4981575"/>
              <a:ext cx="292387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→ 适合整体效率评价</a:t>
              </a:r>
            </a:p>
          </p:txBody>
        </p:sp>
      </p:grpSp>
      <p:grpSp>
        <p:nvGrpSpPr>
          <p:cNvPr id="45" name="white_box">
            <a:extLst>
              <a:ext uri="{FF2B5EF4-FFF2-40B4-BE49-F238E27FC236}">
                <a16:creationId xmlns:a16="http://schemas.microsoft.com/office/drawing/2014/main" id="{C22E38F3-AB00-6A44-C493-A25938B63402}"/>
              </a:ext>
            </a:extLst>
          </p:cNvPr>
          <p:cNvGrpSpPr/>
          <p:nvPr/>
        </p:nvGrpSpPr>
        <p:grpSpPr>
          <a:xfrm>
            <a:off x="7270750" y="1804137"/>
            <a:ext cx="3810000" cy="4244102"/>
            <a:chOff x="7143750" y="1106805"/>
            <a:chExt cx="3810000" cy="4244102"/>
          </a:xfrm>
        </p:grpSpPr>
        <p:sp>
          <p:nvSpPr>
            <p:cNvPr id="46" name="TextBox 16">
              <a:extLst>
                <a:ext uri="{FF2B5EF4-FFF2-40B4-BE49-F238E27FC236}">
                  <a16:creationId xmlns:a16="http://schemas.microsoft.com/office/drawing/2014/main" id="{618A7E3E-FF8F-89B3-D0F3-57384BC5779C}"/>
                </a:ext>
              </a:extLst>
            </p:cNvPr>
            <p:cNvSpPr txBox="1"/>
            <p:nvPr/>
          </p:nvSpPr>
          <p:spPr>
            <a:xfrm>
              <a:off x="8125421" y="1106805"/>
              <a:ext cx="184666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白箱模型</a:t>
              </a:r>
            </a:p>
          </p:txBody>
        </p:sp>
        <p:sp>
          <p:nvSpPr>
            <p:cNvPr id="47" name="Rectangle 17">
              <a:extLst>
                <a:ext uri="{FF2B5EF4-FFF2-40B4-BE49-F238E27FC236}">
                  <a16:creationId xmlns:a16="http://schemas.microsoft.com/office/drawing/2014/main" id="{2FAE30F5-296A-C53D-BE17-B42E864F7E35}"/>
                </a:ext>
              </a:extLst>
            </p:cNvPr>
            <p:cNvSpPr/>
            <p:nvPr/>
          </p:nvSpPr>
          <p:spPr>
            <a:xfrm>
              <a:off x="7143750" y="1714500"/>
              <a:ext cx="3810000" cy="2667000"/>
            </a:xfrm>
            <a:prstGeom prst="roundRect">
              <a:avLst>
                <a:gd name="adj" fmla="val 1429"/>
              </a:avLst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48" name="Rectangle 18">
              <a:extLst>
                <a:ext uri="{FF2B5EF4-FFF2-40B4-BE49-F238E27FC236}">
                  <a16:creationId xmlns:a16="http://schemas.microsoft.com/office/drawing/2014/main" id="{50CE27D1-BF42-3929-1C21-6057C45C04FF}"/>
                </a:ext>
              </a:extLst>
            </p:cNvPr>
            <p:cNvSpPr/>
            <p:nvPr/>
          </p:nvSpPr>
          <p:spPr>
            <a:xfrm>
              <a:off x="7429500" y="2000250"/>
              <a:ext cx="952500" cy="571500"/>
            </a:xfrm>
            <a:prstGeom prst="roundRect">
              <a:avLst>
                <a:gd name="adj" fmla="val 3333"/>
              </a:avLst>
            </a:prstGeom>
            <a:solidFill>
              <a:schemeClr val="accent3">
                <a:alpha val="30000"/>
              </a:scheme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49" name="TextBox 19">
              <a:extLst>
                <a:ext uri="{FF2B5EF4-FFF2-40B4-BE49-F238E27FC236}">
                  <a16:creationId xmlns:a16="http://schemas.microsoft.com/office/drawing/2014/main" id="{76730404-1DA5-3ECF-09D8-E7B303954AF5}"/>
                </a:ext>
              </a:extLst>
            </p:cNvPr>
            <p:cNvSpPr txBox="1"/>
            <p:nvPr/>
          </p:nvSpPr>
          <p:spPr>
            <a:xfrm>
              <a:off x="7581944" y="2204085"/>
              <a:ext cx="64761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过程1</a:t>
              </a:r>
            </a:p>
          </p:txBody>
        </p:sp>
        <p:sp>
          <p:nvSpPr>
            <p:cNvPr id="50" name="Rectangle 20">
              <a:extLst>
                <a:ext uri="{FF2B5EF4-FFF2-40B4-BE49-F238E27FC236}">
                  <a16:creationId xmlns:a16="http://schemas.microsoft.com/office/drawing/2014/main" id="{200D1072-686A-C8AF-71D2-FD103733B273}"/>
                </a:ext>
              </a:extLst>
            </p:cNvPr>
            <p:cNvSpPr/>
            <p:nvPr/>
          </p:nvSpPr>
          <p:spPr>
            <a:xfrm>
              <a:off x="8572500" y="2000250"/>
              <a:ext cx="952500" cy="571500"/>
            </a:xfrm>
            <a:prstGeom prst="roundRect">
              <a:avLst>
                <a:gd name="adj" fmla="val 3333"/>
              </a:avLst>
            </a:prstGeom>
            <a:solidFill>
              <a:schemeClr val="accent2">
                <a:alpha val="30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51" name="TextBox 21">
              <a:extLst>
                <a:ext uri="{FF2B5EF4-FFF2-40B4-BE49-F238E27FC236}">
                  <a16:creationId xmlns:a16="http://schemas.microsoft.com/office/drawing/2014/main" id="{6012F235-9CD8-6000-3599-2DF2DBA49FD3}"/>
                </a:ext>
              </a:extLst>
            </p:cNvPr>
            <p:cNvSpPr txBox="1"/>
            <p:nvPr/>
          </p:nvSpPr>
          <p:spPr>
            <a:xfrm>
              <a:off x="8724944" y="2204085"/>
              <a:ext cx="64761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过程2</a:t>
              </a:r>
            </a:p>
          </p:txBody>
        </p:sp>
        <p:sp>
          <p:nvSpPr>
            <p:cNvPr id="52" name="Rectangle 22">
              <a:extLst>
                <a:ext uri="{FF2B5EF4-FFF2-40B4-BE49-F238E27FC236}">
                  <a16:creationId xmlns:a16="http://schemas.microsoft.com/office/drawing/2014/main" id="{25F065BB-F504-6657-5A08-51B5AD4CC47E}"/>
                </a:ext>
              </a:extLst>
            </p:cNvPr>
            <p:cNvSpPr/>
            <p:nvPr/>
          </p:nvSpPr>
          <p:spPr>
            <a:xfrm>
              <a:off x="9715500" y="2000250"/>
              <a:ext cx="952500" cy="571500"/>
            </a:xfrm>
            <a:prstGeom prst="roundRect">
              <a:avLst>
                <a:gd name="adj" fmla="val 3333"/>
              </a:avLst>
            </a:prstGeom>
            <a:solidFill>
              <a:srgbClr val="27AE60">
                <a:alpha val="30000"/>
              </a:srgbClr>
            </a:solidFill>
            <a:ln w="19050">
              <a:solidFill>
                <a:srgbClr val="27AE60"/>
              </a:solidFill>
            </a:ln>
          </p:spPr>
        </p:sp>
        <p:sp>
          <p:nvSpPr>
            <p:cNvPr id="53" name="TextBox 23">
              <a:extLst>
                <a:ext uri="{FF2B5EF4-FFF2-40B4-BE49-F238E27FC236}">
                  <a16:creationId xmlns:a16="http://schemas.microsoft.com/office/drawing/2014/main" id="{E503FCFE-3FF7-6301-A0AC-E04B759E66EB}"/>
                </a:ext>
              </a:extLst>
            </p:cNvPr>
            <p:cNvSpPr txBox="1"/>
            <p:nvPr/>
          </p:nvSpPr>
          <p:spPr>
            <a:xfrm>
              <a:off x="9867944" y="2204085"/>
              <a:ext cx="64761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过程3</a:t>
              </a:r>
            </a:p>
          </p:txBody>
        </p:sp>
        <p:sp>
          <p:nvSpPr>
            <p:cNvPr id="54" name="Line 24">
              <a:extLst>
                <a:ext uri="{FF2B5EF4-FFF2-40B4-BE49-F238E27FC236}">
                  <a16:creationId xmlns:a16="http://schemas.microsoft.com/office/drawing/2014/main" id="{4C0664A2-6CAA-DC02-D4BD-85EF40D8616F}"/>
                </a:ext>
              </a:extLst>
            </p:cNvPr>
            <p:cNvSpPr/>
            <p:nvPr/>
          </p:nvSpPr>
          <p:spPr>
            <a:xfrm>
              <a:off x="8382000" y="2286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5" name="Polygon 25">
              <a:extLst>
                <a:ext uri="{FF2B5EF4-FFF2-40B4-BE49-F238E27FC236}">
                  <a16:creationId xmlns:a16="http://schemas.microsoft.com/office/drawing/2014/main" id="{B9DAD122-FD3A-ACFB-D8E0-D5C03EA5EF97}"/>
                </a:ext>
              </a:extLst>
            </p:cNvPr>
            <p:cNvSpPr/>
            <p:nvPr/>
          </p:nvSpPr>
          <p:spPr>
            <a:xfrm>
              <a:off x="8524875" y="2238375"/>
              <a:ext cx="47625" cy="95250"/>
            </a:xfrm>
            <a:custGeom>
              <a:avLst/>
              <a:gdLst/>
              <a:ahLst/>
              <a:cxnLst/>
              <a:rect l="l" t="t" r="r" b="b"/>
              <a:pathLst>
                <a:path w="47625" h="95250">
                  <a:moveTo>
                    <a:pt x="47625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6" name="Line 26">
              <a:extLst>
                <a:ext uri="{FF2B5EF4-FFF2-40B4-BE49-F238E27FC236}">
                  <a16:creationId xmlns:a16="http://schemas.microsoft.com/office/drawing/2014/main" id="{98C3744B-E6EE-3444-74B2-A0F59E621F71}"/>
                </a:ext>
              </a:extLst>
            </p:cNvPr>
            <p:cNvSpPr/>
            <p:nvPr/>
          </p:nvSpPr>
          <p:spPr>
            <a:xfrm>
              <a:off x="9525000" y="2286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7" name="Polygon 27">
              <a:extLst>
                <a:ext uri="{FF2B5EF4-FFF2-40B4-BE49-F238E27FC236}">
                  <a16:creationId xmlns:a16="http://schemas.microsoft.com/office/drawing/2014/main" id="{1B884F53-A065-B3C6-CF45-ABD59E9452D9}"/>
                </a:ext>
              </a:extLst>
            </p:cNvPr>
            <p:cNvSpPr/>
            <p:nvPr/>
          </p:nvSpPr>
          <p:spPr>
            <a:xfrm>
              <a:off x="9667875" y="2238375"/>
              <a:ext cx="47625" cy="95250"/>
            </a:xfrm>
            <a:custGeom>
              <a:avLst/>
              <a:gdLst/>
              <a:ahLst/>
              <a:cxnLst/>
              <a:rect l="l" t="t" r="r" b="b"/>
              <a:pathLst>
                <a:path w="47625" h="95250">
                  <a:moveTo>
                    <a:pt x="47625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8" name="TextBox 28">
              <a:extLst>
                <a:ext uri="{FF2B5EF4-FFF2-40B4-BE49-F238E27FC236}">
                  <a16:creationId xmlns:a16="http://schemas.microsoft.com/office/drawing/2014/main" id="{27492014-E72A-8569-CA4E-783A5D2E47E6}"/>
                </a:ext>
              </a:extLst>
            </p:cNvPr>
            <p:cNvSpPr txBox="1"/>
            <p:nvPr/>
          </p:nvSpPr>
          <p:spPr>
            <a:xfrm>
              <a:off x="7546678" y="2934652"/>
              <a:ext cx="71814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↓ 损耗</a:t>
              </a:r>
            </a:p>
          </p:txBody>
        </p:sp>
        <p:sp>
          <p:nvSpPr>
            <p:cNvPr id="59" name="TextBox 29">
              <a:extLst>
                <a:ext uri="{FF2B5EF4-FFF2-40B4-BE49-F238E27FC236}">
                  <a16:creationId xmlns:a16="http://schemas.microsoft.com/office/drawing/2014/main" id="{126A8F97-E488-E6EF-854E-93927671928E}"/>
                </a:ext>
              </a:extLst>
            </p:cNvPr>
            <p:cNvSpPr txBox="1"/>
            <p:nvPr/>
          </p:nvSpPr>
          <p:spPr>
            <a:xfrm>
              <a:off x="8689678" y="2934652"/>
              <a:ext cx="71814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↓ 损耗</a:t>
              </a:r>
            </a:p>
          </p:txBody>
        </p:sp>
        <p:sp>
          <p:nvSpPr>
            <p:cNvPr id="60" name="TextBox 30">
              <a:extLst>
                <a:ext uri="{FF2B5EF4-FFF2-40B4-BE49-F238E27FC236}">
                  <a16:creationId xmlns:a16="http://schemas.microsoft.com/office/drawing/2014/main" id="{85521021-B396-A46C-50F0-606B6EC31F51}"/>
                </a:ext>
              </a:extLst>
            </p:cNvPr>
            <p:cNvSpPr txBox="1"/>
            <p:nvPr/>
          </p:nvSpPr>
          <p:spPr>
            <a:xfrm>
              <a:off x="9832678" y="2934652"/>
              <a:ext cx="71814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↓ 损耗</a:t>
              </a:r>
            </a:p>
          </p:txBody>
        </p:sp>
        <p:sp>
          <p:nvSpPr>
            <p:cNvPr id="61" name="TextBox 31">
              <a:extLst>
                <a:ext uri="{FF2B5EF4-FFF2-40B4-BE49-F238E27FC236}">
                  <a16:creationId xmlns:a16="http://schemas.microsoft.com/office/drawing/2014/main" id="{49229509-116D-6511-EA27-637B50180DE6}"/>
                </a:ext>
              </a:extLst>
            </p:cNvPr>
            <p:cNvSpPr txBox="1"/>
            <p:nvPr/>
          </p:nvSpPr>
          <p:spPr>
            <a:xfrm>
              <a:off x="8125421" y="3457575"/>
              <a:ext cx="18466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透明内部结构</a:t>
              </a:r>
            </a:p>
          </p:txBody>
        </p:sp>
        <p:sp>
          <p:nvSpPr>
            <p:cNvPr id="62" name="TextBox 32">
              <a:extLst>
                <a:ext uri="{FF2B5EF4-FFF2-40B4-BE49-F238E27FC236}">
                  <a16:creationId xmlns:a16="http://schemas.microsoft.com/office/drawing/2014/main" id="{627B9B5E-D746-717E-E831-3D07DD6ABCAE}"/>
                </a:ext>
              </a:extLst>
            </p:cNvPr>
            <p:cNvSpPr txBox="1"/>
            <p:nvPr/>
          </p:nvSpPr>
          <p:spPr>
            <a:xfrm>
              <a:off x="8151068" y="3854768"/>
              <a:ext cx="179536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dirty="0">
                  <a:solidFill>
                    <a:schemeClr val="accent5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量化各环节耗散</a:t>
              </a:r>
            </a:p>
          </p:txBody>
        </p:sp>
        <p:sp>
          <p:nvSpPr>
            <p:cNvPr id="63" name="TextBox 33">
              <a:extLst>
                <a:ext uri="{FF2B5EF4-FFF2-40B4-BE49-F238E27FC236}">
                  <a16:creationId xmlns:a16="http://schemas.microsoft.com/office/drawing/2014/main" id="{CEC0DA79-0C04-E198-000F-B84DD30AA9C6}"/>
                </a:ext>
              </a:extLst>
            </p:cNvPr>
            <p:cNvSpPr txBox="1"/>
            <p:nvPr/>
          </p:nvSpPr>
          <p:spPr>
            <a:xfrm>
              <a:off x="7509867" y="4600575"/>
              <a:ext cx="307776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dk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解析内部能量转换过程</a:t>
              </a:r>
            </a:p>
          </p:txBody>
        </p:sp>
        <p:sp>
          <p:nvSpPr>
            <p:cNvPr id="64" name="TextBox 34">
              <a:extLst>
                <a:ext uri="{FF2B5EF4-FFF2-40B4-BE49-F238E27FC236}">
                  <a16:creationId xmlns:a16="http://schemas.microsoft.com/office/drawing/2014/main" id="{09EEB880-F6A8-EA56-C9BC-0621F2FECB5A}"/>
                </a:ext>
              </a:extLst>
            </p:cNvPr>
            <p:cNvSpPr txBox="1"/>
            <p:nvPr/>
          </p:nvSpPr>
          <p:spPr>
            <a:xfrm>
              <a:off x="7432925" y="4981575"/>
              <a:ext cx="323165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27AE6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→ 适合细节分析与优化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F80C0B65-E89A-7B33-E8FD-5FD2CF10E3EF}"/>
              </a:ext>
            </a:extLst>
          </p:cNvPr>
          <p:cNvSpPr txBox="1"/>
          <p:nvPr/>
        </p:nvSpPr>
        <p:spPr>
          <a:xfrm>
            <a:off x="0" y="45005"/>
            <a:ext cx="584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㶲流建模与量质协同</a:t>
            </a:r>
          </a:p>
        </p:txBody>
      </p:sp>
    </p:spTree>
    <p:extLst>
      <p:ext uri="{BB962C8B-B14F-4D97-AF65-F5344CB8AC3E}">
        <p14:creationId xmlns:p14="http://schemas.microsoft.com/office/powerpoint/2010/main" val="1873329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96A56-DE84-413D-580F-E7FC48DE6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" descr="D:\研1\溶酶体\1003剪影\剪影红 低版本.png剪影红 低版本">
            <a:extLst>
              <a:ext uri="{FF2B5EF4-FFF2-40B4-BE49-F238E27FC236}">
                <a16:creationId xmlns:a16="http://schemas.microsoft.com/office/drawing/2014/main" id="{266CB0E4-80EB-C319-5E23-18B2FC8758A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-71120" y="5483912"/>
            <a:ext cx="12183880" cy="243677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3009531-C1E8-D582-4D6F-90D09CBA02A5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五边形 22">
            <a:extLst>
              <a:ext uri="{FF2B5EF4-FFF2-40B4-BE49-F238E27FC236}">
                <a16:creationId xmlns:a16="http://schemas.microsoft.com/office/drawing/2014/main" id="{6771B2FE-E45E-A713-3A58-03248D7F24D5}"/>
              </a:ext>
            </a:extLst>
          </p:cNvPr>
          <p:cNvSpPr/>
          <p:nvPr/>
        </p:nvSpPr>
        <p:spPr>
          <a:xfrm>
            <a:off x="-1" y="962580"/>
            <a:ext cx="12476747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2F2F2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2205149-1391-3931-8C8E-68D9CB20C4FA}"/>
              </a:ext>
            </a:extLst>
          </p:cNvPr>
          <p:cNvSpPr txBox="1"/>
          <p:nvPr/>
        </p:nvSpPr>
        <p:spPr>
          <a:xfrm>
            <a:off x="60967" y="1025341"/>
            <a:ext cx="101297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㶲流建模</a:t>
            </a: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一个范式：㶲流 </a:t>
            </a: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㶲势 </a:t>
            </a: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 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流率</a:t>
            </a:r>
          </a:p>
          <a:p>
            <a:endParaRPr lang="zh-CN" alt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5A92B8-08EE-654A-4DF7-E6EC58102CCD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6E44BE1-2D26-B9BF-2CEA-A3E88FD44A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07376" y="134657"/>
            <a:ext cx="2468798" cy="438897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BCDA0FE5-D9B1-C1E2-3F05-3161EF75F7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151" y="1666240"/>
            <a:ext cx="4150432" cy="23523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E795CBE-930A-A343-6F5B-2C4BAD8189E0}"/>
                  </a:ext>
                </a:extLst>
              </p:cNvPr>
              <p:cNvSpPr txBox="1"/>
              <p:nvPr/>
            </p:nvSpPr>
            <p:spPr>
              <a:xfrm>
                <a:off x="905000" y="4335786"/>
                <a:ext cx="2904734" cy="15870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real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  <m:acc>
                                    <m:accPr>
                                      <m:chr m:val="̇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</m:acc>
                                  <m:acc>
                                    <m:accPr>
                                      <m:chr m:val="̇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real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𝑈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̇"/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𝑈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acc>
                                    <m:accPr>
                                      <m:chr m:val="̇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real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  <m:acc>
                                    <m:accPr>
                                      <m:chr m:val="̇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</m:acc>
                                  <m:acc>
                                    <m:accPr>
                                      <m:chr m:val="̇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real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  <m:acc>
                                    <m:accPr>
                                      <m:chr m:val="̇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</m:acc>
                                  <m:acc>
                                    <m:accPr>
                                      <m:chr m:val="̇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E795CBE-930A-A343-6F5B-2C4BAD818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000" y="4335786"/>
                <a:ext cx="2904734" cy="15870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540D276A-498D-4A2C-4C7C-1C8CA083F0DE}"/>
              </a:ext>
            </a:extLst>
          </p:cNvPr>
          <p:cNvSpPr txBox="1"/>
          <p:nvPr/>
        </p:nvSpPr>
        <p:spPr>
          <a:xfrm>
            <a:off x="0" y="45005"/>
            <a:ext cx="584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㶲流建模与量质协同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AAABC54-4544-3E52-E92E-2B14720CEF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2583" y="1604650"/>
            <a:ext cx="3832001" cy="254975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7AA0D06-A8C0-4368-5955-83B2AE0A57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4584" y="1666240"/>
            <a:ext cx="3576149" cy="28414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1E60014-6DFF-CD61-F252-6238E4C0447B}"/>
                  </a:ext>
                </a:extLst>
              </p:cNvPr>
              <p:cNvSpPr txBox="1"/>
              <p:nvPr/>
            </p:nvSpPr>
            <p:spPr>
              <a:xfrm>
                <a:off x="3251901" y="4496598"/>
                <a:ext cx="6193366" cy="1340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1E60014-6DFF-CD61-F252-6238E4C04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901" y="4496598"/>
                <a:ext cx="6193366" cy="13408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871BF4D-DAD0-2449-0CA2-8DAD234E86F1}"/>
                  </a:ext>
                </a:extLst>
              </p:cNvPr>
              <p:cNvSpPr txBox="1"/>
              <p:nvPr/>
            </p:nvSpPr>
            <p:spPr>
              <a:xfrm>
                <a:off x="9053081" y="4450216"/>
                <a:ext cx="2116235" cy="14452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𝑠𝐿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𝑞𝐿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𝑜𝐿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𝑞𝐿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𝑟𝑆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𝑞𝑆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871BF4D-DAD0-2449-0CA2-8DAD234E8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3081" y="4450216"/>
                <a:ext cx="2116235" cy="14452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33E7919B-4415-CEC5-86FA-F9F69E924FA4}"/>
              </a:ext>
            </a:extLst>
          </p:cNvPr>
          <p:cNvSpPr/>
          <p:nvPr/>
        </p:nvSpPr>
        <p:spPr>
          <a:xfrm>
            <a:off x="1168400" y="6015760"/>
            <a:ext cx="2286000" cy="599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电力系统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0C21D60-80EE-F1E2-4AB1-12BE5AF5F42F}"/>
              </a:ext>
            </a:extLst>
          </p:cNvPr>
          <p:cNvSpPr/>
          <p:nvPr/>
        </p:nvSpPr>
        <p:spPr>
          <a:xfrm>
            <a:off x="5163956" y="6015760"/>
            <a:ext cx="2286000" cy="599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天然气系统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EE30B07-6D3E-9383-45E5-84A68E4FE3BE}"/>
              </a:ext>
            </a:extLst>
          </p:cNvPr>
          <p:cNvSpPr/>
          <p:nvPr/>
        </p:nvSpPr>
        <p:spPr>
          <a:xfrm>
            <a:off x="9159512" y="6015760"/>
            <a:ext cx="2286000" cy="599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热力系统</a:t>
            </a:r>
          </a:p>
        </p:txBody>
      </p:sp>
    </p:spTree>
    <p:extLst>
      <p:ext uri="{BB962C8B-B14F-4D97-AF65-F5344CB8AC3E}">
        <p14:creationId xmlns:p14="http://schemas.microsoft.com/office/powerpoint/2010/main" val="2639715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7D9F3-3F46-04BD-27B0-E412166F3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箭头: 五边形 11">
            <a:extLst>
              <a:ext uri="{FF2B5EF4-FFF2-40B4-BE49-F238E27FC236}">
                <a16:creationId xmlns:a16="http://schemas.microsoft.com/office/drawing/2014/main" id="{AE134AC0-D8F1-2157-C766-01438C85A668}"/>
              </a:ext>
            </a:extLst>
          </p:cNvPr>
          <p:cNvSpPr/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839ACA2-4971-46CB-9705-A39AA30CDCD2}"/>
              </a:ext>
            </a:extLst>
          </p:cNvPr>
          <p:cNvSpPr txBox="1"/>
          <p:nvPr/>
        </p:nvSpPr>
        <p:spPr>
          <a:xfrm>
            <a:off x="60968" y="1025341"/>
            <a:ext cx="540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zh-CN" altLang="en-US" sz="2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传统多能流状态估计的四重不足</a:t>
            </a:r>
            <a:endParaRPr lang="en-US" altLang="zh-CN" sz="2400" dirty="0">
              <a:solidFill>
                <a:schemeClr val="bg1"/>
              </a:solidFill>
              <a:latin typeface="Calibri" panose="020F0502020204030204"/>
            </a:endParaRPr>
          </a:p>
        </p:txBody>
      </p:sp>
      <p:pic>
        <p:nvPicPr>
          <p:cNvPr id="27" name="图片 2" descr="D:\研1\溶酶体\1003剪影\剪影红 低版本.png剪影红 低版本">
            <a:extLst>
              <a:ext uri="{FF2B5EF4-FFF2-40B4-BE49-F238E27FC236}">
                <a16:creationId xmlns:a16="http://schemas.microsoft.com/office/drawing/2014/main" id="{0816D839-9BAA-D27D-21E2-81BE24714DE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-71120" y="5483912"/>
            <a:ext cx="12183880" cy="243677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195AA74-642B-73FA-911D-099D735D9B8F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48F979E-A740-0A11-EC3C-4226202053BD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D02CF195-8453-07E8-0654-4B0D7155A1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07376" y="134657"/>
            <a:ext cx="2468798" cy="438897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332C54E1-E97C-628D-F0A6-C3A1DD793D3E}"/>
              </a:ext>
            </a:extLst>
          </p:cNvPr>
          <p:cNvSpPr/>
          <p:nvPr/>
        </p:nvSpPr>
        <p:spPr>
          <a:xfrm>
            <a:off x="1063829" y="1974258"/>
            <a:ext cx="3066469" cy="127861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b="1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状态量维度单一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仅能量流参数</a:t>
            </a:r>
            <a:endParaRPr lang="en-US" altLang="zh-CN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缺少能质状态量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762CCBA-197F-077C-556F-0539F0036AF4}"/>
              </a:ext>
            </a:extLst>
          </p:cNvPr>
          <p:cNvSpPr/>
          <p:nvPr/>
        </p:nvSpPr>
        <p:spPr>
          <a:xfrm>
            <a:off x="1063828" y="4003050"/>
            <a:ext cx="3066469" cy="12786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无法定位品质流失</a:t>
            </a:r>
            <a:endParaRPr lang="en-US" altLang="zh-CN" sz="2400" dirty="0">
              <a:solidFill>
                <a:schemeClr val="accent5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仅发现故障位置</a:t>
            </a:r>
            <a:endParaRPr lang="en-US" altLang="zh-CN" dirty="0">
              <a:solidFill>
                <a:schemeClr val="accent5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无法识别贬值环节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DE85646-DC46-D0F1-BEDD-A96CE6C19FAA}"/>
              </a:ext>
            </a:extLst>
          </p:cNvPr>
          <p:cNvSpPr/>
          <p:nvPr/>
        </p:nvSpPr>
        <p:spPr>
          <a:xfrm>
            <a:off x="8061702" y="2037021"/>
            <a:ext cx="3066469" cy="127861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>
                <a:solidFill>
                  <a:schemeClr val="accent4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量纲难以统一</a:t>
            </a:r>
            <a:endParaRPr lang="en-US" altLang="zh-CN" sz="2400" dirty="0">
              <a:solidFill>
                <a:schemeClr val="accent4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多介质单位不统一</a:t>
            </a:r>
            <a:endParaRPr lang="en-US" altLang="zh-CN" dirty="0">
              <a:solidFill>
                <a:schemeClr val="accent4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掩盖品质差异</a:t>
            </a:r>
            <a:endParaRPr lang="zh-CN" altLang="en-US" dirty="0">
              <a:solidFill>
                <a:schemeClr val="accent4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05765C0-E11C-785C-3001-6A4A65E762EA}"/>
              </a:ext>
            </a:extLst>
          </p:cNvPr>
          <p:cNvSpPr/>
          <p:nvPr/>
        </p:nvSpPr>
        <p:spPr>
          <a:xfrm>
            <a:off x="8061701" y="4065813"/>
            <a:ext cx="3066469" cy="127861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>
                <a:solidFill>
                  <a:schemeClr val="accent6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不良数据辨识弱</a:t>
            </a:r>
            <a:endParaRPr lang="en-US" altLang="zh-CN" sz="2400" dirty="0">
              <a:solidFill>
                <a:schemeClr val="accent6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缺乏㶲平衡约束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估计合格率下降</a:t>
            </a:r>
            <a:endParaRPr lang="zh-CN" altLang="en-US" dirty="0">
              <a:solidFill>
                <a:schemeClr val="accent6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8779292-211A-854C-4044-9C4B2FD2E498}"/>
              </a:ext>
            </a:extLst>
          </p:cNvPr>
          <p:cNvSpPr/>
          <p:nvPr/>
        </p:nvSpPr>
        <p:spPr>
          <a:xfrm>
            <a:off x="4739898" y="3159223"/>
            <a:ext cx="2712203" cy="11176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传统多能流</a:t>
            </a:r>
            <a:endParaRPr lang="en-US" altLang="zh-CN" sz="2400" b="1" dirty="0">
              <a:solidFill>
                <a:schemeClr val="bg1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状态估计</a:t>
            </a:r>
            <a:endParaRPr lang="zh-CN" altLang="en-US" sz="2400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DB47428-77CA-36B1-4469-9B515945B878}"/>
              </a:ext>
            </a:extLst>
          </p:cNvPr>
          <p:cNvCxnSpPr>
            <a:stCxn id="2" idx="3"/>
            <a:endCxn id="14" idx="1"/>
          </p:cNvCxnSpPr>
          <p:nvPr/>
        </p:nvCxnSpPr>
        <p:spPr>
          <a:xfrm>
            <a:off x="4130298" y="2613563"/>
            <a:ext cx="1006793" cy="709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8B2FA49-CAE4-D0C9-5D52-EAB57C201CEA}"/>
              </a:ext>
            </a:extLst>
          </p:cNvPr>
          <p:cNvCxnSpPr>
            <a:stCxn id="6" idx="3"/>
            <a:endCxn id="14" idx="3"/>
          </p:cNvCxnSpPr>
          <p:nvPr/>
        </p:nvCxnSpPr>
        <p:spPr>
          <a:xfrm flipV="1">
            <a:off x="4130297" y="4113200"/>
            <a:ext cx="1006794" cy="529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775D3C7-E704-A69D-2F3C-B855D5FA59A6}"/>
              </a:ext>
            </a:extLst>
          </p:cNvPr>
          <p:cNvCxnSpPr>
            <a:stCxn id="9" idx="1"/>
            <a:endCxn id="14" idx="7"/>
          </p:cNvCxnSpPr>
          <p:nvPr/>
        </p:nvCxnSpPr>
        <p:spPr>
          <a:xfrm flipH="1">
            <a:off x="7054908" y="2676326"/>
            <a:ext cx="1006794" cy="646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C84B695E-CF82-29F7-BB43-5B987AA66020}"/>
              </a:ext>
            </a:extLst>
          </p:cNvPr>
          <p:cNvCxnSpPr>
            <a:stCxn id="13" idx="1"/>
            <a:endCxn id="14" idx="5"/>
          </p:cNvCxnSpPr>
          <p:nvPr/>
        </p:nvCxnSpPr>
        <p:spPr>
          <a:xfrm flipH="1" flipV="1">
            <a:off x="7054908" y="4113200"/>
            <a:ext cx="1006793" cy="591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1E9F515-E0D6-4690-C2DF-C19509504A1E}"/>
              </a:ext>
            </a:extLst>
          </p:cNvPr>
          <p:cNvSpPr txBox="1"/>
          <p:nvPr/>
        </p:nvSpPr>
        <p:spPr>
          <a:xfrm>
            <a:off x="0" y="45005"/>
            <a:ext cx="584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㶲流建模与量质协同</a:t>
            </a:r>
          </a:p>
        </p:txBody>
      </p:sp>
    </p:spTree>
    <p:extLst>
      <p:ext uri="{BB962C8B-B14F-4D97-AF65-F5344CB8AC3E}">
        <p14:creationId xmlns:p14="http://schemas.microsoft.com/office/powerpoint/2010/main" val="3618636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9D7F7-3FF6-73B1-0B0F-7C5D0F914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箭头: 五边形 11">
            <a:extLst>
              <a:ext uri="{FF2B5EF4-FFF2-40B4-BE49-F238E27FC236}">
                <a16:creationId xmlns:a16="http://schemas.microsoft.com/office/drawing/2014/main" id="{B073A1BF-656B-2C4E-82CB-4B0292CBFF09}"/>
              </a:ext>
            </a:extLst>
          </p:cNvPr>
          <p:cNvSpPr/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58BB8DB-D24D-6E9D-DC00-ACCAA291A063}"/>
              </a:ext>
            </a:extLst>
          </p:cNvPr>
          <p:cNvSpPr txBox="1"/>
          <p:nvPr/>
        </p:nvSpPr>
        <p:spPr>
          <a:xfrm>
            <a:off x="60968" y="1025341"/>
            <a:ext cx="540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zh-CN" altLang="en-US" sz="2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能流</a:t>
            </a:r>
            <a:r>
              <a:rPr lang="en-US" altLang="zh-CN" sz="2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r>
              <a:rPr lang="zh-CN" altLang="en-US" sz="2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㶲流参数协同求解</a:t>
            </a:r>
            <a:endParaRPr lang="en-US" altLang="zh-CN" sz="2400" dirty="0">
              <a:solidFill>
                <a:schemeClr val="bg1"/>
              </a:solidFill>
              <a:latin typeface="Calibri" panose="020F0502020204030204"/>
            </a:endParaRPr>
          </a:p>
        </p:txBody>
      </p:sp>
      <p:pic>
        <p:nvPicPr>
          <p:cNvPr id="27" name="图片 2" descr="D:\研1\溶酶体\1003剪影\剪影红 低版本.png剪影红 低版本">
            <a:extLst>
              <a:ext uri="{FF2B5EF4-FFF2-40B4-BE49-F238E27FC236}">
                <a16:creationId xmlns:a16="http://schemas.microsoft.com/office/drawing/2014/main" id="{5692DBF6-5275-BBF3-60C4-EC4D4FB37A0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-71120" y="5483912"/>
            <a:ext cx="12183880" cy="243677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7D9E8FEB-666F-6F5D-6548-BD91DF8543E6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1F8D6E-54E2-05EF-1773-46A5B82B53D5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078F3B86-15CA-FA8C-A76F-978B1FE452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07376" y="134657"/>
            <a:ext cx="2468798" cy="438897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B8A5E1F5-C482-153D-DE9F-4929E91BB9E3}"/>
              </a:ext>
            </a:extLst>
          </p:cNvPr>
          <p:cNvSpPr/>
          <p:nvPr/>
        </p:nvSpPr>
        <p:spPr>
          <a:xfrm>
            <a:off x="255722" y="2208509"/>
            <a:ext cx="5570037" cy="295242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2800"/>
              </a:lnSpc>
            </a:pPr>
            <a:r>
              <a:rPr lang="en-US" altLang="zh-CN" sz="20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①</a:t>
            </a:r>
            <a:r>
              <a:rPr lang="en-US" altLang="zh-CN" sz="2000" dirty="0" err="1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求解多能流状态估计，得到电压</a:t>
            </a:r>
            <a:r>
              <a:rPr lang="en-US" altLang="zh-CN" sz="20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/</a:t>
            </a:r>
            <a:r>
              <a:rPr lang="en-US" altLang="zh-CN" sz="2000" dirty="0" err="1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气压</a:t>
            </a:r>
            <a:r>
              <a:rPr lang="en-US" altLang="zh-CN" sz="20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/</a:t>
            </a:r>
            <a:r>
              <a:rPr lang="en-US" altLang="zh-CN" sz="2000" dirty="0" err="1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温度</a:t>
            </a:r>
            <a:r>
              <a:rPr lang="en-US" altLang="zh-CN" sz="20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/</a:t>
            </a:r>
            <a:r>
              <a:rPr lang="en-US" altLang="zh-CN" sz="2000" dirty="0" err="1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流量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>
              <a:lnSpc>
                <a:spcPts val="2800"/>
              </a:lnSpc>
            </a:pPr>
            <a:r>
              <a:rPr lang="en-US" altLang="zh-CN" sz="20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②</a:t>
            </a:r>
            <a:r>
              <a:rPr lang="en-US" altLang="zh-CN" sz="2000" dirty="0" err="1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由㶲势公式折算各系统节点㶲势</a:t>
            </a:r>
            <a:r>
              <a:rPr lang="en-US" altLang="zh-CN" sz="20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 </a:t>
            </a:r>
            <a:r>
              <a:rPr lang="en-US" altLang="zh-CN" sz="2000" dirty="0" err="1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p_e、p_g、p_h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>
              <a:lnSpc>
                <a:spcPts val="2800"/>
              </a:lnSpc>
            </a:pPr>
            <a:r>
              <a:rPr lang="en-US" altLang="zh-CN" sz="20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③由 e = </a:t>
            </a:r>
            <a:r>
              <a:rPr lang="en-US" altLang="zh-CN" sz="2000" dirty="0" err="1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p·m</a:t>
            </a:r>
            <a:r>
              <a:rPr lang="en-US" altLang="zh-CN" sz="20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 </a:t>
            </a:r>
            <a:r>
              <a:rPr lang="en-US" altLang="zh-CN" sz="2000" dirty="0" err="1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计算支路㶲流、㶲损、源荷㶲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>
              <a:lnSpc>
                <a:spcPts val="2800"/>
              </a:lnSpc>
            </a:pPr>
            <a:r>
              <a:rPr lang="en-US" altLang="zh-CN" sz="20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④</a:t>
            </a:r>
            <a:r>
              <a:rPr lang="en-US" altLang="zh-CN" sz="2000" dirty="0" err="1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以㶲平衡关系校核，输出量质协同状态断面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BE6BE79-5951-62C5-02C3-5522BB98C696}"/>
              </a:ext>
            </a:extLst>
          </p:cNvPr>
          <p:cNvSpPr/>
          <p:nvPr/>
        </p:nvSpPr>
        <p:spPr>
          <a:xfrm>
            <a:off x="6366241" y="2208509"/>
            <a:ext cx="5570037" cy="295242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2800"/>
              </a:lnSpc>
            </a:pPr>
            <a:r>
              <a:rPr lang="zh-CN" altLang="en-US" sz="20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①将能量流量测方程与㶲平衡约束写入同一估计模型</a:t>
            </a:r>
            <a:endParaRPr lang="en-US" altLang="zh-CN" sz="2000" dirty="0">
              <a:solidFill>
                <a:srgbClr val="152A3B"/>
              </a:solidFill>
              <a:latin typeface="Times New Roman" panose="02020603050405020304" pitchFamily="18" charset="0"/>
              <a:ea typeface="黑体" panose="02010609060101010101" pitchFamily="49" charset="-122"/>
              <a:cs typeface="Microsoft YaHei" pitchFamily="34" charset="-120"/>
            </a:endParaRPr>
          </a:p>
          <a:p>
            <a:pPr algn="just">
              <a:lnSpc>
                <a:spcPts val="2800"/>
              </a:lnSpc>
            </a:pPr>
            <a:r>
              <a:rPr lang="zh-CN" altLang="en-US" sz="20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②状态量同时包含能流变量与㶲流变量（</a:t>
            </a:r>
            <a:r>
              <a:rPr lang="en-US" altLang="zh-CN" sz="20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U</a:t>
            </a:r>
            <a:r>
              <a:rPr lang="zh-CN" altLang="en-US" sz="20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、</a:t>
            </a:r>
            <a:r>
              <a:rPr lang="en-US" altLang="zh-CN" sz="20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p</a:t>
            </a:r>
            <a:r>
              <a:rPr lang="zh-CN" altLang="en-US" sz="20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、</a:t>
            </a:r>
            <a:r>
              <a:rPr lang="en-US" altLang="zh-CN" sz="20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f</a:t>
            </a:r>
            <a:r>
              <a:rPr lang="zh-CN" altLang="en-US" sz="20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、</a:t>
            </a:r>
            <a:r>
              <a:rPr lang="en-US" altLang="zh-CN" sz="20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e</a:t>
            </a:r>
            <a:r>
              <a:rPr lang="zh-CN" altLang="en-US" sz="20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）</a:t>
            </a:r>
          </a:p>
          <a:p>
            <a:pPr algn="just">
              <a:lnSpc>
                <a:spcPts val="2800"/>
              </a:lnSpc>
            </a:pPr>
            <a:r>
              <a:rPr lang="zh-CN" altLang="en-US" sz="20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③以加权最小二乘</a:t>
            </a:r>
            <a:r>
              <a:rPr lang="en-US" altLang="zh-CN" sz="20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/</a:t>
            </a:r>
            <a:r>
              <a:rPr lang="zh-CN" altLang="en-US" sz="20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抗差估计一次性联立求解</a:t>
            </a:r>
          </a:p>
          <a:p>
            <a:pPr algn="just">
              <a:lnSpc>
                <a:spcPts val="2800"/>
              </a:lnSpc>
            </a:pPr>
            <a:r>
              <a:rPr lang="zh-CN" altLang="en-US" sz="20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④冗余度更高，可辨识能量与能质双重不良数据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5CE2E92-525B-67B4-2F2A-012C8D31BD65}"/>
              </a:ext>
            </a:extLst>
          </p:cNvPr>
          <p:cNvSpPr txBox="1"/>
          <p:nvPr/>
        </p:nvSpPr>
        <p:spPr>
          <a:xfrm>
            <a:off x="947859" y="1746844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间接算法（先能流、后㶲流</a:t>
            </a:r>
            <a:r>
              <a:rPr lang="en-US" altLang="zh-CN" sz="24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altLang="zh-CN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C6809FB-89F7-3E7B-C386-917840692D8B}"/>
              </a:ext>
            </a:extLst>
          </p:cNvPr>
          <p:cNvSpPr txBox="1"/>
          <p:nvPr/>
        </p:nvSpPr>
        <p:spPr>
          <a:xfrm>
            <a:off x="6738579" y="1746844"/>
            <a:ext cx="4825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err="1">
                <a:solidFill>
                  <a:srgbClr val="3A25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直接算法（能流</a:t>
            </a:r>
            <a:r>
              <a:rPr lang="en-US" altLang="zh-CN" sz="2400" b="1" dirty="0">
                <a:solidFill>
                  <a:srgbClr val="3A25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r>
              <a:rPr lang="en-US" altLang="zh-CN" sz="2400" b="1" dirty="0" err="1">
                <a:solidFill>
                  <a:srgbClr val="3A25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㶲流联立求解</a:t>
            </a:r>
            <a:r>
              <a:rPr lang="en-US" altLang="zh-CN" sz="2400" b="1" dirty="0">
                <a:solidFill>
                  <a:srgbClr val="3A25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altLang="zh-CN" sz="2400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B50231A-1157-211D-54A9-CD5E3654AC17}"/>
              </a:ext>
            </a:extLst>
          </p:cNvPr>
          <p:cNvSpPr/>
          <p:nvPr/>
        </p:nvSpPr>
        <p:spPr>
          <a:xfrm>
            <a:off x="1660258" y="5421149"/>
            <a:ext cx="2448731" cy="10796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accent5">
                    <a:lumMod val="5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故障定位与诊断</a:t>
            </a:r>
            <a:endParaRPr lang="en-US" altLang="zh-CN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en-US" altLang="zh-CN" sz="1400" dirty="0" err="1">
                <a:solidFill>
                  <a:schemeClr val="accent5">
                    <a:lumMod val="75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㶲势、㶲流、㶲损分布可准确反映故障位置和信息</a:t>
            </a:r>
            <a:endParaRPr lang="en-US" altLang="zh-CN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DF362DC8-6726-268A-0FA1-D2642228638C}"/>
              </a:ext>
            </a:extLst>
          </p:cNvPr>
          <p:cNvSpPr/>
          <p:nvPr/>
        </p:nvSpPr>
        <p:spPr>
          <a:xfrm>
            <a:off x="4871634" y="5421149"/>
            <a:ext cx="2448731" cy="10796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运行风险提前预警</a:t>
            </a:r>
          </a:p>
          <a:p>
            <a:pPr algn="ctr"/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识别越限风险、元件受损等隐患的具体位置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079A4ADB-0F04-03AD-5A8A-5A2FA7FC42D0}"/>
              </a:ext>
            </a:extLst>
          </p:cNvPr>
          <p:cNvSpPr/>
          <p:nvPr/>
        </p:nvSpPr>
        <p:spPr>
          <a:xfrm>
            <a:off x="8083010" y="5421149"/>
            <a:ext cx="2448731" cy="10796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调度决策支撑</a:t>
            </a:r>
          </a:p>
          <a:p>
            <a:pPr algn="ctr"/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调整源端</a:t>
            </a:r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负荷以改变㶲流分布，实现量质协同提升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342C28-2E09-0628-83E5-1E39B35CE017}"/>
              </a:ext>
            </a:extLst>
          </p:cNvPr>
          <p:cNvSpPr txBox="1"/>
          <p:nvPr/>
        </p:nvSpPr>
        <p:spPr>
          <a:xfrm>
            <a:off x="0" y="45005"/>
            <a:ext cx="584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㶲流建模与量质协同</a:t>
            </a:r>
          </a:p>
        </p:txBody>
      </p:sp>
    </p:spTree>
    <p:extLst>
      <p:ext uri="{BB962C8B-B14F-4D97-AF65-F5344CB8AC3E}">
        <p14:creationId xmlns:p14="http://schemas.microsoft.com/office/powerpoint/2010/main" val="2652077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07727-B938-FA6F-68F3-4C5E26C56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箭头: 五边形 11">
            <a:extLst>
              <a:ext uri="{FF2B5EF4-FFF2-40B4-BE49-F238E27FC236}">
                <a16:creationId xmlns:a16="http://schemas.microsoft.com/office/drawing/2014/main" id="{53644F06-A2A3-E7E1-3D47-BA349FD7E7CA}"/>
              </a:ext>
            </a:extLst>
          </p:cNvPr>
          <p:cNvSpPr/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A4766B7-565F-B38E-CF56-4341D8AEF82A}"/>
              </a:ext>
            </a:extLst>
          </p:cNvPr>
          <p:cNvSpPr txBox="1"/>
          <p:nvPr/>
        </p:nvSpPr>
        <p:spPr>
          <a:xfrm>
            <a:off x="60968" y="1025341"/>
            <a:ext cx="540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zh-CN" altLang="en-US" sz="2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㶲流追踪：源</a:t>
            </a:r>
            <a:r>
              <a:rPr lang="en-US" altLang="zh-CN" sz="2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r>
              <a:rPr lang="zh-CN" altLang="en-US" sz="2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</a:t>
            </a:r>
            <a:r>
              <a:rPr lang="en-US" altLang="zh-CN" sz="2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r>
              <a:rPr lang="zh-CN" altLang="en-US" sz="2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</a:t>
            </a:r>
            <a:endParaRPr lang="en-US" altLang="zh-CN" sz="2400" dirty="0">
              <a:solidFill>
                <a:schemeClr val="bg1"/>
              </a:solidFill>
              <a:latin typeface="Calibri" panose="020F0502020204030204"/>
            </a:endParaRPr>
          </a:p>
        </p:txBody>
      </p:sp>
      <p:pic>
        <p:nvPicPr>
          <p:cNvPr id="27" name="图片 2" descr="D:\研1\溶酶体\1003剪影\剪影红 低版本.png剪影红 低版本">
            <a:extLst>
              <a:ext uri="{FF2B5EF4-FFF2-40B4-BE49-F238E27FC236}">
                <a16:creationId xmlns:a16="http://schemas.microsoft.com/office/drawing/2014/main" id="{0D48CE48-0E91-4E2B-620C-0CEED519EE0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-71120" y="5483912"/>
            <a:ext cx="12183880" cy="243677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03E2841-0702-3CCF-1A7A-A1ADF5C5184B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16B39E5-FE64-21E4-CD03-F2FC30C4A5CD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638DDCAC-87B8-6F47-9006-5528C31BC9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07376" y="134657"/>
            <a:ext cx="2468798" cy="438897"/>
          </a:xfrm>
          <a:prstGeom prst="rect">
            <a:avLst/>
          </a:prstGeom>
        </p:spPr>
      </p:pic>
      <p:sp>
        <p:nvSpPr>
          <p:cNvPr id="3" name="Text 5">
            <a:extLst>
              <a:ext uri="{FF2B5EF4-FFF2-40B4-BE49-F238E27FC236}">
                <a16:creationId xmlns:a16="http://schemas.microsoft.com/office/drawing/2014/main" id="{948DF303-78EA-91D2-5153-6474AADE086A}"/>
              </a:ext>
            </a:extLst>
          </p:cNvPr>
          <p:cNvSpPr/>
          <p:nvPr/>
        </p:nvSpPr>
        <p:spPr>
          <a:xfrm>
            <a:off x="682752" y="1696073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52A3B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crosoft YaHei" pitchFamily="34" charset="-120"/>
              </a:rPr>
              <a:t>无㶲损化：e_Node = e_N + |A|·Δe_loss / 2　→　将管线㶲损由两端节点承担</a:t>
            </a:r>
            <a:endParaRPr 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C09B152-2146-0098-64BB-4644EF5A2380}"/>
              </a:ext>
            </a:extLst>
          </p:cNvPr>
          <p:cNvSpPr/>
          <p:nvPr/>
        </p:nvSpPr>
        <p:spPr>
          <a:xfrm>
            <a:off x="670560" y="2414016"/>
            <a:ext cx="3425952" cy="163154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B2B45">
                <a:alpha val="10000"/>
              </a:srgbClr>
            </a:outerShdw>
          </a:effectLst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5875831-FB28-83F2-BF2E-9AB2B05D2B51}"/>
              </a:ext>
            </a:extLst>
          </p:cNvPr>
          <p:cNvSpPr/>
          <p:nvPr/>
        </p:nvSpPr>
        <p:spPr>
          <a:xfrm>
            <a:off x="938784" y="25847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B2B45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crosoft YaHei" pitchFamily="34" charset="-120"/>
              </a:rPr>
              <a:t>顺序㶲流追踪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08CF525D-2B70-BF58-1F62-DC766847760A}"/>
              </a:ext>
            </a:extLst>
          </p:cNvPr>
          <p:cNvSpPr/>
          <p:nvPr/>
        </p:nvSpPr>
        <p:spPr>
          <a:xfrm>
            <a:off x="938784" y="3048000"/>
            <a:ext cx="29870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e_load = D_S−L · e_source</a:t>
            </a:r>
            <a:endParaRPr lang="en-US" sz="16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Microsoft YaHei" pitchFamily="34" charset="-120"/>
              </a:rPr>
              <a:t>从源端出发，求各源对负荷的㶲贡献</a:t>
            </a:r>
            <a:endParaRPr lang="en-US" sz="16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B251D894-2D72-E5E0-13C6-052DCE48DC47}"/>
              </a:ext>
            </a:extLst>
          </p:cNvPr>
          <p:cNvSpPr/>
          <p:nvPr/>
        </p:nvSpPr>
        <p:spPr>
          <a:xfrm>
            <a:off x="4297680" y="2414017"/>
            <a:ext cx="3425952" cy="16703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B2B45">
                <a:alpha val="10000"/>
              </a:srgbClr>
            </a:outerShdw>
          </a:effectLst>
        </p:spPr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53F2A8D9-71D4-0799-CC48-1C597286B8D9}"/>
              </a:ext>
            </a:extLst>
          </p:cNvPr>
          <p:cNvSpPr/>
          <p:nvPr/>
        </p:nvSpPr>
        <p:spPr>
          <a:xfrm>
            <a:off x="4584192" y="25847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B2B45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crosoft YaHei" pitchFamily="34" charset="-120"/>
              </a:rPr>
              <a:t>逆序㶲流追踪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A66D7FE0-4C0D-5F45-46E2-266B3509DABC}"/>
              </a:ext>
            </a:extLst>
          </p:cNvPr>
          <p:cNvSpPr/>
          <p:nvPr/>
        </p:nvSpPr>
        <p:spPr>
          <a:xfrm>
            <a:off x="4584192" y="3048000"/>
            <a:ext cx="29870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e_load = D_L−P · </a:t>
            </a:r>
            <a:r>
              <a:rPr lang="en-US" sz="1600" dirty="0" err="1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e_noloss</a:t>
            </a:r>
            <a:r>
              <a:rPr lang="en-US" sz="16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sz="1600" dirty="0" err="1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的逆向映射</a:t>
            </a:r>
            <a:endParaRPr lang="en-US" sz="1600" dirty="0">
              <a:solidFill>
                <a:srgbClr val="152A3B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15000"/>
              </a:lnSpc>
            </a:pPr>
            <a:r>
              <a:rPr lang="en-US" sz="1600" dirty="0" err="1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从负荷出发，回溯㶲的来源构成</a:t>
            </a:r>
            <a:endParaRPr lang="en-US" sz="1600" dirty="0">
              <a:solidFill>
                <a:srgbClr val="152A3B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0E82E9AA-643D-F9B5-438C-2A472839A72A}"/>
              </a:ext>
            </a:extLst>
          </p:cNvPr>
          <p:cNvSpPr/>
          <p:nvPr/>
        </p:nvSpPr>
        <p:spPr>
          <a:xfrm>
            <a:off x="7961376" y="2414016"/>
            <a:ext cx="3425952" cy="16703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B2B45">
                <a:alpha val="10000"/>
              </a:srgbClr>
            </a:outerShdw>
          </a:effectLst>
        </p:spPr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70EC96AA-2AFE-FB8C-BDFE-2A45C34F8260}"/>
              </a:ext>
            </a:extLst>
          </p:cNvPr>
          <p:cNvSpPr/>
          <p:nvPr/>
        </p:nvSpPr>
        <p:spPr>
          <a:xfrm>
            <a:off x="8229600" y="25847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B2B45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crosoft YaHei" pitchFamily="34" charset="-120"/>
              </a:rPr>
              <a:t>分配解析追踪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6E3B8FBA-42E8-70D0-62F1-4126BC805724}"/>
              </a:ext>
            </a:extLst>
          </p:cNvPr>
          <p:cNvSpPr/>
          <p:nvPr/>
        </p:nvSpPr>
        <p:spPr>
          <a:xfrm>
            <a:off x="8229600" y="3048000"/>
            <a:ext cx="29870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00" dirty="0" err="1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e_source</a:t>
            </a:r>
            <a:r>
              <a:rPr lang="en-US" sz="16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= diag(e_source)⁻¹·</a:t>
            </a:r>
          </a:p>
          <a:p>
            <a:pPr>
              <a:lnSpc>
                <a:spcPct val="115000"/>
              </a:lnSpc>
            </a:pPr>
            <a:r>
              <a:rPr lang="en-US" sz="1600" dirty="0" err="1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diag</a:t>
            </a:r>
            <a:r>
              <a:rPr lang="en-US" sz="16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(e_Node)⁻¹·e_Node</a:t>
            </a:r>
          </a:p>
          <a:p>
            <a:pPr>
              <a:lnSpc>
                <a:spcPct val="115000"/>
              </a:lnSpc>
            </a:pPr>
            <a:r>
              <a:rPr lang="en-US" sz="1600" dirty="0" err="1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类比电力系统功率分配解析模型</a:t>
            </a:r>
            <a:endParaRPr lang="en-US" sz="1600" dirty="0">
              <a:solidFill>
                <a:srgbClr val="152A3B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7" name="Shape 24">
            <a:extLst>
              <a:ext uri="{FF2B5EF4-FFF2-40B4-BE49-F238E27FC236}">
                <a16:creationId xmlns:a16="http://schemas.microsoft.com/office/drawing/2014/main" id="{5B5F3CF4-F650-FB10-B3C8-E46E692002EC}"/>
              </a:ext>
            </a:extLst>
          </p:cNvPr>
          <p:cNvSpPr/>
          <p:nvPr/>
        </p:nvSpPr>
        <p:spPr>
          <a:xfrm>
            <a:off x="682752" y="4493339"/>
            <a:ext cx="3413760" cy="163154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B2B45">
                <a:alpha val="10000"/>
              </a:srgbClr>
            </a:outerShdw>
          </a:effectLst>
        </p:spPr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00B58EBF-C4DD-4C28-7D1D-8FCCE61CD3CD}"/>
              </a:ext>
            </a:extLst>
          </p:cNvPr>
          <p:cNvSpPr/>
          <p:nvPr/>
        </p:nvSpPr>
        <p:spPr>
          <a:xfrm>
            <a:off x="975360" y="4570060"/>
            <a:ext cx="28041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B2B45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crosoft YaHei" pitchFamily="34" charset="-120"/>
              </a:rPr>
              <a:t>不良㶲数据辨识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" name="Text 27">
            <a:extLst>
              <a:ext uri="{FF2B5EF4-FFF2-40B4-BE49-F238E27FC236}">
                <a16:creationId xmlns:a16="http://schemas.microsoft.com/office/drawing/2014/main" id="{FD46D5BA-9090-B85F-F674-8CF7D716CE28}"/>
              </a:ext>
            </a:extLst>
          </p:cNvPr>
          <p:cNvSpPr/>
          <p:nvPr/>
        </p:nvSpPr>
        <p:spPr>
          <a:xfrm>
            <a:off x="975360" y="5008972"/>
            <a:ext cx="2804160" cy="111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IES-EMS </a:t>
            </a:r>
            <a:r>
              <a:rPr lang="en-US" sz="1600" dirty="0" err="1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新增㶲流分析模块后将涌现大量复杂不良㶲数据，㶲流追踪为检测与辨识提供物理依据</a:t>
            </a:r>
            <a:endParaRPr lang="en-US" sz="1600" dirty="0">
              <a:solidFill>
                <a:srgbClr val="152A3B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3" name="Shape 28">
            <a:extLst>
              <a:ext uri="{FF2B5EF4-FFF2-40B4-BE49-F238E27FC236}">
                <a16:creationId xmlns:a16="http://schemas.microsoft.com/office/drawing/2014/main" id="{C2169951-FA03-8129-1789-2E0086441D3A}"/>
              </a:ext>
            </a:extLst>
          </p:cNvPr>
          <p:cNvSpPr/>
          <p:nvPr/>
        </p:nvSpPr>
        <p:spPr>
          <a:xfrm>
            <a:off x="4297680" y="4493340"/>
            <a:ext cx="3413760" cy="16315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B2B45">
                <a:alpha val="10000"/>
              </a:srgbClr>
            </a:outerShdw>
          </a:effectLst>
        </p:spPr>
      </p:sp>
      <p:sp>
        <p:nvSpPr>
          <p:cNvPr id="45" name="Text 30">
            <a:extLst>
              <a:ext uri="{FF2B5EF4-FFF2-40B4-BE49-F238E27FC236}">
                <a16:creationId xmlns:a16="http://schemas.microsoft.com/office/drawing/2014/main" id="{2712FF90-A5B2-09DA-7F23-E29E3BB6D1E7}"/>
              </a:ext>
            </a:extLst>
          </p:cNvPr>
          <p:cNvSpPr/>
          <p:nvPr/>
        </p:nvSpPr>
        <p:spPr>
          <a:xfrm>
            <a:off x="4626864" y="4570060"/>
            <a:ext cx="28041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B2B45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crosoft YaHei" pitchFamily="34" charset="-120"/>
              </a:rPr>
              <a:t>可再生能源消纳路径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Text 31">
            <a:extLst>
              <a:ext uri="{FF2B5EF4-FFF2-40B4-BE49-F238E27FC236}">
                <a16:creationId xmlns:a16="http://schemas.microsoft.com/office/drawing/2014/main" id="{666AFC71-EC64-9162-A258-29C67759C81F}"/>
              </a:ext>
            </a:extLst>
          </p:cNvPr>
          <p:cNvSpPr/>
          <p:nvPr/>
        </p:nvSpPr>
        <p:spPr>
          <a:xfrm>
            <a:off x="4602480" y="5036924"/>
            <a:ext cx="2804160" cy="85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为绿电、绿氢、地热打上“绿色标签”，</a:t>
            </a:r>
            <a:r>
              <a:rPr lang="en-US" sz="1600" dirty="0" err="1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追溯其实际消纳比例与路径</a:t>
            </a:r>
            <a:endParaRPr lang="en-US" sz="1600" dirty="0">
              <a:solidFill>
                <a:srgbClr val="152A3B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9" name="Shape 32">
            <a:extLst>
              <a:ext uri="{FF2B5EF4-FFF2-40B4-BE49-F238E27FC236}">
                <a16:creationId xmlns:a16="http://schemas.microsoft.com/office/drawing/2014/main" id="{819997D9-CA4A-0084-3D42-B739A5FA950B}"/>
              </a:ext>
            </a:extLst>
          </p:cNvPr>
          <p:cNvSpPr/>
          <p:nvPr/>
        </p:nvSpPr>
        <p:spPr>
          <a:xfrm>
            <a:off x="7961376" y="4489676"/>
            <a:ext cx="3413760" cy="16315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B2B45">
                <a:alpha val="10000"/>
              </a:srgbClr>
            </a:outerShdw>
          </a:effectLst>
        </p:spPr>
      </p:sp>
      <p:sp>
        <p:nvSpPr>
          <p:cNvPr id="51" name="Text 34">
            <a:extLst>
              <a:ext uri="{FF2B5EF4-FFF2-40B4-BE49-F238E27FC236}">
                <a16:creationId xmlns:a16="http://schemas.microsoft.com/office/drawing/2014/main" id="{F173B7CB-D729-9201-A492-3475CD4B8D59}"/>
              </a:ext>
            </a:extLst>
          </p:cNvPr>
          <p:cNvSpPr/>
          <p:nvPr/>
        </p:nvSpPr>
        <p:spPr>
          <a:xfrm>
            <a:off x="8266176" y="4570060"/>
            <a:ext cx="28041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B2B45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crosoft YaHei" pitchFamily="34" charset="-120"/>
              </a:rPr>
              <a:t>能源价格与成本分摊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" name="Text 35">
            <a:extLst>
              <a:ext uri="{FF2B5EF4-FFF2-40B4-BE49-F238E27FC236}">
                <a16:creationId xmlns:a16="http://schemas.microsoft.com/office/drawing/2014/main" id="{DAE5C73F-6679-B37D-272F-5983FD30FD51}"/>
              </a:ext>
            </a:extLst>
          </p:cNvPr>
          <p:cNvSpPr/>
          <p:nvPr/>
        </p:nvSpPr>
        <p:spPr>
          <a:xfrm>
            <a:off x="8266176" y="5036924"/>
            <a:ext cx="2804160" cy="913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00" dirty="0" err="1">
                <a:solidFill>
                  <a:srgbClr val="152A3B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确定负荷端应承担的支路㶲损比例与源端输入㶲比例，支撑㶲经济成本分摊</a:t>
            </a:r>
            <a:endParaRPr lang="en-US" sz="1600" dirty="0">
              <a:solidFill>
                <a:srgbClr val="152A3B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4967F7-B59E-60F9-1E76-18EE9945E775}"/>
              </a:ext>
            </a:extLst>
          </p:cNvPr>
          <p:cNvSpPr txBox="1"/>
          <p:nvPr/>
        </p:nvSpPr>
        <p:spPr>
          <a:xfrm>
            <a:off x="0" y="45005"/>
            <a:ext cx="584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㶲流建模与量质协同</a:t>
            </a:r>
          </a:p>
        </p:txBody>
      </p:sp>
    </p:spTree>
    <p:extLst>
      <p:ext uri="{BB962C8B-B14F-4D97-AF65-F5344CB8AC3E}">
        <p14:creationId xmlns:p14="http://schemas.microsoft.com/office/powerpoint/2010/main" val="1142934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190D8-7CA0-35EC-BF96-845AAD58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箭头: 五边形 11">
            <a:extLst>
              <a:ext uri="{FF2B5EF4-FFF2-40B4-BE49-F238E27FC236}">
                <a16:creationId xmlns:a16="http://schemas.microsoft.com/office/drawing/2014/main" id="{9C231C6F-0C76-8491-2B57-F596EA8F2099}"/>
              </a:ext>
            </a:extLst>
          </p:cNvPr>
          <p:cNvSpPr/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DE1DCDB-1E64-46E8-E45A-F83C1E6D2F98}"/>
              </a:ext>
            </a:extLst>
          </p:cNvPr>
          <p:cNvSpPr txBox="1"/>
          <p:nvPr/>
        </p:nvSpPr>
        <p:spPr>
          <a:xfrm>
            <a:off x="60968" y="1025341"/>
            <a:ext cx="540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zh-CN" altLang="en-US" sz="2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量质协同能量管理系统</a:t>
            </a:r>
            <a:r>
              <a:rPr lang="en-US" altLang="zh-CN" sz="2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IES-EMS</a:t>
            </a:r>
            <a:endParaRPr lang="zh-CN" altLang="en-US" sz="2400" b="1" dirty="0">
              <a:solidFill>
                <a:schemeClr val="bg1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pic>
        <p:nvPicPr>
          <p:cNvPr id="27" name="图片 2" descr="D:\研1\溶酶体\1003剪影\剪影红 低版本.png剪影红 低版本">
            <a:extLst>
              <a:ext uri="{FF2B5EF4-FFF2-40B4-BE49-F238E27FC236}">
                <a16:creationId xmlns:a16="http://schemas.microsoft.com/office/drawing/2014/main" id="{F91DA2E5-DF2C-8860-3D54-E480BE203D4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-71120" y="5483912"/>
            <a:ext cx="12183880" cy="243677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B83F83A1-25EA-E631-1029-6D0AA9DEDBB3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6E94BE1-34F4-2466-EBBE-274103053D98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6CB5DFFE-94DE-7B6C-BF8C-6CDAD62F84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07376" y="134657"/>
            <a:ext cx="2468798" cy="438897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6B5BE626-FEAA-ECE7-42D7-F5C947BF2A85}"/>
              </a:ext>
            </a:extLst>
          </p:cNvPr>
          <p:cNvSpPr/>
          <p:nvPr/>
        </p:nvSpPr>
        <p:spPr>
          <a:xfrm>
            <a:off x="898902" y="1813303"/>
            <a:ext cx="1363851" cy="67417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感知层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F01112E-EBB8-2DEA-385D-D58ADA899B96}"/>
              </a:ext>
            </a:extLst>
          </p:cNvPr>
          <p:cNvSpPr/>
          <p:nvPr/>
        </p:nvSpPr>
        <p:spPr>
          <a:xfrm>
            <a:off x="886509" y="2648134"/>
            <a:ext cx="1363851" cy="674176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估计层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685BFF4-3DA7-6128-9344-53921FFA99DA}"/>
              </a:ext>
            </a:extLst>
          </p:cNvPr>
          <p:cNvSpPr/>
          <p:nvPr/>
        </p:nvSpPr>
        <p:spPr>
          <a:xfrm>
            <a:off x="898902" y="4317796"/>
            <a:ext cx="1363851" cy="674176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评估层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54880C2-1A22-2604-7071-9290472CEADB}"/>
              </a:ext>
            </a:extLst>
          </p:cNvPr>
          <p:cNvSpPr/>
          <p:nvPr/>
        </p:nvSpPr>
        <p:spPr>
          <a:xfrm>
            <a:off x="898902" y="5158483"/>
            <a:ext cx="1363851" cy="674176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E5C556C-B8CC-6D2C-BC53-29AF454BA09D}"/>
              </a:ext>
            </a:extLst>
          </p:cNvPr>
          <p:cNvSpPr/>
          <p:nvPr/>
        </p:nvSpPr>
        <p:spPr>
          <a:xfrm>
            <a:off x="898902" y="3482965"/>
            <a:ext cx="1363851" cy="67417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辨识层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2A361FF-21E0-66DD-D189-A9FD2C96C585}"/>
              </a:ext>
            </a:extLst>
          </p:cNvPr>
          <p:cNvSpPr/>
          <p:nvPr/>
        </p:nvSpPr>
        <p:spPr>
          <a:xfrm>
            <a:off x="3099146" y="1811244"/>
            <a:ext cx="8323105" cy="6741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crosoft YaHei" pitchFamily="34" charset="-120"/>
              </a:rPr>
              <a:t>多能传感量测：电压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crosoft YaHei" pitchFamily="34" charset="-120"/>
              </a:rPr>
              <a:t>/</a:t>
            </a:r>
            <a:r>
              <a:rPr lang="en-US" altLang="zh-CN" sz="2000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crosoft YaHei" pitchFamily="34" charset="-120"/>
              </a:rPr>
              <a:t>电流、气压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crosoft YaHei" pitchFamily="34" charset="-120"/>
              </a:rPr>
              <a:t>/</a:t>
            </a:r>
            <a:r>
              <a:rPr lang="en-US" altLang="zh-CN" sz="2000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crosoft YaHei" pitchFamily="34" charset="-120"/>
              </a:rPr>
              <a:t>流量、供回水温度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crosoft YaHei" pitchFamily="34" charset="-120"/>
              </a:rPr>
              <a:t>/</a:t>
            </a:r>
            <a:r>
              <a:rPr lang="en-US" altLang="zh-CN" sz="2000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crosoft YaHei" pitchFamily="34" charset="-120"/>
              </a:rPr>
              <a:t>流量、环境参数；㶲参数量测核算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1351790-6FDA-90A3-050C-9E9B2A536736}"/>
              </a:ext>
            </a:extLst>
          </p:cNvPr>
          <p:cNvSpPr/>
          <p:nvPr/>
        </p:nvSpPr>
        <p:spPr>
          <a:xfrm>
            <a:off x="3099146" y="2648134"/>
            <a:ext cx="8323105" cy="67417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crosoft YaHei" pitchFamily="34" charset="-120"/>
              </a:rPr>
              <a:t>量质协同状态估计：能流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crosoft YaHei" pitchFamily="34" charset="-120"/>
              </a:rPr>
              <a:t>—</a:t>
            </a:r>
            <a:r>
              <a:rPr lang="en-US" altLang="zh-CN" sz="2000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crosoft YaHei" pitchFamily="34" charset="-120"/>
              </a:rPr>
              <a:t>㶲流协同求解，输出节点㶲势、支路㶲流、㶲损、源荷㶲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6313EF0A-E5E3-6207-E69E-66518C2321EB}"/>
              </a:ext>
            </a:extLst>
          </p:cNvPr>
          <p:cNvSpPr/>
          <p:nvPr/>
        </p:nvSpPr>
        <p:spPr>
          <a:xfrm>
            <a:off x="3099145" y="3482965"/>
            <a:ext cx="8323105" cy="67417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crosoft YaHei" pitchFamily="34" charset="-120"/>
              </a:rPr>
              <a:t>不良㶲数据检测与辨识；㶲流追踪溯源；故障定位与运行风险预警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85AEC359-9CC4-36AF-6D61-E5619B196DD1}"/>
              </a:ext>
            </a:extLst>
          </p:cNvPr>
          <p:cNvSpPr/>
          <p:nvPr/>
        </p:nvSpPr>
        <p:spPr>
          <a:xfrm>
            <a:off x="3099144" y="5158483"/>
            <a:ext cx="8323105" cy="67417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高㶲能量调度与优化控制：设备出力、网络拓扑、储能、可再生能源与多样性负荷控制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3DF95C0-106D-54CC-30DE-31726F09C22A}"/>
              </a:ext>
            </a:extLst>
          </p:cNvPr>
          <p:cNvSpPr/>
          <p:nvPr/>
        </p:nvSpPr>
        <p:spPr>
          <a:xfrm>
            <a:off x="3099145" y="4319218"/>
            <a:ext cx="8323105" cy="67417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crosoft YaHei" pitchFamily="34" charset="-120"/>
              </a:rPr>
              <a:t>多能运行效率状态评估：㶲效率、热效率、节能率、有效能利用率、终端能质系数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0DB7A7-0BF8-3C2C-BC68-F1B5BCE36041}"/>
              </a:ext>
            </a:extLst>
          </p:cNvPr>
          <p:cNvSpPr txBox="1"/>
          <p:nvPr/>
        </p:nvSpPr>
        <p:spPr>
          <a:xfrm>
            <a:off x="0" y="45005"/>
            <a:ext cx="584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㶲流建模与量质协同</a:t>
            </a:r>
          </a:p>
        </p:txBody>
      </p:sp>
    </p:spTree>
    <p:extLst>
      <p:ext uri="{BB962C8B-B14F-4D97-AF65-F5344CB8AC3E}">
        <p14:creationId xmlns:p14="http://schemas.microsoft.com/office/powerpoint/2010/main" val="348367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B19D0-2AA2-CFE5-2FBA-79EBAEA38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箭头: 五边形 11">
            <a:extLst>
              <a:ext uri="{FF2B5EF4-FFF2-40B4-BE49-F238E27FC236}">
                <a16:creationId xmlns:a16="http://schemas.microsoft.com/office/drawing/2014/main" id="{E6461265-641F-3F84-A5A2-C3AC46EEA363}"/>
              </a:ext>
            </a:extLst>
          </p:cNvPr>
          <p:cNvSpPr/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3BA53AB-72EC-A842-6014-486E7B25D311}"/>
              </a:ext>
            </a:extLst>
          </p:cNvPr>
          <p:cNvSpPr txBox="1"/>
          <p:nvPr/>
        </p:nvSpPr>
        <p:spPr>
          <a:xfrm>
            <a:off x="60968" y="1025341"/>
            <a:ext cx="540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zh-CN" altLang="en-US" sz="2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双目标优化模型：㶲效率</a:t>
            </a:r>
            <a:r>
              <a:rPr lang="en-US" altLang="zh-CN" sz="2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2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经济性</a:t>
            </a:r>
          </a:p>
        </p:txBody>
      </p:sp>
      <p:pic>
        <p:nvPicPr>
          <p:cNvPr id="27" name="图片 2" descr="D:\研1\溶酶体\1003剪影\剪影红 低版本.png剪影红 低版本">
            <a:extLst>
              <a:ext uri="{FF2B5EF4-FFF2-40B4-BE49-F238E27FC236}">
                <a16:creationId xmlns:a16="http://schemas.microsoft.com/office/drawing/2014/main" id="{A06E6CC3-2958-A4B6-C51C-DB8F5523395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-71120" y="5483912"/>
            <a:ext cx="12183880" cy="243677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AF6206B1-5FB3-7701-C4C3-074481CF724B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FA2372D-4FAF-A1D0-1C76-61946BDEF4F5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ACADE4B-7031-D7D3-8905-A499E820C4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07376" y="134657"/>
            <a:ext cx="2468798" cy="438897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CC53B535-5813-001F-BB01-E73F4BBED803}"/>
              </a:ext>
            </a:extLst>
          </p:cNvPr>
          <p:cNvSpPr/>
          <p:nvPr/>
        </p:nvSpPr>
        <p:spPr>
          <a:xfrm>
            <a:off x="883403" y="1791672"/>
            <a:ext cx="10607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687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建设/运行成本等能量流参数与㶲损、㶲效率等能源品质参数往往构成互斥目标</a:t>
            </a:r>
            <a:endParaRPr lang="en-US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3FA4718B-3C0F-AE18-FBBE-04F0A236EAF9}"/>
              </a:ext>
            </a:extLst>
          </p:cNvPr>
          <p:cNvSpPr/>
          <p:nvPr/>
        </p:nvSpPr>
        <p:spPr>
          <a:xfrm>
            <a:off x="639563" y="2376887"/>
            <a:ext cx="6278880" cy="319475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B2B45">
                <a:alpha val="10000"/>
              </a:srgbClr>
            </a:outerShdw>
          </a:effectLst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1E385111-64E7-4656-0056-F47207A375AE}"/>
              </a:ext>
            </a:extLst>
          </p:cNvPr>
          <p:cNvSpPr/>
          <p:nvPr/>
        </p:nvSpPr>
        <p:spPr>
          <a:xfrm>
            <a:off x="944363" y="2559768"/>
            <a:ext cx="573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运行优化典型模型（HE-IES 调度）</a:t>
            </a:r>
            <a:endParaRPr lang="en-US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0459B2FB-0CCB-3153-A964-FC625D27A7CC}"/>
              </a:ext>
            </a:extLst>
          </p:cNvPr>
          <p:cNvSpPr/>
          <p:nvPr/>
        </p:nvSpPr>
        <p:spPr>
          <a:xfrm>
            <a:off x="968747" y="3047448"/>
            <a:ext cx="57302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　 </a:t>
            </a:r>
            <a:r>
              <a:rPr lang="en-US" sz="1600" b="1" dirty="0" err="1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f_oper</a:t>
            </a:r>
            <a:r>
              <a:rPr lang="en-US" sz="16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(x,y) + f_em(x,y) + f_Ex,loss(z)</a:t>
            </a:r>
            <a:endParaRPr lang="en-US" sz="16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64FD8477-D6B7-C8C9-5668-C3355C21DCDE}"/>
              </a:ext>
            </a:extLst>
          </p:cNvPr>
          <p:cNvSpPr/>
          <p:nvPr/>
        </p:nvSpPr>
        <p:spPr>
          <a:xfrm>
            <a:off x="968747" y="3401016"/>
            <a:ext cx="57302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　f_Ex,eff(z) + f_Re(x) + f_En,eff(x,y)</a:t>
            </a:r>
            <a:endParaRPr lang="en-US" sz="16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E2CB0188-A719-571B-6E2F-99C3949165BB}"/>
              </a:ext>
            </a:extLst>
          </p:cNvPr>
          <p:cNvSpPr/>
          <p:nvPr/>
        </p:nvSpPr>
        <p:spPr>
          <a:xfrm>
            <a:off x="968747" y="3754584"/>
            <a:ext cx="57302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152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s.t.</a:t>
            </a:r>
            <a:r>
              <a:rPr lang="en-US" sz="1600" dirty="0">
                <a:solidFill>
                  <a:srgbClr val="152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   </a:t>
            </a:r>
            <a:r>
              <a:rPr lang="en-US" sz="1600" dirty="0" err="1">
                <a:solidFill>
                  <a:srgbClr val="152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h_Ex</a:t>
            </a:r>
            <a:r>
              <a:rPr lang="en-US" sz="1600" dirty="0">
                <a:solidFill>
                  <a:srgbClr val="152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(z) = 0　（㶲平衡约束）</a:t>
            </a:r>
            <a:endParaRPr lang="en-US" sz="160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23D96B7D-58D6-7396-97CB-AD673C37D077}"/>
              </a:ext>
            </a:extLst>
          </p:cNvPr>
          <p:cNvSpPr/>
          <p:nvPr/>
        </p:nvSpPr>
        <p:spPr>
          <a:xfrm>
            <a:off x="968747" y="4108152"/>
            <a:ext cx="57302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52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    </a:t>
            </a:r>
            <a:r>
              <a:rPr lang="en-US" sz="1600" dirty="0" err="1">
                <a:solidFill>
                  <a:srgbClr val="152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h_En</a:t>
            </a:r>
            <a:r>
              <a:rPr lang="en-US" sz="1600" dirty="0">
                <a:solidFill>
                  <a:srgbClr val="152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(z) = 0　（能量平衡约束）</a:t>
            </a:r>
            <a:endParaRPr lang="en-US" sz="16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C0D2E329-E7DB-9C47-7ED5-7FE833549304}"/>
              </a:ext>
            </a:extLst>
          </p:cNvPr>
          <p:cNvSpPr/>
          <p:nvPr/>
        </p:nvSpPr>
        <p:spPr>
          <a:xfrm>
            <a:off x="968747" y="4461720"/>
            <a:ext cx="57302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52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　h(x,y) = 0，g(x,y) ≤ 0　（等式/不等式约束）</a:t>
            </a:r>
            <a:endParaRPr lang="en-US" sz="1600" dirty="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B60B67F3-454F-D0BB-0DDC-A54BE4679C1B}"/>
              </a:ext>
            </a:extLst>
          </p:cNvPr>
          <p:cNvSpPr/>
          <p:nvPr/>
        </p:nvSpPr>
        <p:spPr>
          <a:xfrm>
            <a:off x="968747" y="4815288"/>
            <a:ext cx="57302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52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　|x_base − x_Fault| ≤ x_ramp　（爬坡与故障场景）</a:t>
            </a:r>
            <a:endParaRPr lang="en-US" sz="1600" dirty="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79E16D52-9A5C-C269-2D19-ED9861ABE5A0}"/>
              </a:ext>
            </a:extLst>
          </p:cNvPr>
          <p:cNvSpPr/>
          <p:nvPr/>
        </p:nvSpPr>
        <p:spPr>
          <a:xfrm>
            <a:off x="883403" y="5240072"/>
            <a:ext cx="5791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87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f_oper 运行成本 · f_em 碳排放 · f_Ex,loss 㶲损 · f_Ex,eff 㶲效率 · f_Re 可再生能源消纳 · f_En,eff 综合能效</a:t>
            </a:r>
            <a:endParaRPr lang="en-US" sz="1200" dirty="0"/>
          </a:p>
        </p:txBody>
      </p:sp>
      <p:sp>
        <p:nvSpPr>
          <p:cNvPr id="40" name="Shape 13">
            <a:extLst>
              <a:ext uri="{FF2B5EF4-FFF2-40B4-BE49-F238E27FC236}">
                <a16:creationId xmlns:a16="http://schemas.microsoft.com/office/drawing/2014/main" id="{A55724BE-A407-707C-3889-2DF64BB7BD03}"/>
              </a:ext>
            </a:extLst>
          </p:cNvPr>
          <p:cNvSpPr/>
          <p:nvPr/>
        </p:nvSpPr>
        <p:spPr>
          <a:xfrm>
            <a:off x="7101323" y="2376888"/>
            <a:ext cx="4389120" cy="31947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B2B45">
                <a:alpha val="10000"/>
              </a:srgbClr>
            </a:outerShdw>
          </a:effectLst>
        </p:spPr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7BDEA67F-7657-BFF1-26D2-5B83AE9D54DE}"/>
              </a:ext>
            </a:extLst>
          </p:cNvPr>
          <p:cNvSpPr/>
          <p:nvPr/>
        </p:nvSpPr>
        <p:spPr>
          <a:xfrm>
            <a:off x="7406123" y="2559768"/>
            <a:ext cx="390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典型求解路径</a:t>
            </a:r>
            <a:endParaRPr lang="en-US" dirty="0"/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84288846-7587-ADDD-F0EA-4F18089C478C}"/>
              </a:ext>
            </a:extLst>
          </p:cNvPr>
          <p:cNvSpPr/>
          <p:nvPr/>
        </p:nvSpPr>
        <p:spPr>
          <a:xfrm>
            <a:off x="7747499" y="30474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ε-约束法</a:t>
            </a:r>
            <a:endParaRPr lang="en-US" sz="1600" dirty="0"/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66D69AC6-EBD7-B1C0-61BC-BB4B29D29470}"/>
              </a:ext>
            </a:extLst>
          </p:cNvPr>
          <p:cNvSpPr/>
          <p:nvPr/>
        </p:nvSpPr>
        <p:spPr>
          <a:xfrm>
            <a:off x="7747499" y="3340056"/>
            <a:ext cx="353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87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将品质目标转为约束，逐点求解得 Pareto 前沿</a:t>
            </a:r>
            <a:endParaRPr lang="en-US" sz="1200" dirty="0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F6995364-D3B5-070D-163A-5ED4047D258F}"/>
              </a:ext>
            </a:extLst>
          </p:cNvPr>
          <p:cNvSpPr/>
          <p:nvPr/>
        </p:nvSpPr>
        <p:spPr>
          <a:xfrm>
            <a:off x="7747499" y="3583896"/>
            <a:ext cx="233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NSGA-II / MOEA-D</a:t>
            </a:r>
            <a:endParaRPr lang="en-US" sz="1600" dirty="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98517B37-1BE9-DAC5-9E8E-115A130BBF9B}"/>
              </a:ext>
            </a:extLst>
          </p:cNvPr>
          <p:cNvSpPr/>
          <p:nvPr/>
        </p:nvSpPr>
        <p:spPr>
          <a:xfrm>
            <a:off x="7747499" y="3876504"/>
            <a:ext cx="353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87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多目标进化算法，一次运行得前沿解集</a:t>
            </a:r>
            <a:endParaRPr lang="en-US" sz="1200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9E12F4A2-90ED-1C56-EE2C-28AECEC7ECE6}"/>
              </a:ext>
            </a:extLst>
          </p:cNvPr>
          <p:cNvSpPr/>
          <p:nvPr/>
        </p:nvSpPr>
        <p:spPr>
          <a:xfrm>
            <a:off x="7747499" y="41203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折中解决策</a:t>
            </a:r>
            <a:endParaRPr lang="en-US" sz="1600" dirty="0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F8EF21E9-949A-F6AA-5D35-4B37227D0E72}"/>
              </a:ext>
            </a:extLst>
          </p:cNvPr>
          <p:cNvSpPr/>
          <p:nvPr/>
        </p:nvSpPr>
        <p:spPr>
          <a:xfrm>
            <a:off x="7747499" y="4412952"/>
            <a:ext cx="353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87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基于理想点最短距离（或熵权法）选取最终方案</a:t>
            </a:r>
            <a:endParaRPr lang="en-US" sz="1200" dirty="0"/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49B5F126-5B58-CE62-F069-D93FCDE76E9C}"/>
              </a:ext>
            </a:extLst>
          </p:cNvPr>
          <p:cNvSpPr/>
          <p:nvPr/>
        </p:nvSpPr>
        <p:spPr>
          <a:xfrm>
            <a:off x="7747499" y="4656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B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凸松弛/线性化</a:t>
            </a:r>
            <a:endParaRPr lang="en-US" sz="1600" dirty="0"/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B9161F18-3941-A978-5D56-53E2E914443B}"/>
              </a:ext>
            </a:extLst>
          </p:cNvPr>
          <p:cNvSpPr/>
          <p:nvPr/>
        </p:nvSpPr>
        <p:spPr>
          <a:xfrm>
            <a:off x="7747499" y="4949400"/>
            <a:ext cx="353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87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混合整数非凸非线性模型的工程化处理</a:t>
            </a:r>
            <a:endParaRPr lang="en-US" sz="1200" dirty="0"/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1932222A-6FAF-E6FF-3E40-F84509344774}"/>
              </a:ext>
            </a:extLst>
          </p:cNvPr>
          <p:cNvSpPr/>
          <p:nvPr/>
        </p:nvSpPr>
        <p:spPr>
          <a:xfrm>
            <a:off x="855557" y="5703368"/>
            <a:ext cx="10662731" cy="8505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核心矛盾：“能源品质效益最大化”与“成本最小化”内在冲突</a:t>
            </a:r>
            <a:r>
              <a:rPr lang="en-US" altLang="zh-CN" sz="2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提升㶲效率往往导致运行成本增加；多能源枢纽联合运行时，㶲损最小与成本最小呈负相关性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274DD9-E592-6B7C-796F-C409EAC17755}"/>
              </a:ext>
            </a:extLst>
          </p:cNvPr>
          <p:cNvSpPr txBox="1"/>
          <p:nvPr/>
        </p:nvSpPr>
        <p:spPr>
          <a:xfrm>
            <a:off x="0" y="45005"/>
            <a:ext cx="584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㶲流建模与量质协同</a:t>
            </a:r>
          </a:p>
        </p:txBody>
      </p:sp>
    </p:spTree>
    <p:extLst>
      <p:ext uri="{BB962C8B-B14F-4D97-AF65-F5344CB8AC3E}">
        <p14:creationId xmlns:p14="http://schemas.microsoft.com/office/powerpoint/2010/main" val="719543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0A59A-1B7C-E4EA-1D22-D651E8C53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" descr="D:\研1\溶酶体\1003剪影\剪影红 低版本.png剪影红 低版本">
            <a:extLst>
              <a:ext uri="{FF2B5EF4-FFF2-40B4-BE49-F238E27FC236}">
                <a16:creationId xmlns:a16="http://schemas.microsoft.com/office/drawing/2014/main" id="{88AD3B91-A3F3-8950-C40C-E73665599F0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-71120" y="5483912"/>
            <a:ext cx="12183880" cy="243677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B5133867-B0DA-B82C-F31D-E48C3E62F118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53AA7D1-C2CA-3851-CE9E-760126CE4EF0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AFF3E189-D8FB-1752-E91E-0B98D79777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07376" y="134657"/>
            <a:ext cx="2468798" cy="43889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04391BB-BE98-5C38-8D22-C5F3B7DE183D}"/>
              </a:ext>
            </a:extLst>
          </p:cNvPr>
          <p:cNvSpPr/>
          <p:nvPr/>
        </p:nvSpPr>
        <p:spPr>
          <a:xfrm>
            <a:off x="694690" y="5560695"/>
            <a:ext cx="10638155" cy="932180"/>
          </a:xfrm>
          <a:prstGeom prst="rect">
            <a:avLst/>
          </a:prstGeom>
          <a:solidFill>
            <a:schemeClr val="tx2">
              <a:lumMod val="20000"/>
              <a:lumOff val="80000"/>
              <a:alpha val="59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箭头: 五边形 16">
            <a:extLst>
              <a:ext uri="{FF2B5EF4-FFF2-40B4-BE49-F238E27FC236}">
                <a16:creationId xmlns:a16="http://schemas.microsoft.com/office/drawing/2014/main" id="{EBB45F74-06C5-97F4-A5A5-6B919297A466}"/>
              </a:ext>
            </a:extLst>
          </p:cNvPr>
          <p:cNvSpPr/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D95FFDE-3718-7E76-A472-DD90878EDF5B}"/>
              </a:ext>
            </a:extLst>
          </p:cNvPr>
          <p:cNvSpPr txBox="1"/>
          <p:nvPr/>
        </p:nvSpPr>
        <p:spPr>
          <a:xfrm>
            <a:off x="60968" y="1025341"/>
            <a:ext cx="37361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㶲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经济学概述</a:t>
            </a: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BB9A1F30-063F-6BE1-9097-378800B37CD6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6094730" y="1770380"/>
          <a:ext cx="5511800" cy="345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7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7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对比项</a:t>
                      </a:r>
                    </a:p>
                  </a:txBody>
                  <a:tcPr marL="101600" marR="101600" marT="101600" marB="10160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能量分析</a:t>
                      </a:r>
                    </a:p>
                  </a:txBody>
                  <a:tcPr marL="101600" marR="101600" marT="101600" marB="10160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㶲分析</a:t>
                      </a:r>
                    </a:p>
                  </a:txBody>
                  <a:tcPr marL="101600" marR="101600" marT="101600" marB="10160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㶲经济学</a:t>
                      </a:r>
                    </a:p>
                  </a:txBody>
                  <a:tcPr marL="101600" marR="101600" marT="101600" marB="101600">
                    <a:solidFill>
                      <a:srgbClr val="9B3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3838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理论基础</a:t>
                      </a:r>
                    </a:p>
                  </a:txBody>
                  <a:tcPr marL="101600" marR="101600" marT="101600" marB="10160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3838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热力学第一定律</a:t>
                      </a:r>
                    </a:p>
                  </a:txBody>
                  <a:tcPr marL="101600" marR="101600" marT="101600" marB="10160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3838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第一+第二定律</a:t>
                      </a:r>
                    </a:p>
                  </a:txBody>
                  <a:tcPr marL="101600" marR="101600" marT="101600" marB="10160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9B3A2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热力学+工程经济学</a:t>
                      </a:r>
                    </a:p>
                  </a:txBody>
                  <a:tcPr marL="101600" marR="101600" marT="101600" marB="10160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3838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评价指标</a:t>
                      </a:r>
                    </a:p>
                  </a:txBody>
                  <a:tcPr marL="101600" marR="101600" marT="101600" marB="10160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3838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能量效率</a:t>
                      </a:r>
                    </a:p>
                  </a:txBody>
                  <a:tcPr marL="101600" marR="101600" marT="101600" marB="10160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3838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㶲效率</a:t>
                      </a:r>
                    </a:p>
                  </a:txBody>
                  <a:tcPr marL="101600" marR="101600" marT="101600" marB="10160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9B3A2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经济性</a:t>
                      </a:r>
                    </a:p>
                  </a:txBody>
                  <a:tcPr marL="101600" marR="101600" marT="101600" marB="10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3838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参考环境</a:t>
                      </a:r>
                    </a:p>
                  </a:txBody>
                  <a:tcPr marL="101600" marR="101600" marT="101600" marB="10160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3838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物理环境</a:t>
                      </a:r>
                    </a:p>
                  </a:txBody>
                  <a:tcPr marL="101600" marR="101600" marT="101600" marB="10160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3838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物理环境</a:t>
                      </a:r>
                    </a:p>
                  </a:txBody>
                  <a:tcPr marL="101600" marR="101600" marT="101600" marB="10160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9B3A2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物理+经济</a:t>
                      </a:r>
                      <a:r>
                        <a:rPr lang="zh-CN" altLang="en-US" sz="2000" b="0" i="0" u="none" strike="noStrike">
                          <a:solidFill>
                            <a:srgbClr val="9B3A2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环境</a:t>
                      </a:r>
                    </a:p>
                  </a:txBody>
                  <a:tcPr marL="101600" marR="101600" marT="101600" marB="10160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3838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方法本质</a:t>
                      </a:r>
                    </a:p>
                  </a:txBody>
                  <a:tcPr marL="101600" marR="101600" marT="101600" marB="10160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3838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数量平衡</a:t>
                      </a:r>
                    </a:p>
                  </a:txBody>
                  <a:tcPr marL="101600" marR="101600" marT="101600" marB="10160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3838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品质升降</a:t>
                      </a:r>
                    </a:p>
                  </a:txBody>
                  <a:tcPr marL="101600" marR="101600" marT="101600" marB="10160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9B3A2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量质兼顾效益</a:t>
                      </a:r>
                      <a:r>
                        <a:rPr lang="zh-CN" altLang="en-US" sz="2000" b="0" i="0" u="none" strike="noStrike">
                          <a:solidFill>
                            <a:srgbClr val="9B3A2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最优</a:t>
                      </a:r>
                    </a:p>
                  </a:txBody>
                  <a:tcPr marL="101600" marR="101600" marT="101600" marB="10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0B61D5F2-FA5C-ACC6-7BDF-C9506D7D23E4}"/>
              </a:ext>
            </a:extLst>
          </p:cNvPr>
          <p:cNvSpPr txBox="1"/>
          <p:nvPr/>
        </p:nvSpPr>
        <p:spPr>
          <a:xfrm>
            <a:off x="260985" y="5619115"/>
            <a:ext cx="1150556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66700"/>
            <a:r>
              <a:rPr lang="en-US" altLang="en-US" sz="2400" b="1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㶲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经济学（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Exergoeconomics）：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将</a:t>
            </a: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热力学分析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与</a:t>
            </a: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经济学分析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方法相结合，</a:t>
            </a:r>
          </a:p>
          <a:p>
            <a:pPr algn="ctr" defTabSz="266700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以此来指导热能的合理高效利用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E4AAAD0-ED1B-463E-BB0D-4F6BC012BB0F}"/>
              </a:ext>
            </a:extLst>
          </p:cNvPr>
          <p:cNvSpPr txBox="1"/>
          <p:nvPr/>
        </p:nvSpPr>
        <p:spPr>
          <a:xfrm>
            <a:off x="361315" y="1880235"/>
            <a:ext cx="5270501" cy="8583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b="1" dirty="0">
                <a:solidFill>
                  <a:schemeClr val="accent5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Noto Sans SC" panose="020B0200000000000000" charset="-122"/>
              </a:rPr>
              <a:t>高㶲低用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Noto Sans SC" panose="020B0200000000000000" charset="-122"/>
              </a:rPr>
              <a:t>：电锅炉以能质系数 λ≈1 的电能生产 λ≈0.1 的热水，能量效率接近100%，㶲效率极低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317D457-5EB0-C790-7AB8-FDA5388A1CE5}"/>
              </a:ext>
            </a:extLst>
          </p:cNvPr>
          <p:cNvSpPr txBox="1"/>
          <p:nvPr/>
        </p:nvSpPr>
        <p:spPr>
          <a:xfrm>
            <a:off x="361315" y="3310890"/>
            <a:ext cx="5080000" cy="1273875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在纯热力学分析方法中，通过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高压和低压锅炉使用</a:t>
            </a:r>
            <a:r>
              <a:rPr lang="zh-CN" altLang="en-US" b="1">
                <a:solidFill>
                  <a:schemeClr val="accent5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相同数量和价值的燃料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作为能源输入生产的高压和低压蒸汽：</a:t>
            </a:r>
            <a:r>
              <a:rPr lang="zh-CN" altLang="en-US" b="1">
                <a:solidFill>
                  <a:schemeClr val="accent5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+mn-ea"/>
              </a:rPr>
              <a:t>数量同质，品质异价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83ECEE5-0CA8-F414-D537-2D6D9459C37B}"/>
              </a:ext>
            </a:extLst>
          </p:cNvPr>
          <p:cNvSpPr/>
          <p:nvPr/>
        </p:nvSpPr>
        <p:spPr>
          <a:xfrm>
            <a:off x="292735" y="1908810"/>
            <a:ext cx="5270500" cy="98933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8CCE201-67B3-4F16-63D3-F4F665BD17DA}"/>
              </a:ext>
            </a:extLst>
          </p:cNvPr>
          <p:cNvSpPr/>
          <p:nvPr/>
        </p:nvSpPr>
        <p:spPr>
          <a:xfrm>
            <a:off x="292735" y="3322320"/>
            <a:ext cx="5270500" cy="144653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FB4247-4264-4BC1-EEF0-0E786B5A14C7}"/>
              </a:ext>
            </a:extLst>
          </p:cNvPr>
          <p:cNvSpPr txBox="1"/>
          <p:nvPr/>
        </p:nvSpPr>
        <p:spPr>
          <a:xfrm>
            <a:off x="0" y="45005"/>
            <a:ext cx="584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㶲经济与市场化</a:t>
            </a:r>
          </a:p>
        </p:txBody>
      </p:sp>
    </p:spTree>
    <p:extLst>
      <p:ext uri="{BB962C8B-B14F-4D97-AF65-F5344CB8AC3E}">
        <p14:creationId xmlns:p14="http://schemas.microsoft.com/office/powerpoint/2010/main" val="1250702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1018C-875E-2BB5-77B4-6F768452F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" descr="D:\研1\溶酶体\1003剪影\剪影红 低版本.png剪影红 低版本">
            <a:extLst>
              <a:ext uri="{FF2B5EF4-FFF2-40B4-BE49-F238E27FC236}">
                <a16:creationId xmlns:a16="http://schemas.microsoft.com/office/drawing/2014/main" id="{47353999-751C-B81A-35C6-882DEF5FAC6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-71120" y="5483912"/>
            <a:ext cx="12183880" cy="243677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F036F92-BCF5-0629-9374-54E2EFA3961F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B839A0A-EE36-2025-E0B8-57FAB884A7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07376" y="134657"/>
            <a:ext cx="2468798" cy="438897"/>
          </a:xfrm>
          <a:prstGeom prst="rect">
            <a:avLst/>
          </a:prstGeom>
        </p:spPr>
      </p:pic>
      <p:sp>
        <p:nvSpPr>
          <p:cNvPr id="9" name="AutoShape 8">
            <a:extLst>
              <a:ext uri="{FF2B5EF4-FFF2-40B4-BE49-F238E27FC236}">
                <a16:creationId xmlns:a16="http://schemas.microsoft.com/office/drawing/2014/main" id="{9CA60E54-6E18-B3D2-9215-67C8F2E1A047}"/>
              </a:ext>
            </a:extLst>
          </p:cNvPr>
          <p:cNvSpPr/>
          <p:nvPr/>
        </p:nvSpPr>
        <p:spPr>
          <a:xfrm>
            <a:off x="705485" y="3999230"/>
            <a:ext cx="2759075" cy="203073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8575" cap="flat" cmpd="sng">
            <a:solidFill>
              <a:schemeClr val="accent1">
                <a:shade val="5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箭头: 五边形 16">
            <a:extLst>
              <a:ext uri="{FF2B5EF4-FFF2-40B4-BE49-F238E27FC236}">
                <a16:creationId xmlns:a16="http://schemas.microsoft.com/office/drawing/2014/main" id="{ED3AE6FE-9040-7387-C7FE-F5F017BD90B4}"/>
              </a:ext>
            </a:extLst>
          </p:cNvPr>
          <p:cNvSpPr/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9D5BEFF-9893-9788-F55C-D37B0EAA1996}"/>
              </a:ext>
            </a:extLst>
          </p:cNvPr>
          <p:cNvSpPr txBox="1"/>
          <p:nvPr/>
        </p:nvSpPr>
        <p:spPr>
          <a:xfrm>
            <a:off x="60968" y="1025341"/>
            <a:ext cx="37361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㶲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经济学分析模型</a:t>
            </a:r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AFCB10CB-7BD2-B720-09CC-3082F71DECC4}"/>
              </a:ext>
            </a:extLst>
          </p:cNvPr>
          <p:cNvSpPr/>
          <p:nvPr/>
        </p:nvSpPr>
        <p:spPr>
          <a:xfrm>
            <a:off x="705485" y="1879600"/>
            <a:ext cx="4889500" cy="85344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8575" cap="flat" cmpd="sng">
            <a:solidFill>
              <a:schemeClr val="accent1">
                <a:shade val="5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AutoShape 9">
            <a:extLst>
              <a:ext uri="{FF2B5EF4-FFF2-40B4-BE49-F238E27FC236}">
                <a16:creationId xmlns:a16="http://schemas.microsoft.com/office/drawing/2014/main" id="{230CD7A2-2DE3-A013-6CAA-A0CB09DED026}"/>
              </a:ext>
            </a:extLst>
          </p:cNvPr>
          <p:cNvSpPr/>
          <p:nvPr/>
        </p:nvSpPr>
        <p:spPr>
          <a:xfrm>
            <a:off x="895985" y="2033270"/>
            <a:ext cx="4520565" cy="4292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17000"/>
              </a:lnSpc>
              <a:buClrTx/>
              <a:buSzTx/>
              <a:buFontTx/>
              <a:defRPr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Noto Sans SC" panose="020B0200000000000000" charset="-122"/>
              </a:rPr>
              <a:t> 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pitchFamily="34" charset="-122"/>
            </a:endParaRPr>
          </a:p>
          <a:p>
            <a:pPr marL="0" algn="l">
              <a:lnSpc>
                <a:spcPct val="117000"/>
              </a:lnSpc>
              <a:buClrTx/>
              <a:buSzTx/>
              <a:buFontTx/>
              <a:defRPr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Noto Sans SC" panose="020B0200000000000000" charset="-122"/>
              </a:rPr>
              <a:t>符号㶲经济学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Noto Sans SC" panose="020B0200000000000000" charset="-122"/>
              </a:rPr>
              <a:t> +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Noto Sans SC" panose="020B0200000000000000" charset="-122"/>
              </a:rPr>
              <a:t>“结构系数”模式热经济学</a:t>
            </a:r>
            <a:endParaRPr lang="zh-CN" altLang="en-US" sz="1800" b="1" i="0" u="none" strike="noStrike" dirty="0"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endParaRPr lang="en-US" sz="1200" b="0" i="0" u="none" strike="noStrike" dirty="0">
              <a:solidFill>
                <a:srgbClr val="383838"/>
              </a:solidFill>
              <a:latin typeface="黑体" panose="02010609060101010101" pitchFamily="49" charset="-122"/>
              <a:ea typeface="黑体" panose="02010609060101010101" pitchFamily="49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右箭头 57">
            <a:extLst>
              <a:ext uri="{FF2B5EF4-FFF2-40B4-BE49-F238E27FC236}">
                <a16:creationId xmlns:a16="http://schemas.microsoft.com/office/drawing/2014/main" id="{232A5467-A3A4-A9DA-5AF6-25B59E0D88CD}"/>
              </a:ext>
            </a:extLst>
          </p:cNvPr>
          <p:cNvSpPr/>
          <p:nvPr/>
        </p:nvSpPr>
        <p:spPr>
          <a:xfrm>
            <a:off x="5925185" y="2117725"/>
            <a:ext cx="1358265" cy="282575"/>
          </a:xfrm>
          <a:prstGeom prst="rightArrow">
            <a:avLst/>
          </a:prstGeom>
          <a:solidFill>
            <a:srgbClr val="2F559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AutoShape 8">
            <a:extLst>
              <a:ext uri="{FF2B5EF4-FFF2-40B4-BE49-F238E27FC236}">
                <a16:creationId xmlns:a16="http://schemas.microsoft.com/office/drawing/2014/main" id="{83733B04-FD7C-E5EE-DC6D-9CDB454E6FF9}"/>
              </a:ext>
            </a:extLst>
          </p:cNvPr>
          <p:cNvSpPr/>
          <p:nvPr/>
        </p:nvSpPr>
        <p:spPr>
          <a:xfrm>
            <a:off x="7613650" y="1857375"/>
            <a:ext cx="3183255" cy="85344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8575" cap="flat" cmpd="sng">
            <a:solidFill>
              <a:schemeClr val="accent1">
                <a:shade val="5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AutoShape 9">
            <a:extLst>
              <a:ext uri="{FF2B5EF4-FFF2-40B4-BE49-F238E27FC236}">
                <a16:creationId xmlns:a16="http://schemas.microsoft.com/office/drawing/2014/main" id="{F9C829CA-ADC3-07EB-396E-77F9B8867615}"/>
              </a:ext>
            </a:extLst>
          </p:cNvPr>
          <p:cNvSpPr/>
          <p:nvPr/>
        </p:nvSpPr>
        <p:spPr>
          <a:xfrm>
            <a:off x="7872730" y="2011680"/>
            <a:ext cx="2934335" cy="4584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17000"/>
              </a:lnSpc>
              <a:buClrTx/>
              <a:buSzTx/>
              <a:buFontTx/>
              <a:defRPr/>
            </a:pP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Noto Sans SC" panose="020B0200000000000000" charset="-122"/>
              </a:rPr>
              <a:t> </a:t>
            </a:r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pitchFamily="34" charset="-122"/>
            </a:endParaRPr>
          </a:p>
          <a:p>
            <a:pPr marL="0" algn="l">
              <a:lnSpc>
                <a:spcPct val="117000"/>
              </a:lnSpc>
              <a:buClrTx/>
              <a:buSzTx/>
              <a:buFontTx/>
              <a:defRPr/>
            </a:pP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Noto Sans SC" panose="020B0200000000000000" charset="-122"/>
              </a:rPr>
              <a:t> 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Noto Sans SC" panose="020B0200000000000000" charset="-122"/>
              </a:rPr>
              <a:t>㶲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经济学结构理论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-Valero</a:t>
            </a:r>
          </a:p>
          <a:p>
            <a:pPr marL="0" algn="l">
              <a:lnSpc>
                <a:spcPct val="117000"/>
              </a:lnSpc>
              <a:buClrTx/>
              <a:buSzTx/>
              <a:buFontTx/>
              <a:defRPr/>
            </a:pP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  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（</a:t>
            </a:r>
            <a:r>
              <a:rPr lang="zh-CN" altLang="en-US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统一</a:t>
            </a:r>
            <a:r>
              <a:rPr lang="zh-CN" altLang="en-US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Noto Sans SC" panose="020B0200000000000000" charset="-122"/>
              </a:rPr>
              <a:t>㶲</a:t>
            </a:r>
            <a:r>
              <a:rPr lang="zh-CN" altLang="en-US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经济学的标准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)</a:t>
            </a:r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17000"/>
              </a:lnSpc>
            </a:pPr>
            <a:endParaRPr lang="en-US" sz="1200" b="0" i="0" u="none" strike="noStrike">
              <a:solidFill>
                <a:srgbClr val="383838"/>
              </a:solidFill>
              <a:latin typeface="黑体" panose="02010609060101010101" pitchFamily="49" charset="-122"/>
              <a:ea typeface="黑体" panose="02010609060101010101" pitchFamily="49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680EC11D-888F-5001-93E1-AF9F61FAC06E}"/>
              </a:ext>
            </a:extLst>
          </p:cNvPr>
          <p:cNvCxnSpPr/>
          <p:nvPr/>
        </p:nvCxnSpPr>
        <p:spPr>
          <a:xfrm>
            <a:off x="0" y="3028315"/>
            <a:ext cx="12191365" cy="0"/>
          </a:xfrm>
          <a:prstGeom prst="line">
            <a:avLst/>
          </a:prstGeom>
          <a:ln w="28575" cmpd="sng">
            <a:solidFill>
              <a:srgbClr val="2E75B6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AutoShape 10">
            <a:extLst>
              <a:ext uri="{FF2B5EF4-FFF2-40B4-BE49-F238E27FC236}">
                <a16:creationId xmlns:a16="http://schemas.microsoft.com/office/drawing/2014/main" id="{10E0975C-68B1-B8D7-C2F9-C8551CE37C29}"/>
              </a:ext>
            </a:extLst>
          </p:cNvPr>
          <p:cNvSpPr/>
          <p:nvPr/>
        </p:nvSpPr>
        <p:spPr>
          <a:xfrm>
            <a:off x="705485" y="3126740"/>
            <a:ext cx="9067800" cy="499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Noto Sans SC" panose="020B0200000000000000" charset="-122"/>
              </a:rPr>
              <a:t>㶲成本守恒模型</a:t>
            </a:r>
            <a:r>
              <a:rPr lang="en-US" altLang="zh-CN" sz="1800" b="1" i="0" u="none" strike="noStrike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Noto Sans SC" panose="020B0200000000000000" charset="-122"/>
              </a:rPr>
              <a:t> : </a:t>
            </a:r>
            <a:r>
              <a:rPr lang="zh-CN" altLang="en-US" sz="1800" b="1" i="0" u="none" strike="noStrike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Noto Sans SC" panose="020B0200000000000000" charset="-122"/>
              </a:rPr>
              <a:t>正确反映用能的合理性及经济性，达到方案决策的目的</a:t>
            </a:r>
          </a:p>
        </p:txBody>
      </p:sp>
      <p:sp>
        <p:nvSpPr>
          <p:cNvPr id="42" name="AutoShape 10">
            <a:extLst>
              <a:ext uri="{FF2B5EF4-FFF2-40B4-BE49-F238E27FC236}">
                <a16:creationId xmlns:a16="http://schemas.microsoft.com/office/drawing/2014/main" id="{BF7AE83B-CD6D-CC66-399B-7F68EF20C433}"/>
              </a:ext>
            </a:extLst>
          </p:cNvPr>
          <p:cNvSpPr/>
          <p:nvPr/>
        </p:nvSpPr>
        <p:spPr>
          <a:xfrm>
            <a:off x="4876800" y="3999230"/>
            <a:ext cx="5495925" cy="1664970"/>
          </a:xfrm>
          <a:prstGeom prst="roundRect">
            <a:avLst>
              <a:gd name="adj" fmla="val 0"/>
            </a:avLst>
          </a:prstGeom>
          <a:gradFill>
            <a:gsLst>
              <a:gs pos="88000">
                <a:srgbClr val="68A042">
                  <a:alpha val="100000"/>
                </a:srgbClr>
              </a:gs>
              <a:gs pos="52000">
                <a:schemeClr val="accent6">
                  <a:lumMod val="60000"/>
                  <a:lumOff val="40000"/>
                </a:schemeClr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4680000" scaled="1"/>
          </a:gradFill>
          <a:ln w="28575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AutoShape 11">
                <a:extLst>
                  <a:ext uri="{FF2B5EF4-FFF2-40B4-BE49-F238E27FC236}">
                    <a16:creationId xmlns:a16="http://schemas.microsoft.com/office/drawing/2014/main" id="{1A9C8651-32FC-3C12-5802-939921D5E106}"/>
                  </a:ext>
                </a:extLst>
              </p:cNvPr>
              <p:cNvSpPr/>
              <p:nvPr/>
            </p:nvSpPr>
            <p:spPr>
              <a:xfrm>
                <a:off x="5003800" y="4417060"/>
                <a:ext cx="5220970" cy="64389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ctr">
                  <a:lnSpc>
                    <a:spcPct val="108000"/>
                  </a:lnSpc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180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</m:ctrlPr>
                        </m:sSubPr>
                        <m:e>
                          <m:r>
                            <a:rPr sz="180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𝐶</m:t>
                          </m:r>
                        </m:e>
                        <m:sub>
                          <m:r>
                            <a:rPr sz="180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𝑖𝑛</m:t>
                          </m:r>
                        </m:sub>
                      </m:sSub>
                      <m:sSub>
                        <m:sSubPr>
                          <m:ctrlPr>
                            <a:rPr sz="180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</m:ctrlPr>
                        </m:sSubPr>
                        <m:e>
                          <m:r>
                            <a:rPr sz="180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𝐸</m:t>
                          </m:r>
                        </m:e>
                        <m:sub>
                          <m:r>
                            <a:rPr sz="180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𝑥</m:t>
                          </m:r>
                          <m:r>
                            <a:rPr sz="180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,</m:t>
                          </m:r>
                          <m:r>
                            <a:rPr sz="180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𝑖𝑛</m:t>
                          </m:r>
                        </m:sub>
                      </m:sSub>
                      <m:r>
                        <a:rPr sz="180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+</m:t>
                      </m:r>
                      <m:sSub>
                        <m:sSubPr>
                          <m:ctrlPr>
                            <a:rPr sz="180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</m:ctrlPr>
                        </m:sSubPr>
                        <m:e>
                          <m:r>
                            <a:rPr sz="180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𝐶</m:t>
                          </m:r>
                        </m:e>
                        <m:sub>
                          <m:r>
                            <a:rPr sz="180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𝑛</m:t>
                          </m:r>
                        </m:sub>
                      </m:sSub>
                      <m:r>
                        <a:rPr sz="180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=</m:t>
                      </m:r>
                      <m:sSub>
                        <m:sSubPr>
                          <m:ctrlPr>
                            <a:rPr sz="18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</m:ctrlPr>
                        </m:sSubPr>
                        <m:e>
                          <m:r>
                            <a:rPr sz="18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𝐶</m:t>
                          </m:r>
                        </m:e>
                        <m:sub>
                          <m:r>
                            <a:rPr sz="18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𝑒</m:t>
                          </m:r>
                          <m:r>
                            <a:rPr lang="en-US" sz="1800" i="1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𝑓</m:t>
                          </m:r>
                        </m:sub>
                      </m:sSub>
                      <m:sSub>
                        <m:sSubPr>
                          <m:ctrlPr>
                            <a:rPr sz="180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</m:ctrlPr>
                        </m:sSubPr>
                        <m:e>
                          <m:r>
                            <a:rPr sz="180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𝐸</m:t>
                          </m:r>
                        </m:e>
                        <m:sub>
                          <m:r>
                            <a:rPr sz="180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𝑥</m:t>
                          </m:r>
                          <m:r>
                            <a:rPr sz="180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,</m:t>
                          </m:r>
                          <m:r>
                            <a:rPr sz="180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sz="11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3" name="AutoShape 11">
                <a:extLst>
                  <a:ext uri="{FF2B5EF4-FFF2-40B4-BE49-F238E27FC236}">
                    <a16:creationId xmlns:a16="http://schemas.microsoft.com/office/drawing/2014/main" id="{1A9C8651-32FC-3C12-5802-939921D5E1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800" y="4417060"/>
                <a:ext cx="5220970" cy="6438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AutoShape 13">
            <a:extLst>
              <a:ext uri="{FF2B5EF4-FFF2-40B4-BE49-F238E27FC236}">
                <a16:creationId xmlns:a16="http://schemas.microsoft.com/office/drawing/2014/main" id="{FF48B3FF-5F72-0473-4CDA-1D22B4467931}"/>
              </a:ext>
            </a:extLst>
          </p:cNvPr>
          <p:cNvSpPr/>
          <p:nvPr/>
        </p:nvSpPr>
        <p:spPr>
          <a:xfrm>
            <a:off x="3775710" y="4175760"/>
            <a:ext cx="2472690" cy="2832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1E5AAA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Noto Sans SC" panose="020B0200000000000000" charset="-122"/>
              </a:rPr>
              <a:t>能量费用</a:t>
            </a:r>
            <a:endParaRPr lang="zh-CN" altLang="en-US" sz="1800" b="1"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pitchFamily="34" charset="-122"/>
            </a:endParaRPr>
          </a:p>
        </p:txBody>
      </p:sp>
      <p:sp>
        <p:nvSpPr>
          <p:cNvPr id="45" name="AutoShape 16">
            <a:extLst>
              <a:ext uri="{FF2B5EF4-FFF2-40B4-BE49-F238E27FC236}">
                <a16:creationId xmlns:a16="http://schemas.microsoft.com/office/drawing/2014/main" id="{427B4B88-74F4-FD51-DC28-EA3CEB7D12F7}"/>
              </a:ext>
            </a:extLst>
          </p:cNvPr>
          <p:cNvSpPr/>
          <p:nvPr/>
        </p:nvSpPr>
        <p:spPr>
          <a:xfrm>
            <a:off x="10506075" y="4140200"/>
            <a:ext cx="1187396" cy="26473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328C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Noto Sans SC" panose="020B0200000000000000" charset="-122"/>
              </a:rPr>
              <a:t>能量成本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AutoShape 17">
                <a:extLst>
                  <a:ext uri="{FF2B5EF4-FFF2-40B4-BE49-F238E27FC236}">
                    <a16:creationId xmlns:a16="http://schemas.microsoft.com/office/drawing/2014/main" id="{20AF5DB2-01E5-7D9F-2273-AD34FF6175BC}"/>
                  </a:ext>
                </a:extLst>
              </p:cNvPr>
              <p:cNvSpPr/>
              <p:nvPr/>
            </p:nvSpPr>
            <p:spPr>
              <a:xfrm>
                <a:off x="10571480" y="5076825"/>
                <a:ext cx="1213485" cy="27158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Noto Sans SC" panose="020B0200000000000000" charset="-122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Noto Sans SC" panose="020B0200000000000000" charset="-122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Noto Sans SC" panose="020B0200000000000000" charset="-122"/>
                            </a:rPr>
                            <m:t>𝑒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Noto Sans SC" panose="020B0200000000000000" charset="-122"/>
                            </a:rPr>
                            <m:t>𝑓</m:t>
                          </m:r>
                        </m:sub>
                      </m:sSub>
                      <m:sSub>
                        <m:sSubPr>
                          <m:ctrlPr>
                            <a:rPr lang="zh-CN" altLang="en-US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Noto Sans SC" panose="020B0200000000000000" charset="-122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Noto Sans SC" panose="020B0200000000000000" charset="-122"/>
                            </a:rPr>
                            <m:t>𝐸</m:t>
                          </m:r>
                        </m:e>
                        <m:sub>
                          <m:r>
                            <a:rPr lang="zh-CN" altLang="en-US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Noto Sans SC" panose="020B0200000000000000" charset="-122"/>
                            </a:rPr>
                            <m:t>𝑥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Noto Sans SC" panose="020B0200000000000000" charset="-122"/>
                            </a:rPr>
                            <m:t>,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Noto Sans SC" panose="020B0200000000000000" charset="-122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sz="1100" i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6" name="AutoShape 17">
                <a:extLst>
                  <a:ext uri="{FF2B5EF4-FFF2-40B4-BE49-F238E27FC236}">
                    <a16:creationId xmlns:a16="http://schemas.microsoft.com/office/drawing/2014/main" id="{20AF5DB2-01E5-7D9F-2273-AD34FF6175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1480" y="5076825"/>
                <a:ext cx="1213485" cy="271584"/>
              </a:xfrm>
              <a:prstGeom prst="rect">
                <a:avLst/>
              </a:prstGeom>
              <a:blipFill>
                <a:blip r:embed="rId7"/>
                <a:stretch>
                  <a:fillRect l="-6030" b="-31818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AutoShape 19">
                <a:extLst>
                  <a:ext uri="{FF2B5EF4-FFF2-40B4-BE49-F238E27FC236}">
                    <a16:creationId xmlns:a16="http://schemas.microsoft.com/office/drawing/2014/main" id="{21765A33-6E6F-F530-DDD1-2E68EABB989C}"/>
                  </a:ext>
                </a:extLst>
              </p:cNvPr>
              <p:cNvSpPr/>
              <p:nvPr/>
            </p:nvSpPr>
            <p:spPr>
              <a:xfrm>
                <a:off x="7533005" y="5760085"/>
                <a:ext cx="1878965" cy="40005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zh-CN" altLang="en-US" sz="1600" b="1" i="0" u="none" strike="noStrike">
                    <a:latin typeface="黑体" panose="02010609060101010101" pitchFamily="49" charset="-122"/>
                    <a:ea typeface="黑体" panose="02010609060101010101" pitchFamily="49" charset="-122"/>
                    <a:cs typeface="微软雅黑" panose="020B0503020204020204" pitchFamily="34" charset="-122"/>
                    <a:sym typeface="Noto Sans SC" panose="020B0200000000000000" charset="-122"/>
                  </a:rPr>
                  <a:t>非能量费用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Noto Sans SC" panose="020B0200000000000000" charset="-122"/>
                          </a:rPr>
                        </m:ctrlPr>
                      </m:sSubPr>
                      <m:e>
                        <m:r>
                          <a:rPr lang="zh-CN" altLang="en-US" sz="16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Noto Sans SC" panose="020B0200000000000000" charset="-122"/>
                          </a:rPr>
                          <m:t>𝐶</m:t>
                        </m:r>
                      </m:e>
                      <m:sub>
                        <m:r>
                          <a:rPr lang="zh-CN" altLang="en-US" sz="16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Noto Sans SC" panose="020B0200000000000000" charset="-122"/>
                          </a:rPr>
                          <m:t>𝑛</m:t>
                        </m:r>
                      </m:sub>
                    </m:sSub>
                  </m:oMath>
                </a14:m>
                <a:endParaRPr lang="en-US" sz="16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7" name="AutoShape 19">
                <a:extLst>
                  <a:ext uri="{FF2B5EF4-FFF2-40B4-BE49-F238E27FC236}">
                    <a16:creationId xmlns:a16="http://schemas.microsoft.com/office/drawing/2014/main" id="{21765A33-6E6F-F530-DDD1-2E68EABB98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3005" y="5760085"/>
                <a:ext cx="1878965" cy="400050"/>
              </a:xfrm>
              <a:prstGeom prst="rect">
                <a:avLst/>
              </a:prstGeom>
              <a:blipFill>
                <a:blip r:embed="rId8"/>
                <a:stretch>
                  <a:fillRect l="-6818" b="-12121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AutoShape 20">
                <a:extLst>
                  <a:ext uri="{FF2B5EF4-FFF2-40B4-BE49-F238E27FC236}">
                    <a16:creationId xmlns:a16="http://schemas.microsoft.com/office/drawing/2014/main" id="{A878FCD1-3FE0-300C-8C1B-18568B937D4B}"/>
                  </a:ext>
                </a:extLst>
              </p:cNvPr>
              <p:cNvSpPr/>
              <p:nvPr/>
            </p:nvSpPr>
            <p:spPr>
              <a:xfrm>
                <a:off x="895985" y="4096385"/>
                <a:ext cx="2455545" cy="173863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l" fontAlgn="auto">
                  <a:lnSpc>
                    <a:spcPct val="150000"/>
                  </a:lnSpc>
                  <a:defRPr/>
                </a:pPr>
                <a:r>
                  <a:rPr lang="en-US" altLang="zh-CN" sz="1400" b="1" i="1" u="none" strike="noStrike">
                    <a:latin typeface="黑体" panose="02010609060101010101" pitchFamily="49" charset="-122"/>
                    <a:ea typeface="黑体" panose="02010609060101010101" pitchFamily="49" charset="-122"/>
                    <a:cs typeface="Cambria Math" panose="02040503050406030204" charset="0"/>
                    <a:sym typeface="Noto Sans SC" panose="020B0200000000000000" charset="-122"/>
                  </a:rPr>
                  <a:t>Cef 、Cin </a:t>
                </a:r>
                <a:r>
                  <a:rPr lang="zh-CN" altLang="en-US" sz="1400" b="1" u="none" strike="noStrike">
                    <a:latin typeface="黑体" panose="02010609060101010101" pitchFamily="49" charset="-122"/>
                    <a:ea typeface="黑体" panose="02010609060101010101" pitchFamily="49" charset="-122"/>
                    <a:cs typeface="Cambria Math" panose="02040503050406030204" charset="0"/>
                    <a:sym typeface="Noto Sans SC" panose="020B0200000000000000" charset="-122"/>
                  </a:rPr>
                  <a:t>分别为产品单价输入系统的单价，元/</a:t>
                </a:r>
                <a:r>
                  <a:rPr lang="en-US" altLang="zh-CN" sz="1400" b="1" u="none" strike="noStrike">
                    <a:latin typeface="黑体" panose="02010609060101010101" pitchFamily="49" charset="-122"/>
                    <a:ea typeface="黑体" panose="02010609060101010101" pitchFamily="49" charset="-122"/>
                    <a:cs typeface="Cambria Math" panose="02040503050406030204" charset="0"/>
                    <a:sym typeface="Noto Sans SC" panose="020B0200000000000000" charset="-122"/>
                  </a:rPr>
                  <a:t>kJ</a:t>
                </a:r>
                <a:endParaRPr lang="en-US" altLang="zh-CN" sz="1400" b="1" i="1" u="none" strike="noStrike">
                  <a:latin typeface="黑体" panose="02010609060101010101" pitchFamily="49" charset="-122"/>
                  <a:ea typeface="黑体" panose="02010609060101010101" pitchFamily="49" charset="-122"/>
                  <a:cs typeface="Cambria Math" panose="02040503050406030204" charset="0"/>
                  <a:sym typeface="Noto Sans SC" panose="020B0200000000000000" charset="-122"/>
                </a:endParaRPr>
              </a:p>
              <a:p>
                <a:pPr indent="0" algn="l" fontAlgn="auto">
                  <a:lnSpc>
                    <a:spcPct val="15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altLang="zh-CN" sz="1400" b="1" i="1" u="none" strike="noStrike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  <a:sym typeface="Noto Sans SC" panose="020B0200000000000000" charset="-122"/>
                      </a:rPr>
                      <m:t>𝑪𝒏</m:t>
                    </m:r>
                    <m:r>
                      <a:rPr lang="en-US" altLang="zh-CN" sz="1400" b="1" i="1" u="none" strike="noStrike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  <a:sym typeface="Noto Sans SC" panose="020B0200000000000000" charset="-122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altLang="zh-CN" sz="1400" b="1" i="1" u="none" strike="noStrike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Noto Sans SC" panose="020B0200000000000000" charset="-122"/>
                          </a:rPr>
                        </m:ctrlPr>
                      </m:naryPr>
                      <m:sub>
                        <m:r>
                          <a:rPr lang="en-US" altLang="zh-CN" sz="1400" b="1" i="1" u="none" strike="noStrike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Noto Sans SC" panose="020B0200000000000000" charset="-122"/>
                          </a:rPr>
                          <m:t>𝒊</m:t>
                        </m:r>
                        <m:r>
                          <a:rPr lang="en-US" altLang="zh-CN" sz="1400" b="1" i="1" u="none" strike="noStrike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Noto Sans SC" panose="020B0200000000000000" charset="-122"/>
                          </a:rPr>
                          <m:t>=</m:t>
                        </m:r>
                        <m:r>
                          <a:rPr lang="en-US" altLang="zh-CN" sz="1400" b="1" i="1" u="none" strike="noStrike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Noto Sans SC" panose="020B0200000000000000" charset="-122"/>
                          </a:rPr>
                          <m:t>𝟏</m:t>
                        </m:r>
                      </m:sub>
                      <m:sup>
                        <m:r>
                          <a:rPr lang="en-US" altLang="zh-CN" sz="1400" b="1" i="1" u="none" strike="noStrike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Noto Sans SC" panose="020B0200000000000000" charset="-122"/>
                          </a:rPr>
                          <m:t>𝒏</m:t>
                        </m:r>
                      </m:sup>
                      <m:e>
                        <m:r>
                          <a:rPr lang="en-US" altLang="zh-CN" sz="1400" b="1" i="1" u="none" strike="noStrike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Noto Sans SC" panose="020B0200000000000000" charset="-122"/>
                          </a:rPr>
                          <m:t>𝒁𝒊</m:t>
                        </m:r>
                        <m:r>
                          <a:rPr lang="en-US" altLang="zh-CN" sz="1400" b="1" i="1" u="none" strike="noStrike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Noto Sans SC" panose="020B0200000000000000" charset="-122"/>
                          </a:rPr>
                          <m:t>+</m:t>
                        </m:r>
                        <m:r>
                          <a:rPr lang="en-US" altLang="zh-CN" sz="1400" b="1" i="1" u="none" strike="noStrike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Noto Sans SC" panose="020B0200000000000000" charset="-122"/>
                          </a:rPr>
                          <m:t>𝑳</m:t>
                        </m:r>
                      </m:e>
                    </m:nary>
                  </m:oMath>
                </a14:m>
                <a:r>
                  <a:rPr lang="zh-CN" altLang="en-US" sz="1400" b="1" i="0" u="none" strike="noStrike">
                    <a:latin typeface="黑体" panose="02010609060101010101" pitchFamily="49" charset="-122"/>
                    <a:ea typeface="黑体" panose="02010609060101010101" pitchFamily="49" charset="-122"/>
                    <a:cs typeface="微软雅黑" panose="020B0503020204020204" pitchFamily="34" charset="-122"/>
                    <a:sym typeface="Noto Sans SC" panose="020B0200000000000000" charset="-122"/>
                  </a:rPr>
                  <a:t>包括设备折旧费( </a:t>
                </a:r>
                <a:r>
                  <a:rPr lang="en-US" altLang="zh-CN" sz="1400" b="1" i="0" u="none" strike="noStrike">
                    <a:latin typeface="黑体" panose="02010609060101010101" pitchFamily="49" charset="-122"/>
                    <a:ea typeface="黑体" panose="02010609060101010101" pitchFamily="49" charset="-122"/>
                    <a:cs typeface="微软雅黑" panose="020B0503020204020204" pitchFamily="34" charset="-122"/>
                    <a:sym typeface="Noto Sans SC" panose="020B0200000000000000" charset="-122"/>
                  </a:rPr>
                  <a:t>Zi ) 、</a:t>
                </a:r>
                <a:r>
                  <a:rPr lang="zh-CN" altLang="en-US" sz="1400" b="1" i="0" u="none" strike="noStrike">
                    <a:latin typeface="黑体" panose="02010609060101010101" pitchFamily="49" charset="-122"/>
                    <a:ea typeface="黑体" panose="02010609060101010101" pitchFamily="49" charset="-122"/>
                    <a:cs typeface="微软雅黑" panose="020B0503020204020204" pitchFamily="34" charset="-122"/>
                    <a:sym typeface="Noto Sans SC" panose="020B0200000000000000" charset="-122"/>
                  </a:rPr>
                  <a:t>工人工资、管理等固定费用( </a:t>
                </a:r>
                <a:r>
                  <a:rPr lang="en-US" altLang="zh-CN" sz="1400" b="1" i="0" u="none" strike="noStrike">
                    <a:latin typeface="黑体" panose="02010609060101010101" pitchFamily="49" charset="-122"/>
                    <a:ea typeface="黑体" panose="02010609060101010101" pitchFamily="49" charset="-122"/>
                    <a:cs typeface="微软雅黑" panose="020B0503020204020204" pitchFamily="34" charset="-122"/>
                    <a:sym typeface="Noto Sans SC" panose="020B0200000000000000" charset="-122"/>
                  </a:rPr>
                  <a:t>L ) </a:t>
                </a:r>
                <a:r>
                  <a:rPr lang="zh-CN" altLang="en-US" sz="1400" b="1" i="0" u="none" strike="noStrike">
                    <a:latin typeface="黑体" panose="02010609060101010101" pitchFamily="49" charset="-122"/>
                    <a:ea typeface="黑体" panose="02010609060101010101" pitchFamily="49" charset="-122"/>
                    <a:cs typeface="微软雅黑" panose="020B0503020204020204" pitchFamily="34" charset="-122"/>
                    <a:sym typeface="Noto Sans SC" panose="020B0200000000000000" charset="-122"/>
                  </a:rPr>
                  <a:t>等</a:t>
                </a:r>
              </a:p>
            </p:txBody>
          </p:sp>
        </mc:Choice>
        <mc:Fallback xmlns="">
          <p:sp>
            <p:nvSpPr>
              <p:cNvPr id="48" name="AutoShape 20">
                <a:extLst>
                  <a:ext uri="{FF2B5EF4-FFF2-40B4-BE49-F238E27FC236}">
                    <a16:creationId xmlns:a16="http://schemas.microsoft.com/office/drawing/2014/main" id="{A878FCD1-3FE0-300C-8C1B-18568B937D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85" y="4096385"/>
                <a:ext cx="2455545" cy="1738630"/>
              </a:xfrm>
              <a:prstGeom prst="rect">
                <a:avLst/>
              </a:prstGeom>
              <a:blipFill>
                <a:blip r:embed="rId9"/>
                <a:stretch>
                  <a:fillRect l="-4467" r="-2233" b="-702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圆角右箭头 73">
            <a:extLst>
              <a:ext uri="{FF2B5EF4-FFF2-40B4-BE49-F238E27FC236}">
                <a16:creationId xmlns:a16="http://schemas.microsoft.com/office/drawing/2014/main" id="{09EC4366-4856-0404-8C75-95BE96DACE52}"/>
              </a:ext>
            </a:extLst>
          </p:cNvPr>
          <p:cNvSpPr/>
          <p:nvPr/>
        </p:nvSpPr>
        <p:spPr>
          <a:xfrm>
            <a:off x="7064375" y="5076825"/>
            <a:ext cx="1035685" cy="1224915"/>
          </a:xfrm>
          <a:prstGeom prst="bentArrow">
            <a:avLst/>
          </a:prstGeom>
          <a:solidFill>
            <a:srgbClr val="B4462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右箭头 74">
            <a:extLst>
              <a:ext uri="{FF2B5EF4-FFF2-40B4-BE49-F238E27FC236}">
                <a16:creationId xmlns:a16="http://schemas.microsoft.com/office/drawing/2014/main" id="{89533A99-2143-A42B-B13D-A540AFA966A0}"/>
              </a:ext>
            </a:extLst>
          </p:cNvPr>
          <p:cNvSpPr/>
          <p:nvPr/>
        </p:nvSpPr>
        <p:spPr>
          <a:xfrm>
            <a:off x="4127500" y="4507230"/>
            <a:ext cx="1357630" cy="481965"/>
          </a:xfrm>
          <a:prstGeom prst="rightArrow">
            <a:avLst/>
          </a:prstGeom>
          <a:solidFill>
            <a:srgbClr val="1E5AA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B5FD958F-94C9-580F-F527-82D6AA7159D5}"/>
                  </a:ext>
                </a:extLst>
              </p:cNvPr>
              <p:cNvSpPr txBox="1"/>
              <p:nvPr/>
            </p:nvSpPr>
            <p:spPr>
              <a:xfrm>
                <a:off x="3166745" y="4945380"/>
                <a:ext cx="2125345" cy="3815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1800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Noto Sans SC" panose="020B0200000000000000" charset="-122"/>
                            </a:rPr>
                          </m:ctrlPr>
                        </m:sSubPr>
                        <m:e>
                          <m:r>
                            <a:rPr lang="zh-CN" altLang="en-US" sz="1800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Noto Sans SC" panose="020B0200000000000000" charset="-122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1800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Noto Sans SC" panose="020B0200000000000000" charset="-122"/>
                            </a:rPr>
                            <m:t>𝑖𝑛</m:t>
                          </m:r>
                        </m:sub>
                      </m:sSub>
                      <m:sSub>
                        <m:sSubPr>
                          <m:ctrlPr>
                            <a:rPr lang="zh-CN" altLang="en-US" sz="1800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Noto Sans SC" panose="020B0200000000000000" charset="-122"/>
                            </a:rPr>
                          </m:ctrlPr>
                        </m:sSubPr>
                        <m:e>
                          <m:r>
                            <a:rPr lang="zh-CN" altLang="en-US" sz="1800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Noto Sans SC" panose="020B0200000000000000" charset="-122"/>
                            </a:rPr>
                            <m:t>𝐸</m:t>
                          </m:r>
                        </m:e>
                        <m:sub>
                          <m:r>
                            <a:rPr lang="zh-CN" altLang="en-US" sz="1800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Noto Sans SC" panose="020B0200000000000000" charset="-122"/>
                            </a:rPr>
                            <m:t>𝑥</m:t>
                          </m:r>
                          <m:r>
                            <a:rPr lang="zh-CN" altLang="en-US" sz="1800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Noto Sans SC" panose="020B0200000000000000" charset="-122"/>
                            </a:rPr>
                            <m:t>,</m:t>
                          </m:r>
                          <m:r>
                            <a:rPr lang="zh-CN" altLang="en-US" sz="1800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  <a:sym typeface="Noto Sans SC" panose="020B0200000000000000" charset="-122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zh-CN" altLang="en-US" sz="1800" b="1">
                  <a:latin typeface="黑体" panose="02010609060101010101" pitchFamily="49" charset="-122"/>
                  <a:ea typeface="黑体" panose="02010609060101010101" pitchFamily="49" charset="-122"/>
                  <a:cs typeface="微软雅黑" panose="020B0503020204020204" pitchFamily="34" charset="-122"/>
                  <a:sym typeface="Noto Sans SC" panose="020B0200000000000000" charset="-122"/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B5FD958F-94C9-580F-F527-82D6AA715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745" y="4945380"/>
                <a:ext cx="2125345" cy="381515"/>
              </a:xfrm>
              <a:prstGeom prst="rect">
                <a:avLst/>
              </a:prstGeom>
              <a:blipFill>
                <a:blip r:embed="rId10"/>
                <a:stretch>
                  <a:fillRect t="-12698" b="-158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右箭头 76">
            <a:extLst>
              <a:ext uri="{FF2B5EF4-FFF2-40B4-BE49-F238E27FC236}">
                <a16:creationId xmlns:a16="http://schemas.microsoft.com/office/drawing/2014/main" id="{8A2CA860-7EB0-E0BA-9218-6BAE5D102D75}"/>
              </a:ext>
            </a:extLst>
          </p:cNvPr>
          <p:cNvSpPr/>
          <p:nvPr/>
        </p:nvSpPr>
        <p:spPr>
          <a:xfrm>
            <a:off x="9601200" y="4507230"/>
            <a:ext cx="1357630" cy="481965"/>
          </a:xfrm>
          <a:prstGeom prst="rightArrow">
            <a:avLst/>
          </a:prstGeom>
          <a:solidFill>
            <a:srgbClr val="328C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6FB3E8D-B044-3AFC-38D8-9356AC8D1842}"/>
              </a:ext>
            </a:extLst>
          </p:cNvPr>
          <p:cNvSpPr txBox="1"/>
          <p:nvPr/>
        </p:nvSpPr>
        <p:spPr>
          <a:xfrm>
            <a:off x="0" y="45005"/>
            <a:ext cx="584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㶲经济与市场化</a:t>
            </a:r>
          </a:p>
        </p:txBody>
      </p:sp>
    </p:spTree>
    <p:extLst>
      <p:ext uri="{BB962C8B-B14F-4D97-AF65-F5344CB8AC3E}">
        <p14:creationId xmlns:p14="http://schemas.microsoft.com/office/powerpoint/2010/main" val="388428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8A3B5-744A-0BB3-C024-7554EFEBB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" descr="D:\研1\溶酶体\1003剪影\剪影红 低版本.png剪影红 低版本">
            <a:extLst>
              <a:ext uri="{FF2B5EF4-FFF2-40B4-BE49-F238E27FC236}">
                <a16:creationId xmlns:a16="http://schemas.microsoft.com/office/drawing/2014/main" id="{DBA78751-3AFC-FE00-8122-72646D66536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-71120" y="5483912"/>
            <a:ext cx="12183880" cy="243677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8AC646B-4DB3-9540-46FF-D09C1B9392EC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BEFAAF0-0012-76BB-4121-04082E854870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82DD9B88-E141-726B-FDDD-A8FE876356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07376" y="134657"/>
            <a:ext cx="2468798" cy="438897"/>
          </a:xfrm>
          <a:prstGeom prst="rect">
            <a:avLst/>
          </a:prstGeom>
        </p:spPr>
      </p:pic>
      <p:sp>
        <p:nvSpPr>
          <p:cNvPr id="19" name="AutoShape 8">
            <a:extLst>
              <a:ext uri="{FF2B5EF4-FFF2-40B4-BE49-F238E27FC236}">
                <a16:creationId xmlns:a16="http://schemas.microsoft.com/office/drawing/2014/main" id="{90CE23A0-06AE-3092-F0F3-1929C269B507}"/>
              </a:ext>
            </a:extLst>
          </p:cNvPr>
          <p:cNvSpPr/>
          <p:nvPr/>
        </p:nvSpPr>
        <p:spPr>
          <a:xfrm>
            <a:off x="274320" y="2284095"/>
            <a:ext cx="4718050" cy="121094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8575" cap="flat" cmpd="sng">
            <a:solidFill>
              <a:schemeClr val="accent1">
                <a:shade val="5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indent="0" algn="ctr" fontAlgn="auto">
              <a:lnSpc>
                <a:spcPct val="150000"/>
              </a:lnSpc>
              <a:defRPr/>
            </a:pPr>
            <a:endParaRPr lang="en-US" altLang="en-US" sz="1600" b="1">
              <a:latin typeface="黑体" panose="02010609060101010101" pitchFamily="49" charset="-122"/>
              <a:ea typeface="黑体" panose="02010609060101010101" pitchFamily="49" charset="-122"/>
              <a:cs typeface="Cambria Math" panose="02040503050406030204" charset="0"/>
            </a:endParaRPr>
          </a:p>
        </p:txBody>
      </p:sp>
      <p:sp>
        <p:nvSpPr>
          <p:cNvPr id="21" name="箭头: 五边形 20">
            <a:extLst>
              <a:ext uri="{FF2B5EF4-FFF2-40B4-BE49-F238E27FC236}">
                <a16:creationId xmlns:a16="http://schemas.microsoft.com/office/drawing/2014/main" id="{32724629-D07C-EC44-075E-8BD82E82E2C4}"/>
              </a:ext>
            </a:extLst>
          </p:cNvPr>
          <p:cNvSpPr/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6C18DF9-5DE6-561C-F4EA-226859544FAC}"/>
              </a:ext>
            </a:extLst>
          </p:cNvPr>
          <p:cNvSpPr txBox="1"/>
          <p:nvPr/>
        </p:nvSpPr>
        <p:spPr>
          <a:xfrm>
            <a:off x="60968" y="1025341"/>
            <a:ext cx="37361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异质能源</a:t>
            </a:r>
            <a:r>
              <a:rPr lang="en-US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㶲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经济定价</a:t>
            </a:r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39765B6B-E271-A8DE-0BF4-D28FD0B089CA}"/>
              </a:ext>
            </a:extLst>
          </p:cNvPr>
          <p:cNvSpPr/>
          <p:nvPr/>
        </p:nvSpPr>
        <p:spPr>
          <a:xfrm>
            <a:off x="2682735" y="1680527"/>
            <a:ext cx="7955560" cy="3740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Noto Serif SC" panose="02020200000000000000" charset="-122"/>
              </a:rPr>
              <a:t>优质优价原则：从"</a:t>
            </a:r>
            <a:r>
              <a:rPr lang="zh-CN" altLang="en-US" sz="2400" b="1" i="0" u="none" strike="noStrike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Noto Serif SC" panose="02020200000000000000" charset="-122"/>
              </a:rPr>
              <a:t>按数量计价</a:t>
            </a:r>
            <a:r>
              <a:rPr lang="zh-CN" altLang="en-US" sz="2400" b="1" i="0" u="none" strike="noStrike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Noto Serif SC" panose="02020200000000000000" charset="-122"/>
              </a:rPr>
              <a:t>"到"</a:t>
            </a:r>
            <a:r>
              <a:rPr lang="zh-CN" altLang="en-US" sz="2400" b="1" i="0" u="none" strike="noStrike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Noto Serif SC" panose="02020200000000000000" charset="-122"/>
              </a:rPr>
              <a:t>按品质计价</a:t>
            </a:r>
            <a:r>
              <a:rPr lang="zh-CN" altLang="en-US" sz="2400" b="1" i="0" u="none" strike="noStrike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Noto Serif SC" panose="02020200000000000000" charset="-122"/>
              </a:rPr>
              <a:t>"</a:t>
            </a:r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DE6CF335-70B9-7C70-6AE2-0AE5BA8F93B5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209550" y="3764280"/>
          <a:ext cx="5427345" cy="2419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能源形式</a:t>
                      </a:r>
                    </a:p>
                  </a:txBody>
                  <a:tcPr marL="101600" marR="101600" marT="101600" marB="10160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λ 取值</a:t>
                      </a:r>
                    </a:p>
                  </a:txBody>
                  <a:tcPr marL="101600" marR="101600" marT="101600" marB="10160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备注</a:t>
                      </a:r>
                    </a:p>
                  </a:txBody>
                  <a:tcPr marL="101600" marR="101600" marT="101600" marB="10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3838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电能 / 机械能</a:t>
                      </a:r>
                    </a:p>
                  </a:txBody>
                  <a:tcPr marL="101600" marR="101600" marT="101600" marB="10160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2FA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1.00</a:t>
                      </a:r>
                    </a:p>
                  </a:txBody>
                  <a:tcPr marL="101600" marR="101600" marT="101600" marB="10160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3838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品质基准</a:t>
                      </a:r>
                    </a:p>
                  </a:txBody>
                  <a:tcPr marL="101600" marR="101600" marT="101600" marB="10160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3838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高温蒸汽（&gt;200℃）</a:t>
                      </a:r>
                    </a:p>
                  </a:txBody>
                  <a:tcPr marL="101600" marR="101600" marT="101600" marB="10160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2FA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0.5–0.8</a:t>
                      </a:r>
                    </a:p>
                  </a:txBody>
                  <a:tcPr marL="101600" marR="101600" marT="101600" marB="10160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3838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工业工艺热源</a:t>
                      </a:r>
                    </a:p>
                  </a:txBody>
                  <a:tcPr marL="101600" marR="101600" marT="101600" marB="10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33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3838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热水（≤180℃）</a:t>
                      </a:r>
                    </a:p>
                  </a:txBody>
                  <a:tcPr marL="101600" marR="101600" marT="101600" marB="10160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9B3A2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0.1–0.3</a:t>
                      </a:r>
                    </a:p>
                  </a:txBody>
                  <a:tcPr marL="101600" marR="101600" marT="101600" marB="10160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3838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低温供热</a:t>
                      </a:r>
                    </a:p>
                  </a:txBody>
                  <a:tcPr marL="101600" marR="101600" marT="101600" marB="10160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2" name="AutoShape 5">
                <a:extLst>
                  <a:ext uri="{FF2B5EF4-FFF2-40B4-BE49-F238E27FC236}">
                    <a16:creationId xmlns:a16="http://schemas.microsoft.com/office/drawing/2014/main" id="{4909A6D2-C7FC-166C-750E-F91DB90DA04B}"/>
                  </a:ext>
                </a:extLst>
              </p:cNvPr>
              <p:cNvSpPr/>
              <p:nvPr/>
            </p:nvSpPr>
            <p:spPr>
              <a:xfrm>
                <a:off x="361315" y="2348230"/>
                <a:ext cx="5145405" cy="956945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zh-CN" altLang="en-US" sz="1800" b="1" i="0" u="none" strike="noStrike" dirty="0">
                    <a:latin typeface="黑体" panose="02010609060101010101" pitchFamily="49" charset="-122"/>
                    <a:ea typeface="黑体" panose="02010609060101010101" pitchFamily="49" charset="-122"/>
                    <a:cs typeface="微软雅黑" panose="020B0503020204020204" pitchFamily="34" charset="-122"/>
                    <a:sym typeface="Noto Sans SC" panose="020B0200000000000000" charset="-122"/>
                  </a:rPr>
                  <a:t>对任一异质能源形式 </a:t>
                </a:r>
                <a14:m>
                  <m:oMath xmlns:m="http://schemas.openxmlformats.org/officeDocument/2006/math">
                    <m:r>
                      <a:rPr lang="zh-CN" altLang="en-US" sz="1800" b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rPr>
                      <m:t>𝑗</m:t>
                    </m:r>
                  </m:oMath>
                </a14:m>
                <a:r>
                  <a:rPr lang="zh-CN" altLang="en-US" sz="1800" b="1" i="0" u="none" strike="noStrike" dirty="0">
                    <a:latin typeface="黑体" panose="02010609060101010101" pitchFamily="49" charset="-122"/>
                    <a:ea typeface="黑体" panose="02010609060101010101" pitchFamily="49" charset="-122"/>
                    <a:cs typeface="微软雅黑" panose="020B0503020204020204" pitchFamily="34" charset="-122"/>
                    <a:sym typeface="Noto Sans SC" panose="020B0200000000000000" charset="-122"/>
                  </a:rPr>
                  <a:t>，其单位能量售价为：</a:t>
                </a:r>
                <a:endParaRPr lang="zh-CN" altLang="en-US" sz="1800" b="1" dirty="0">
                  <a:latin typeface="黑体" panose="02010609060101010101" pitchFamily="49" charset="-122"/>
                  <a:ea typeface="黑体" panose="02010609060101010101" pitchFamily="49" charset="-122"/>
                  <a:cs typeface="微软雅黑" panose="020B0503020204020204" pitchFamily="34" charset="-122"/>
                </a:endParaRPr>
              </a:p>
              <a:p>
                <a:pPr marL="0" indent="0" algn="l">
                  <a:lnSpc>
                    <a:spcPct val="12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Noto Sans SC" panose="020B0200000000000000" charset="-122"/>
                          </a:rPr>
                        </m:ctrlPr>
                      </m:sSubPr>
                      <m:e>
                        <m:r>
                          <a:rPr lang="zh-CN" altLang="en-US" sz="18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Noto Sans SC" panose="020B0200000000000000" charset="-122"/>
                          </a:rPr>
                          <m:t>𝑝</m:t>
                        </m:r>
                      </m:e>
                      <m:sub>
                        <m:r>
                          <a:rPr lang="zh-CN" altLang="en-US" sz="18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Noto Sans SC" panose="020B0200000000000000" charset="-122"/>
                          </a:rPr>
                          <m:t>𝑗</m:t>
                        </m:r>
                      </m:sub>
                    </m:sSub>
                    <m:r>
                      <a:rPr lang="zh-CN" altLang="en-US" sz="1800" b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rPr>
                      <m:t>=</m:t>
                    </m:r>
                    <m:sSub>
                      <m:sSubPr>
                        <m:ctrlPr>
                          <a:rPr lang="zh-CN" altLang="en-US" sz="18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Noto Sans SC" panose="020B0200000000000000" charset="-122"/>
                          </a:rPr>
                        </m:ctrlPr>
                      </m:sSubPr>
                      <m:e>
                        <m:r>
                          <a:rPr lang="zh-CN" altLang="en-US" sz="18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Noto Sans SC" panose="020B0200000000000000" charset="-122"/>
                          </a:rPr>
                          <m:t>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 sz="18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Noto Sans SC" panose="020B0200000000000000" charset="-122"/>
                          </a:rPr>
                          <m:t>ex</m:t>
                        </m:r>
                      </m:sub>
                    </m:sSub>
                    <m:r>
                      <a:rPr lang="zh-CN" altLang="en-US" sz="1800" b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rPr>
                      <m:t>⋅</m:t>
                    </m:r>
                    <m:sSub>
                      <m:sSubPr>
                        <m:ctrlPr>
                          <a:rPr lang="zh-CN" altLang="en-US" sz="18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Noto Sans SC" panose="020B0200000000000000" charset="-122"/>
                          </a:rPr>
                        </m:ctrlPr>
                      </m:sSubPr>
                      <m:e>
                        <m:r>
                          <a:rPr lang="zh-CN" altLang="en-US" sz="18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Noto Sans SC" panose="020B0200000000000000" charset="-122"/>
                          </a:rPr>
                          <m:t>𝜆</m:t>
                        </m:r>
                      </m:e>
                      <m:sub>
                        <m:r>
                          <a:rPr lang="zh-CN" altLang="en-US" sz="18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Noto Sans SC" panose="020B0200000000000000" charset="-12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1800" b="1" i="0" u="none" strike="noStrike" dirty="0">
                    <a:latin typeface="黑体" panose="02010609060101010101" pitchFamily="49" charset="-122"/>
                    <a:ea typeface="黑体" panose="02010609060101010101" pitchFamily="49" charset="-122"/>
                    <a:cs typeface="微软雅黑" panose="020B0503020204020204" pitchFamily="34" charset="-122"/>
                    <a:sym typeface="Noto Sans SC" panose="020B0200000000000000" charset="-122"/>
                  </a:rPr>
                  <a:t>，其中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Noto Sans SC" panose="020B0200000000000000" charset="-122"/>
                          </a:rPr>
                        </m:ctrlPr>
                      </m:sSubPr>
                      <m:e>
                        <m:r>
                          <a:rPr lang="zh-CN" altLang="en-US" sz="18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Noto Sans SC" panose="020B0200000000000000" charset="-122"/>
                          </a:rPr>
                          <m:t>𝜆</m:t>
                        </m:r>
                      </m:e>
                      <m:sub>
                        <m:r>
                          <a:rPr lang="zh-CN" altLang="en-US" sz="18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Noto Sans SC" panose="020B0200000000000000" charset="-122"/>
                          </a:rPr>
                          <m:t>𝑗</m:t>
                        </m:r>
                      </m:sub>
                    </m:sSub>
                    <m:r>
                      <a:rPr lang="zh-CN" altLang="en-US" sz="1800" b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rPr>
                      <m:t>=</m:t>
                    </m:r>
                    <m:sSub>
                      <m:sSubPr>
                        <m:ctrlPr>
                          <a:rPr lang="zh-CN" altLang="en-US" sz="18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Noto Sans SC" panose="020B0200000000000000" charset="-122"/>
                          </a:rPr>
                        </m:ctrlPr>
                      </m:sSubPr>
                      <m:e>
                        <m:r>
                          <a:rPr lang="zh-CN" altLang="en-US" sz="18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Noto Sans SC" panose="020B0200000000000000" charset="-122"/>
                          </a:rPr>
                          <m:t>𝐸</m:t>
                        </m:r>
                      </m:e>
                      <m:sub>
                        <m:r>
                          <a:rPr lang="zh-CN" altLang="en-US" sz="18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Noto Sans SC" panose="020B0200000000000000" charset="-122"/>
                          </a:rPr>
                          <m:t>𝑗</m:t>
                        </m:r>
                      </m:sub>
                    </m:sSub>
                    <m:r>
                      <a:rPr lang="zh-CN" altLang="en-US" sz="1800" b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rPr>
                      <m:t>/</m:t>
                    </m:r>
                    <m:sSub>
                      <m:sSubPr>
                        <m:ctrlPr>
                          <a:rPr lang="zh-CN" altLang="en-US" sz="18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Noto Sans SC" panose="020B0200000000000000" charset="-122"/>
                          </a:rPr>
                        </m:ctrlPr>
                      </m:sSubPr>
                      <m:e>
                        <m:r>
                          <a:rPr lang="zh-CN" altLang="en-US" sz="18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Noto Sans SC" panose="020B0200000000000000" charset="-122"/>
                          </a:rPr>
                          <m:t>𝑄</m:t>
                        </m:r>
                      </m:e>
                      <m:sub>
                        <m:r>
                          <a:rPr lang="zh-CN" altLang="en-US" sz="18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  <a:sym typeface="Noto Sans SC" panose="020B0200000000000000" charset="-12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1800" b="1" i="0" u="none" strike="noStrike" dirty="0">
                    <a:latin typeface="黑体" panose="02010609060101010101" pitchFamily="49" charset="-122"/>
                    <a:ea typeface="黑体" panose="02010609060101010101" pitchFamily="49" charset="-122"/>
                    <a:cs typeface="微软雅黑" panose="020B0503020204020204" pitchFamily="34" charset="-122"/>
                    <a:sym typeface="Noto Sans SC" panose="020B0200000000000000" charset="-122"/>
                  </a:rPr>
                  <a:t> 为能质系数</a:t>
                </a:r>
              </a:p>
            </p:txBody>
          </p:sp>
        </mc:Choice>
        <mc:Fallback xmlns="">
          <p:sp>
            <p:nvSpPr>
              <p:cNvPr id="32" name="AutoShape 5">
                <a:extLst>
                  <a:ext uri="{FF2B5EF4-FFF2-40B4-BE49-F238E27FC236}">
                    <a16:creationId xmlns:a16="http://schemas.microsoft.com/office/drawing/2014/main" id="{4909A6D2-C7FC-166C-750E-F91DB90DA0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15" y="2348230"/>
                <a:ext cx="5145405" cy="956945"/>
              </a:xfrm>
              <a:prstGeom prst="rect">
                <a:avLst/>
              </a:prstGeom>
              <a:blipFill>
                <a:blip r:embed="rId7"/>
                <a:stretch>
                  <a:fillRect l="-2725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上箭头 24">
            <a:extLst>
              <a:ext uri="{FF2B5EF4-FFF2-40B4-BE49-F238E27FC236}">
                <a16:creationId xmlns:a16="http://schemas.microsoft.com/office/drawing/2014/main" id="{B2CEF27D-6383-9AAB-54C8-B85BCB1B7898}"/>
              </a:ext>
            </a:extLst>
          </p:cNvPr>
          <p:cNvSpPr/>
          <p:nvPr/>
        </p:nvSpPr>
        <p:spPr>
          <a:xfrm rot="8280000">
            <a:off x="7920355" y="1993900"/>
            <a:ext cx="564515" cy="1297305"/>
          </a:xfrm>
          <a:prstGeom prst="upArrow">
            <a:avLst/>
          </a:prstGeom>
          <a:solidFill>
            <a:srgbClr val="17499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AutoShape 8">
            <a:extLst>
              <a:ext uri="{FF2B5EF4-FFF2-40B4-BE49-F238E27FC236}">
                <a16:creationId xmlns:a16="http://schemas.microsoft.com/office/drawing/2014/main" id="{18FEBBC7-74D1-E48B-F37D-2205AE7796DD}"/>
              </a:ext>
            </a:extLst>
          </p:cNvPr>
          <p:cNvSpPr/>
          <p:nvPr/>
        </p:nvSpPr>
        <p:spPr>
          <a:xfrm>
            <a:off x="6791960" y="3216910"/>
            <a:ext cx="4661287" cy="29673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8575" cap="flat" cmpd="sng">
            <a:solidFill>
              <a:schemeClr val="accent1">
                <a:shade val="5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indent="0" algn="l" fontAlgn="auto">
              <a:lnSpc>
                <a:spcPct val="150000"/>
              </a:lnSpc>
              <a:defRPr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Cambria Math" panose="02040503050406030204" charset="0"/>
              </a:rPr>
              <a:t>1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Cambria Math" panose="02040503050406030204" charset="0"/>
                <a:sym typeface="+mn-ea"/>
              </a:rPr>
              <a:t>. </a:t>
            </a:r>
            <a:r>
              <a:rPr lang="zh-CN" altLang="en-US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mbria Math" panose="02040503050406030204" charset="0"/>
              </a:rPr>
              <a:t>引导梯级利用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Cambria Math" panose="02040503050406030204" charset="0"/>
              </a:rPr>
              <a:t>—— 价格自动驱动 "热尽其用"</a:t>
            </a:r>
          </a:p>
          <a:p>
            <a:pPr indent="0" algn="l" fontAlgn="auto">
              <a:lnSpc>
                <a:spcPct val="150000"/>
              </a:lnSpc>
              <a:defRPr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Cambria Math" panose="02040503050406030204" charset="0"/>
              </a:rPr>
              <a:t>2. </a:t>
            </a:r>
            <a:r>
              <a:rPr lang="zh-CN" altLang="en-US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mbria Math" panose="02040503050406030204" charset="0"/>
              </a:rPr>
              <a:t>纠正逆向行为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Cambria Math" panose="02040503050406030204" charset="0"/>
              </a:rPr>
              <a:t>—— 电锅炉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Cambria Math" panose="02040503050406030204" charset="0"/>
              </a:rPr>
              <a:t> ”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Cambria Math" panose="02040503050406030204" charset="0"/>
              </a:rPr>
              <a:t>高品低用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Cambria Math" panose="02040503050406030204" charset="0"/>
              </a:rPr>
              <a:t>”</a:t>
            </a:r>
          </a:p>
          <a:p>
            <a:pPr indent="0" algn="l" fontAlgn="auto">
              <a:lnSpc>
                <a:spcPct val="150000"/>
              </a:lnSpc>
              <a:defRPr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Cambria Math" panose="02040503050406030204" charset="0"/>
              </a:rPr>
              <a:t>3. </a:t>
            </a:r>
            <a:r>
              <a:rPr lang="zh-CN" altLang="en-US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mbria Math" panose="02040503050406030204" charset="0"/>
              </a:rPr>
              <a:t>公平分摊成本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Cambria Math" panose="02040503050406030204" charset="0"/>
              </a:rPr>
              <a:t>—— 低品位用户不再为高品质买单</a:t>
            </a:r>
          </a:p>
          <a:p>
            <a:pPr indent="0" algn="l" fontAlgn="auto">
              <a:lnSpc>
                <a:spcPct val="150000"/>
              </a:lnSpc>
              <a:defRPr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Cambria Math" panose="02040503050406030204" charset="0"/>
              </a:rPr>
              <a:t>4.</a:t>
            </a:r>
            <a:r>
              <a:rPr lang="zh-CN" altLang="en-US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mbria Math" panose="02040503050406030204" charset="0"/>
              </a:rPr>
              <a:t> 支撑双碳目标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Cambria Math" panose="02040503050406030204" charset="0"/>
              </a:rPr>
              <a:t>—— 减少</a:t>
            </a: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  <a:cs typeface="Cambria Math" panose="02040503050406030204" charset="0"/>
              </a:rPr>
              <a:t>㶲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Cambria Math" panose="02040503050406030204" charset="0"/>
              </a:rPr>
              <a:t>损即减少一次能源浪费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  <a:cs typeface="Cambria Math" panose="0204050305040603020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C1E870-2879-6410-D20B-5BFD5EB13AD7}"/>
              </a:ext>
            </a:extLst>
          </p:cNvPr>
          <p:cNvSpPr txBox="1"/>
          <p:nvPr/>
        </p:nvSpPr>
        <p:spPr>
          <a:xfrm>
            <a:off x="0" y="45005"/>
            <a:ext cx="584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㶲经济与市场化</a:t>
            </a:r>
          </a:p>
        </p:txBody>
      </p:sp>
    </p:spTree>
    <p:extLst>
      <p:ext uri="{BB962C8B-B14F-4D97-AF65-F5344CB8AC3E}">
        <p14:creationId xmlns:p14="http://schemas.microsoft.com/office/powerpoint/2010/main" val="1288139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D49CA-7D19-119E-1B99-3F12022C1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" descr="D:\研1\溶酶体\1003剪影\剪影红 低版本.png剪影红 低版本">
            <a:extLst>
              <a:ext uri="{FF2B5EF4-FFF2-40B4-BE49-F238E27FC236}">
                <a16:creationId xmlns:a16="http://schemas.microsoft.com/office/drawing/2014/main" id="{0A158A7C-498E-94F8-1F14-A4D6A34571E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-71120" y="5483912"/>
            <a:ext cx="12183880" cy="243677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42358E2-9ADC-B023-25F7-02088BFDCCC8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1B5C41-7ED8-8B11-6CD9-D473D0E68DC0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66009D2A-9646-358A-8EC7-BFC1373EA9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07376" y="134657"/>
            <a:ext cx="2468798" cy="438897"/>
          </a:xfrm>
          <a:prstGeom prst="rect">
            <a:avLst/>
          </a:prstGeom>
        </p:spPr>
      </p:pic>
      <p:sp>
        <p:nvSpPr>
          <p:cNvPr id="21" name="箭头: 五边形 20">
            <a:extLst>
              <a:ext uri="{FF2B5EF4-FFF2-40B4-BE49-F238E27FC236}">
                <a16:creationId xmlns:a16="http://schemas.microsoft.com/office/drawing/2014/main" id="{702EA275-7539-6DEE-F421-55D652D6364E}"/>
              </a:ext>
            </a:extLst>
          </p:cNvPr>
          <p:cNvSpPr/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F67F5E2-BC9C-2236-3B1A-D584AFB80735}"/>
              </a:ext>
            </a:extLst>
          </p:cNvPr>
          <p:cNvSpPr txBox="1"/>
          <p:nvPr/>
        </p:nvSpPr>
        <p:spPr>
          <a:xfrm>
            <a:off x="60968" y="1025341"/>
            <a:ext cx="4709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碳排放视角下的㶲经济分析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66415C-C88C-9D3F-F6FB-80313E8B00D1}"/>
              </a:ext>
            </a:extLst>
          </p:cNvPr>
          <p:cNvSpPr txBox="1"/>
          <p:nvPr/>
        </p:nvSpPr>
        <p:spPr>
          <a:xfrm>
            <a:off x="0" y="45005"/>
            <a:ext cx="584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案例分析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8ADC47D-00B0-76E2-A9DD-9FA8D39220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61" y="1612530"/>
            <a:ext cx="6708249" cy="338147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B9890951-606B-273A-FD84-EA15ECCD9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719318"/>
              </p:ext>
            </p:extLst>
          </p:nvPr>
        </p:nvGraphicFramePr>
        <p:xfrm>
          <a:off x="7005419" y="1909245"/>
          <a:ext cx="4770755" cy="296354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0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0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943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 baseline="0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场景</a:t>
                      </a:r>
                      <a:endParaRPr lang="en-US" sz="1600" b="1" i="0" u="none" strike="noStrike" baseline="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3A2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 baseline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碳成本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3A2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 baseline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弃风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3A2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 baseline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燃料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3A2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 baseline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综合成本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3A2E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baseline="0" dirty="0">
                          <a:solidFill>
                            <a:srgbClr val="1F2329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baseline="0" dirty="0">
                          <a:solidFill>
                            <a:srgbClr val="1F2329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baseline="0" dirty="0">
                          <a:solidFill>
                            <a:srgbClr val="1F2329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76.0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baseline="0">
                          <a:solidFill>
                            <a:srgbClr val="1F2329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356.7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baseline="0">
                          <a:solidFill>
                            <a:srgbClr val="1F2329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432.8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45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baseline="0" dirty="0">
                          <a:solidFill>
                            <a:srgbClr val="1F2329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baseline="0" dirty="0">
                          <a:solidFill>
                            <a:srgbClr val="1F2329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8.0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baseline="0" dirty="0">
                          <a:solidFill>
                            <a:srgbClr val="1F2329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25.6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baseline="0">
                          <a:solidFill>
                            <a:srgbClr val="1F2329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364.8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baseline="0">
                          <a:solidFill>
                            <a:srgbClr val="1F2329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397.9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baseline="0">
                          <a:solidFill>
                            <a:srgbClr val="1F2329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baseline="0">
                          <a:solidFill>
                            <a:srgbClr val="1F2329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13.9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baseline="0" dirty="0">
                          <a:solidFill>
                            <a:srgbClr val="1F2329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69.2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baseline="0" dirty="0">
                          <a:solidFill>
                            <a:srgbClr val="1F2329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361.0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baseline="0">
                          <a:solidFill>
                            <a:srgbClr val="1F2329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444.0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baseline="0">
                          <a:solidFill>
                            <a:srgbClr val="1F2329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3A2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baseline="0">
                          <a:solidFill>
                            <a:srgbClr val="1F2329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12.2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3A2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baseline="0">
                          <a:solidFill>
                            <a:srgbClr val="1F2329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22.7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3A2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baseline="0" dirty="0">
                          <a:solidFill>
                            <a:srgbClr val="1F2329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362.8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3A2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baseline="0" dirty="0">
                          <a:solidFill>
                            <a:srgbClr val="1F2329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397.7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3A2E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C3A95BC7-0F42-ABB6-F347-F896885AE4CA}"/>
              </a:ext>
            </a:extLst>
          </p:cNvPr>
          <p:cNvSpPr txBox="1"/>
          <p:nvPr/>
        </p:nvSpPr>
        <p:spPr>
          <a:xfrm>
            <a:off x="397830" y="5066516"/>
            <a:ext cx="1137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8383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Noto Sans SC" panose="020B0200000000000000" charset="-122"/>
              </a:rPr>
              <a:t>场景1，常规火电机组；场景2，常规火电机组并引入P2G机组；场景3，传统火电机组加装碳捕集设备改造为碳捕集电厂，不考虑P2G机组；场景4，碳捕集电厂同时引入P2G-CCPP联合运行机组，并考虑碳交易成本</a:t>
            </a:r>
            <a:r>
              <a:rPr lang="zh-CN" altLang="en-US" dirty="0">
                <a:solidFill>
                  <a:srgbClr val="38383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Noto Sans SC" panose="020B0200000000000000" charset="-122"/>
              </a:rPr>
              <a:t>（万元）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4E761E0-653A-F527-4FEB-85F5A006ECA9}"/>
              </a:ext>
            </a:extLst>
          </p:cNvPr>
          <p:cNvSpPr/>
          <p:nvPr/>
        </p:nvSpPr>
        <p:spPr>
          <a:xfrm>
            <a:off x="415826" y="5709672"/>
            <a:ext cx="11378343" cy="932180"/>
          </a:xfrm>
          <a:prstGeom prst="rect">
            <a:avLst/>
          </a:prstGeom>
          <a:solidFill>
            <a:schemeClr val="tx2">
              <a:lumMod val="20000"/>
              <a:lumOff val="80000"/>
              <a:alpha val="59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993413D-63B5-8B6C-6F94-219DB8B6E3CE}"/>
              </a:ext>
            </a:extLst>
          </p:cNvPr>
          <p:cNvSpPr txBox="1"/>
          <p:nvPr/>
        </p:nvSpPr>
        <p:spPr>
          <a:xfrm>
            <a:off x="415827" y="5712847"/>
            <a:ext cx="1136034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ctr" fontAlgn="auto"/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微软雅黑" panose="020B0503020204020204" pitchFamily="34" charset="-122"/>
              </a:rPr>
              <a:t>P2G-CCPP系统中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微软雅黑" panose="020B0503020204020204" pitchFamily="34" charset="-122"/>
              </a:rPr>
              <a:t>P2G与碳捕集设备联动共同消纳弃风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微软雅黑" panose="020B0503020204020204" pitchFamily="34" charset="-122"/>
              </a:rPr>
              <a:t>，碳成本增加了12.2万元，总成本降低了8.10%，证明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微软雅黑" panose="020B0503020204020204" pitchFamily="34" charset="-122"/>
              </a:rPr>
              <a:t>P2G-CCPP在低碳减排与风电消纳方面有效</a:t>
            </a:r>
          </a:p>
        </p:txBody>
      </p:sp>
    </p:spTree>
    <p:extLst>
      <p:ext uri="{BB962C8B-B14F-4D97-AF65-F5344CB8AC3E}">
        <p14:creationId xmlns:p14="http://schemas.microsoft.com/office/powerpoint/2010/main" val="28256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C1661-22D6-B725-D50A-1740A1F5E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" descr="D:\研1\溶酶体\1003剪影\剪影红 低版本.png剪影红 低版本">
            <a:extLst>
              <a:ext uri="{FF2B5EF4-FFF2-40B4-BE49-F238E27FC236}">
                <a16:creationId xmlns:a16="http://schemas.microsoft.com/office/drawing/2014/main" id="{51719224-DA04-D2A0-D075-B1B65500CFF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-71120" y="5483912"/>
            <a:ext cx="12183880" cy="243677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7D1625F-7C1D-1750-12A4-A32A937D5D7F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6934BEB-2233-4429-05AC-A23370307D71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D75803EE-C95B-9C4A-E370-B692F5BC49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07376" y="134657"/>
            <a:ext cx="2468798" cy="438897"/>
          </a:xfrm>
          <a:prstGeom prst="rect">
            <a:avLst/>
          </a:prstGeom>
        </p:spPr>
      </p:pic>
      <p:sp>
        <p:nvSpPr>
          <p:cNvPr id="21" name="箭头: 五边形 20">
            <a:extLst>
              <a:ext uri="{FF2B5EF4-FFF2-40B4-BE49-F238E27FC236}">
                <a16:creationId xmlns:a16="http://schemas.microsoft.com/office/drawing/2014/main" id="{12C7A6D8-91A9-A96F-7171-647B113ED911}"/>
              </a:ext>
            </a:extLst>
          </p:cNvPr>
          <p:cNvSpPr/>
          <p:nvPr/>
        </p:nvSpPr>
        <p:spPr>
          <a:xfrm>
            <a:off x="0" y="962580"/>
            <a:ext cx="4770120" cy="587189"/>
          </a:xfrm>
          <a:prstGeom prst="homePlate">
            <a:avLst/>
          </a:prstGeom>
          <a:solidFill>
            <a:srgbClr val="17499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4C4C78B-DF80-DAF9-34F6-BC0FCFCE44A6}"/>
              </a:ext>
            </a:extLst>
          </p:cNvPr>
          <p:cNvSpPr txBox="1"/>
          <p:nvPr/>
        </p:nvSpPr>
        <p:spPr>
          <a:xfrm>
            <a:off x="60968" y="1025341"/>
            <a:ext cx="5533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天然气余压发电工艺能效优化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17E167-044D-FFAC-2435-6341436E26B1}"/>
              </a:ext>
            </a:extLst>
          </p:cNvPr>
          <p:cNvSpPr txBox="1"/>
          <p:nvPr/>
        </p:nvSpPr>
        <p:spPr>
          <a:xfrm>
            <a:off x="0" y="45005"/>
            <a:ext cx="584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案例分析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D940F7E-E524-9027-588C-9F2872E2F99C}"/>
              </a:ext>
            </a:extLst>
          </p:cNvPr>
          <p:cNvSpPr/>
          <p:nvPr/>
        </p:nvSpPr>
        <p:spPr>
          <a:xfrm>
            <a:off x="776605" y="5709672"/>
            <a:ext cx="10638155" cy="932180"/>
          </a:xfrm>
          <a:prstGeom prst="rect">
            <a:avLst/>
          </a:prstGeom>
          <a:solidFill>
            <a:schemeClr val="tx2">
              <a:lumMod val="20000"/>
              <a:lumOff val="80000"/>
              <a:alpha val="59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D4C1FF-1F15-6340-2202-15A0DA440B08}"/>
              </a:ext>
            </a:extLst>
          </p:cNvPr>
          <p:cNvSpPr txBox="1"/>
          <p:nvPr/>
        </p:nvSpPr>
        <p:spPr>
          <a:xfrm>
            <a:off x="1159510" y="5712847"/>
            <a:ext cx="98729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ctr" fontAlgn="auto"/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微软雅黑" panose="020B0503020204020204" pitchFamily="34" charset="-122"/>
              </a:rPr>
              <a:t>工况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微软雅黑" panose="020B0503020204020204" pitchFamily="34" charset="-122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微软雅黑" panose="020B0503020204020204" pitchFamily="34" charset="-122"/>
              </a:rPr>
              <a:t>、工况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微软雅黑" panose="020B0503020204020204" pitchFamily="34" charset="-122"/>
              </a:rPr>
              <a:t>5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微软雅黑" panose="020B0503020204020204" pitchFamily="34" charset="-122"/>
              </a:rPr>
              <a:t>、工况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微软雅黑" panose="020B0503020204020204" pitchFamily="34" charset="-122"/>
              </a:rPr>
              <a:t>6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微软雅黑" panose="020B0503020204020204" pitchFamily="34" charset="-122"/>
              </a:rPr>
              <a:t>和工况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微软雅黑" panose="020B0503020204020204" pitchFamily="34" charset="-122"/>
              </a:rPr>
              <a:t>7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微软雅黑" panose="020B0503020204020204" pitchFamily="34" charset="-122"/>
              </a:rPr>
              <a:t>的㶲损相对较大，㶲效率相对较低，说明偏离设计流量是导致工艺能量利用率较低的主要原因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ED5A035-A986-4BDF-F8CD-A0AB57BC662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8" t="8965" r="12647"/>
          <a:stretch>
            <a:fillRect/>
          </a:stretch>
        </p:blipFill>
        <p:spPr>
          <a:xfrm>
            <a:off x="623467" y="1711026"/>
            <a:ext cx="4586208" cy="38073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52DFC3D-9BC9-E6D8-D6C4-F14D03013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487035"/>
              </p:ext>
            </p:extLst>
          </p:nvPr>
        </p:nvGraphicFramePr>
        <p:xfrm>
          <a:off x="6597318" y="1805360"/>
          <a:ext cx="4817443" cy="34545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58391">
                  <a:extLst>
                    <a:ext uri="{9D8B030D-6E8A-4147-A177-3AD203B41FA5}">
                      <a16:colId xmlns:a16="http://schemas.microsoft.com/office/drawing/2014/main" val="893460650"/>
                    </a:ext>
                  </a:extLst>
                </a:gridCol>
                <a:gridCol w="1074184">
                  <a:extLst>
                    <a:ext uri="{9D8B030D-6E8A-4147-A177-3AD203B41FA5}">
                      <a16:colId xmlns:a16="http://schemas.microsoft.com/office/drawing/2014/main" val="1402093086"/>
                    </a:ext>
                  </a:extLst>
                </a:gridCol>
                <a:gridCol w="1535173">
                  <a:extLst>
                    <a:ext uri="{9D8B030D-6E8A-4147-A177-3AD203B41FA5}">
                      <a16:colId xmlns:a16="http://schemas.microsoft.com/office/drawing/2014/main" val="2885808523"/>
                    </a:ext>
                  </a:extLst>
                </a:gridCol>
                <a:gridCol w="1249695">
                  <a:extLst>
                    <a:ext uri="{9D8B030D-6E8A-4147-A177-3AD203B41FA5}">
                      <a16:colId xmlns:a16="http://schemas.microsoft.com/office/drawing/2014/main" val="964570238"/>
                    </a:ext>
                  </a:extLst>
                </a:gridCol>
              </a:tblGrid>
              <a:tr h="718824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zh-CN" sz="1800" kern="100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工况</a:t>
                      </a:r>
                      <a:endParaRPr lang="zh-CN" sz="1800" kern="100" baseline="0" dirty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zh-CN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流量比</a:t>
                      </a: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V/V0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zh-CN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㶲损值</a:t>
                      </a: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/kW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zh-CN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㶲效率</a:t>
                      </a: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/%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0067297"/>
                  </a:ext>
                </a:extLst>
              </a:tr>
              <a:tr h="341702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1.01</a:t>
                      </a:r>
                      <a:endParaRPr lang="zh-CN" sz="1800" kern="100" baseline="0" dirty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92.6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54.5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60403391"/>
                  </a:ext>
                </a:extLst>
              </a:tr>
              <a:tr h="341702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1.00</a:t>
                      </a:r>
                      <a:endParaRPr lang="zh-CN" sz="1800" kern="100" baseline="0" dirty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95.3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56.8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85045239"/>
                  </a:ext>
                </a:extLst>
              </a:tr>
              <a:tr h="341702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1.09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108.5</a:t>
                      </a:r>
                      <a:endParaRPr lang="zh-CN" sz="1800" kern="100" baseline="0" dirty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57.4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15116823"/>
                  </a:ext>
                </a:extLst>
              </a:tr>
              <a:tr h="341702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1.16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112.1</a:t>
                      </a:r>
                      <a:endParaRPr lang="zh-CN" sz="1800" kern="100" baseline="0" dirty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49.7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55574316"/>
                  </a:ext>
                </a:extLst>
              </a:tr>
              <a:tr h="341702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1.24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115.0</a:t>
                      </a:r>
                      <a:endParaRPr lang="zh-CN" sz="1800" kern="100" baseline="0" dirty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46.7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35617043"/>
                  </a:ext>
                </a:extLst>
              </a:tr>
              <a:tr h="341702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6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0.91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116.8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47.2</a:t>
                      </a:r>
                      <a:endParaRPr lang="zh-CN" sz="1800" kern="100" baseline="0" dirty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12464375"/>
                  </a:ext>
                </a:extLst>
              </a:tr>
              <a:tr h="341702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7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0.91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105.5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49.8</a:t>
                      </a:r>
                      <a:endParaRPr lang="zh-CN" sz="1800" kern="100" baseline="0" dirty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41955630"/>
                  </a:ext>
                </a:extLst>
              </a:tr>
              <a:tr h="341702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8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0.98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94.6</a:t>
                      </a:r>
                      <a:endParaRPr lang="zh-CN" sz="1800" kern="100" baseline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38889"/>
                        </a:lnSpc>
                        <a:buNone/>
                      </a:pPr>
                      <a:r>
                        <a:rPr lang="en-US" sz="1800" kern="100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56.7</a:t>
                      </a:r>
                      <a:endParaRPr lang="zh-CN" sz="1800" kern="100" baseline="0" dirty="0"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8841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3506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42CF7-E5E6-B7E8-5985-BE88BD48E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" descr="D:\研1\溶酶体\1003剪影\剪影红 低版本.png剪影红 低版本">
            <a:extLst>
              <a:ext uri="{FF2B5EF4-FFF2-40B4-BE49-F238E27FC236}">
                <a16:creationId xmlns:a16="http://schemas.microsoft.com/office/drawing/2014/main" id="{24F2BF7F-11AB-A338-547D-C1209937E244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-71120" y="5483912"/>
            <a:ext cx="12183880" cy="243677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E3F2FE8-912F-6F69-CFD8-03B7FC6D53DD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8C6BFBF-F785-E636-6E79-856C6B1E24B9}"/>
              </a:ext>
            </a:extLst>
          </p:cNvPr>
          <p:cNvSpPr/>
          <p:nvPr/>
        </p:nvSpPr>
        <p:spPr>
          <a:xfrm>
            <a:off x="0" y="0"/>
            <a:ext cx="12192000" cy="708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200" dist="63500" dir="5400000" algn="tl" rotWithShape="0">
              <a:schemeClr val="bg1">
                <a:lumMod val="7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5C25BFC7-3BCF-DAFE-654C-EC19CD466A6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07376" y="134657"/>
            <a:ext cx="2468798" cy="43889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5C19ED5-2AAD-270E-9B5B-A9CF5DF677CF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36084"/>
          <a:stretch>
            <a:fillRect/>
          </a:stretch>
        </p:blipFill>
        <p:spPr>
          <a:xfrm>
            <a:off x="0" y="1388103"/>
            <a:ext cx="2766609" cy="432853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BB786F8-4D69-690C-ED65-6160A932860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464470" y="1440619"/>
            <a:ext cx="8099657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2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erif SC" panose="02020200000000000000" charset="-122"/>
                <a:sym typeface="HarmonyOS Sans SC Light" panose="00000400000000000000" pitchFamily="2" charset="-122"/>
              </a:rPr>
              <a:t>高比例可再生能源接入</a:t>
            </a:r>
            <a:r>
              <a:rPr lang="zh-CN" altLang="en-US" sz="2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erif SC" panose="02020200000000000000" charset="-122"/>
                <a:sym typeface="HarmonyOS Sans SC Light" panose="00000400000000000000" pitchFamily="2" charset="-122"/>
              </a:rPr>
              <a:t>：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HarmonyOS Sans SC Light" panose="00000400000000000000" pitchFamily="2" charset="-122"/>
              </a:rPr>
              <a:t>量质协同的新挑战与应对机制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938838-CAAB-8BC5-F8FD-395BA1C651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26038" y="1406182"/>
            <a:ext cx="576000" cy="5760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EA62A0-E022-498C-FFA4-1E93ECC7E0E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551554" y="2645193"/>
            <a:ext cx="576000" cy="5760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E87958-54C8-647D-E3B4-FB84968A7F4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551554" y="3918337"/>
            <a:ext cx="576000" cy="5760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D74DAA-E4EA-F719-1B6C-CEDE6977C17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26038" y="5123212"/>
            <a:ext cx="576000" cy="5760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758B389-C0FC-8F24-7F0B-BC0DB9A6FFA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269701" y="2679630"/>
            <a:ext cx="7361778" cy="943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erif SC" panose="02020200000000000000" charset="-122"/>
                <a:sym typeface="Noto Serif SC" panose="02020200000000000000" charset="-122"/>
              </a:rPr>
              <a:t>新型能源载体接入：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Noto Serif SC" panose="02020200000000000000" charset="-122"/>
              </a:rPr>
              <a:t>氢能等载体的㶲流建模需求</a:t>
            </a:r>
            <a:endParaRPr lang="en-US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HarmonyOS Sans SC Light" panose="00000400000000000000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A319A9-647B-9369-98DA-E97097D6451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389856" y="5157649"/>
            <a:ext cx="8099657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erif SC" panose="02020200000000000000" charset="-122"/>
                <a:sym typeface="Noto Serif SC" panose="02020200000000000000" charset="-122"/>
              </a:rPr>
              <a:t>工程应用转化路径：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HarmonyOS Sans SC Light" panose="00000400000000000000" pitchFamily="2" charset="-122"/>
              </a:rPr>
              <a:t>从理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Noto Serif SC" panose="02020200000000000000" charset="-122"/>
              </a:rPr>
              <a:t>论研究走向工程示范与产业化</a:t>
            </a:r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HarmonyOS Sans SC Light" panose="00000400000000000000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23EDA7-E1D1-9EEF-B75F-65B06B7675BA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269701" y="3952774"/>
            <a:ext cx="7922300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erif SC" panose="02020200000000000000" charset="-122"/>
                <a:sym typeface="Noto Serif SC" panose="02020200000000000000" charset="-122"/>
              </a:rPr>
              <a:t>人工智能与大数据：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Noto Serif SC" panose="02020200000000000000" charset="-122"/>
              </a:rPr>
              <a:t>解决高维、非线性、不确定性的㶲流优化问题</a:t>
            </a:r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HarmonyOS Sans SC Light" panose="00000400000000000000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9A01EC4-C23A-7D97-CC41-0F0451EA5299}"/>
              </a:ext>
            </a:extLst>
          </p:cNvPr>
          <p:cNvSpPr txBox="1"/>
          <p:nvPr/>
        </p:nvSpPr>
        <p:spPr>
          <a:xfrm>
            <a:off x="0" y="45005"/>
            <a:ext cx="584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研究展望</a:t>
            </a:r>
          </a:p>
        </p:txBody>
      </p:sp>
    </p:spTree>
    <p:extLst>
      <p:ext uri="{BB962C8B-B14F-4D97-AF65-F5344CB8AC3E}">
        <p14:creationId xmlns:p14="http://schemas.microsoft.com/office/powerpoint/2010/main" val="3276526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7562E-811E-663F-0550-524512F76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73B35F8-3CCC-B8C3-E0BA-6674B279FED9}"/>
              </a:ext>
            </a:extLst>
          </p:cNvPr>
          <p:cNvSpPr/>
          <p:nvPr/>
        </p:nvSpPr>
        <p:spPr>
          <a:xfrm>
            <a:off x="0" y="2222652"/>
            <a:ext cx="12192000" cy="241269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214997-4AF5-7437-0942-46D103573F6D}"/>
              </a:ext>
            </a:extLst>
          </p:cNvPr>
          <p:cNvSpPr/>
          <p:nvPr/>
        </p:nvSpPr>
        <p:spPr>
          <a:xfrm>
            <a:off x="-1" y="2222653"/>
            <a:ext cx="12192000" cy="2412695"/>
          </a:xfrm>
          <a:prstGeom prst="rect">
            <a:avLst/>
          </a:prstGeom>
          <a:gradFill>
            <a:gsLst>
              <a:gs pos="35000">
                <a:srgbClr val="174994">
                  <a:alpha val="78000"/>
                </a:srgbClr>
              </a:gs>
              <a:gs pos="0">
                <a:schemeClr val="tx1">
                  <a:alpha val="29000"/>
                </a:schemeClr>
              </a:gs>
              <a:gs pos="100000">
                <a:srgbClr val="17499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32B9AA9-583D-DECC-CC7A-B706ABBF94F9}"/>
              </a:ext>
            </a:extLst>
          </p:cNvPr>
          <p:cNvSpPr txBox="1"/>
          <p:nvPr/>
        </p:nvSpPr>
        <p:spPr>
          <a:xfrm>
            <a:off x="4465914" y="2459503"/>
            <a:ext cx="75079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感谢各位观看</a:t>
            </a:r>
            <a:endParaRPr lang="en-US" altLang="zh-CN" sz="6000" b="1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algn="ctr"/>
            <a:r>
              <a:rPr lang="zh-CN" altLang="en-US" sz="60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敬请批评指正</a:t>
            </a:r>
            <a:endParaRPr lang="en-US" altLang="zh-CN" sz="6000" b="1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6E17D31-44CF-728C-81C9-905A36C55D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440" y="2527412"/>
            <a:ext cx="1803174" cy="180317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0A21D4E-1E9A-E6B5-D6CF-7F9F97EAC3A3}"/>
              </a:ext>
            </a:extLst>
          </p:cNvPr>
          <p:cNvSpPr/>
          <p:nvPr/>
        </p:nvSpPr>
        <p:spPr>
          <a:xfrm>
            <a:off x="5117055" y="2427194"/>
            <a:ext cx="67235" cy="20036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2964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34*265"/>
  <p:tag name="TABLE_ENDDRAG_RECT" val="479*146*434*26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27*190"/>
  <p:tag name="TABLE_ENDDRAG_RECT" val="16*296*427*19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2911023622047,&quot;left&quot;:206.77464566929135,&quot;top&quot;:110.72299212598425,&quot;width&quot;:767.1904724409449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2911023622047,&quot;left&quot;:206.77464566929135,&quot;top&quot;:110.72299212598425,&quot;width&quot;:767.1904724409449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2911023622047,&quot;left&quot;:206.77464566929135,&quot;top&quot;:110.72299212598425,&quot;width&quot;:767.1904724409449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2911023622047,&quot;left&quot;:206.77464566929135,&quot;top&quot;:110.72299212598425,&quot;width&quot;:767.1904724409449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2911023622047,&quot;left&quot;:206.77464566929135,&quot;top&quot;:110.72299212598425,&quot;width&quot;:767.1904724409449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2911023622047,&quot;left&quot;:206.77464566929135,&quot;top&quot;:110.72299212598425,&quot;width&quot;:767.1904724409449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2911023622047,&quot;left&quot;:206.77464566929135,&quot;top&quot;:110.72299212598425,&quot;width&quot;:767.1904724409449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2911023622047,&quot;left&quot;:206.77464566929135,&quot;top&quot;:110.72299212598425,&quot;width&quot;:767.1904724409449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4848</TotalTime>
  <Words>3441</Words>
  <Application>Microsoft Office PowerPoint</Application>
  <PresentationFormat>宽屏</PresentationFormat>
  <Paragraphs>362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思源黑体</vt:lpstr>
      <vt:lpstr>Cambria Math</vt:lpstr>
      <vt:lpstr>Noto Sans SC</vt:lpstr>
      <vt:lpstr>等线</vt:lpstr>
      <vt:lpstr>等线 Light</vt:lpstr>
      <vt:lpstr>黑体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ucaslax</dc:creator>
  <cp:lastModifiedBy>文涛 李</cp:lastModifiedBy>
  <cp:revision>1257</cp:revision>
  <dcterms:created xsi:type="dcterms:W3CDTF">2024-12-03T14:18:36Z</dcterms:created>
  <dcterms:modified xsi:type="dcterms:W3CDTF">2026-10-14T00:36:11Z</dcterms:modified>
</cp:coreProperties>
</file>