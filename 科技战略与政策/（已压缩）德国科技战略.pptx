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57" r:id="rId4"/>
    <p:sldId id="286" r:id="rId5"/>
    <p:sldId id="287" r:id="rId6"/>
    <p:sldId id="290" r:id="rId7"/>
    <p:sldId id="291" r:id="rId8"/>
    <p:sldId id="292" r:id="rId9"/>
    <p:sldId id="293" r:id="rId10"/>
    <p:sldId id="294" r:id="rId11"/>
    <p:sldId id="295" r:id="rId12"/>
    <p:sldId id="300" r:id="rId13"/>
    <p:sldId id="296" r:id="rId14"/>
    <p:sldId id="297" r:id="rId15"/>
    <p:sldId id="298" r:id="rId16"/>
    <p:sldId id="302" r:id="rId17"/>
    <p:sldId id="303" r:id="rId18"/>
    <p:sldId id="304" r:id="rId19"/>
    <p:sldId id="305" r:id="rId20"/>
    <p:sldId id="306" r:id="rId21"/>
    <p:sldId id="307" r:id="rId22"/>
    <p:sldId id="301" r:id="rId23"/>
    <p:sldId id="308" r:id="rId24"/>
    <p:sldId id="309" r:id="rId25"/>
    <p:sldId id="310" r:id="rId26"/>
    <p:sldId id="311" r:id="rId27"/>
    <p:sldId id="288" r:id="rId28"/>
    <p:sldId id="312" r:id="rId29"/>
    <p:sldId id="267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66D"/>
    <a:srgbClr val="174994"/>
    <a:srgbClr val="4368AA"/>
    <a:srgbClr val="2E75B6"/>
    <a:srgbClr val="1627A6"/>
    <a:srgbClr val="2319A3"/>
    <a:srgbClr val="1E60C0"/>
    <a:srgbClr val="F2F2F2"/>
    <a:srgbClr val="E3E7EB"/>
    <a:srgbClr val="2A9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862" autoAdjust="0"/>
  </p:normalViewPr>
  <p:slideViewPr>
    <p:cSldViewPr snapToGrid="0">
      <p:cViewPr varScale="1">
        <p:scale>
          <a:sx n="84" d="100"/>
          <a:sy n="84" d="100"/>
        </p:scale>
        <p:origin x="10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CF513-1621-4D28-9321-276776531C7D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93893-FA0D-4958-A690-9B93FCC716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德国是全球顶尖的科技创新国家之一，其科技体制以联邦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州分权共治、多元主体分工协同、基础研究与应用研究深度衔接为核心特征，形成了稳定且富有活力的国家创新体系。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年德国研发总投入近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1210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亿欧元，研发强度（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R&amp;D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比重）长期位居全球前列，官方目标为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年达到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。德国科技管理遵循《基本法》框架下的联邦与州二元分权原则，联邦政府与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个联邦州共同承担科技治理职责，形成“政府引导、科研自治、社会参与”的治理模式。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联邦教育与研究部（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BMBF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）：联邦层面最高科技主管部门，负责制定国家科技战略、分配联邦科研预算、协调跨部门科技政策，管理国家级重大科技计划与国际科技合作。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联邦各州文化与科研部：依据《基本法》第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条，各州对高校科研拥有主要管辖权，承担高校基础运营经费，与联邦共同资助非大学科研机构。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其他联邦部门：联邦经济事务和气候行动部、联邦环境部、联邦国防部等均设有部门科研机构（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Ressortforschung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），负责所属领域的应用研究与政策支撑。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德国科学与人文委员会（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Wissenschaftsrat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WR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）：最高科学咨询机构，为联邦和州政府提供高等教育与科研体系的结构发展、经费配置等方面的专业建议，承担科研机构评估职能。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研究与创新专家委员会（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）：每年发布《德国研究与创新报告》，对国家创新体系现状与趋势进行评估，为联邦政府提供政策建议。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联邦总理技术与创新战略小组：聚焦前沿技术趋势与科技主权，统筹国家层面的创新战略布局。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马克斯·普朗克学会：为顶尖学者提供稳定、高度自主的科研环境，是全球基础研究的标杆，主要产出原创性、突破性的基础科学成果。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亥姆霍兹联合会：德国体量最大的科研组织，承担其他机构无力开展的国家级大科学工程，如粒子加速器、核聚变研究、气候模拟等，约三分之一经费来自第三方竞争项目。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弗劳恩霍夫协会：产学研协同的典范，经费构成采用“三三制”：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来自联邦与州的机构资助，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来自政府委托项目，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来自企业合同研发，与西门子、大众等企业建立长期深度合作。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莱布尼茨联合会：学科覆盖最全面的科研联合体，研究所多与当地高校共建共享，是跨学科研究与青年人才培养的重要平台。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德国高校是科研与人才培养的核心载体，承担全国约三分之一的研发活动，年研发经费约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亿欧元。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德国研发活动的主体在企业，约三分之二的研发投入来自企业，形成了“大企业引领、中小企业活跃”的产业研发格局。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以利奥波第那科学院（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Leopoldina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为核心，作为德国国家科学院，为政府提供独立的科学政策咨询，同时协调长期基础研究项目、促进学术交流。此外还有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个州立科学院组成的德国科学与人文科学院联盟，以及国家工程科学院（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acatech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）等专业科学院。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德国科技资助实行机构资助与项目资助并行的双轨制，同时通过法律与公约保障科研经费的稳定增长。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机构资助：稳定的基础保障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机构资助是科研机构的核心运行经费，按固定比例由联邦与州分担，用于保障机构日常运营与战略方向布局。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《研究与创新公约》（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PFI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年签署，是德国科研体系的基石性制度，保障四大非大学科研机构的经费每年稳定增长（当前约定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2021-2030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年每年增长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年间累计投入超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亿欧元，为科研机构提供了长期稳定的财政预期与学术自主权。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项目资助通过同行评审竞争分配，支持特定研究项目与创新活动，核心执行机构包括：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项目资助通过同行评审竞争分配，支持特定研究项目与创新活动，核心执行机构包括：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德国研究基金会（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）：德国最大的科研资助机构，属于科研界自治组织，覆盖所有学科领域，重点支持基础研究。资助类型包括单个项目、优先计划、合作研究中心、青年研究者小组等，同时负责实施“卓越战略”。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总预算约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亿欧元。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联邦部门专项计划：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BMBF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等部门推出各类主题专项，如“未来研究与创新战略”“数字技术产品化计划”等，聚焦国家战略领域的技术研发与成果转化。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ZIM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中小企业创新计划：支持中小企业独立研发或与科研机构合作研发，根据项目类型提供差异化资助比例。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高科技创业基金（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HTGF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）：德国最大的早期科技创业投资基金，支持初创科技企业的技术商业化。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体制核心特征与运行机制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1. 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联邦与州的协同共治：通过《基本法》第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条确立共同资助机制，设立联邦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州科研委员会（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GWK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）统筹协调，既保障国家科研布局的统一性，又尊重各州的自治权与区域特色。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科研自治与学术自由：核心科研机构均为注册协会（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e.V.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）的私法法人形式，而非政府直属部门，在科研方向、人事管理上拥有高度自主权，政府主要通过经费配置与评估进行宏观引导，保障学术自由。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分层定位与互补协同：四大科研机构与高校、企业形成清晰的功能分层，从基础研究到应用转化形成完整链条，避免重复建设，科研资源配置效率高。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严格的评估与质量保障：所有公共科研机构定期接受国际同行评估，评估结果与经费挂钩，保障科研质量与国际竞争力。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5. 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产学研深度融合：通过弗劳恩霍夫模式、合作研究中心、集群项目等多种机制，推动科研成果向产业端快速转移，支撑德国制造业的全球竞争力。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综合而言，德国能源战略形成层次清晰的目标体系：终极目标为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2045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年气候中和，阶段目标为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年减排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2040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年减排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；能源领域则要求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年可再生电力占比不低于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可再生能源供电，氢能、储能等子领域亦设专项指标（见表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）。这套目标以法律为约束、以时间表为倒逼，构成德国能源转型的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路线图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。值得注意的是，目标设定并非静态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“2020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年减排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到近年不断前移的气候中和节点，其演进折射出国际气候政治、技术成本下降与国内政治博弈的共同作用。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在目标倒逼之外，德国还构建了以碳价为核心的激励体系，实现气候政策与能源政策的深层联动。德国采取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欧盟碳交易＋国内碳定价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的双轨架构：一方面，工业、电力部门纳入欧盟碳排放交易体系（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 ETS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 ETS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平均拍卖价格升至约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欧元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吨，明显高于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欧元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吨</a:t>
            </a:r>
            <a:r>
              <a:rPr lang="en-US" altLang="zh-CN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[9]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；另一方面，针对供暖与交通燃料等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 ETS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未覆盖的部门，德国依据《燃料排放交易法》自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年起实施国家排放交易体系（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nEHS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），以固定价格出售碳配额，价格从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欧元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吨逐步上调至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欧元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吨</a:t>
            </a:r>
            <a:r>
              <a:rPr lang="en-US" altLang="zh-CN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[7]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从实施效果看，碳定价不仅为转型提供了价格信号，也开辟了重要的财政收入渠道。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年，德国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nEHS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共售出约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2.78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亿份国家排放证书，按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欧元固定价计算，总收入约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亿欧元，这些资金流入气候与转型基金（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KTF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），用于补贴建筑节能改造、热泵安装、电网投资与氢能布局等转型项目，形成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碳税收入反哺转型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的财政闭环。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基于德国联邦排放交易局（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DEHSt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）公布数据，展示了德国国家碳价（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nEHS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固定价）与欧盟碳价（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 ETS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拍卖价）的走势。可见碳价总体呈上升趋势，且欧盟碳价显著高于德国国家碳价，反映出欧盟层面更强的减排力度与更紧张的市场供给。碳定价机制的建立，使德国得以在减少财政直接补贴的同时，通过价格信号引导市场主体自主减排，是实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市场驱动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转型的关键制度安排。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可再生能源是德国能源转型的绝对主力，风电与光伏构成两大引擎。据联邦环境署（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）数据，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年其发电量占电力消费比重达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55.1%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54.4%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继续提升</a:t>
            </a:r>
            <a:r>
              <a:rPr lang="en-US" altLang="zh-CN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，陆上风电与光伏贡献了绝大部分增量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风电方面，截至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年底德国陆上、海上风电装机分别约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68.1 GW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9.7 GW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，风能仍是最重要的发电来源</a:t>
            </a:r>
            <a:r>
              <a:rPr lang="en-US" altLang="zh-CN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[10]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。海上风电凭借更高利用小时数与更稳定出力被列为战略重点，新增装机明显提速（如图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所示）。陆上风电扩张则受土地审批、距离限制与公众接受度制约，德国正通过简化审批、确立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优先区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等措施破解。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光伏方面，受益于电价高企与组件成本大幅下降，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年代装机爆发式增长：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年发电量达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91.6 TWh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，总装机约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116.8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GWp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，全年新增约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16.2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GWp</a:t>
            </a:r>
            <a:r>
              <a:rPr lang="en-US" altLang="zh-CN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[11][12]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所示）。其快速扩张也带来午间出力过剩、负电价时段增多等问题，对储能与电网灵活性提出更高要求。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与可再生能源扩张相伴随的，是德国对高碳与争议性能源的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双重退出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。核能方面，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月德国关闭最后三座核电站，成为主要工业国中率先全面弃核者，但核能退出增加了对化石能源与进口电力的依赖，其代价在能源危机期间饱受争议。煤炭方面，《煤炭退出法》规定最迟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年关停全部煤电，欧盟委员会亦已批准将三座机组（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Niederaußem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Neurath F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Neurath G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，各约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 MW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）提前至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年关停。退煤进程要求建设替代性低碳电源与灵活备用容量，并处理褐煤区的生态修复与就业安置问题（如图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所示）。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从能源结构看，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双重退出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与可再生能源扩张构成同一进程的两面：退出为可再生能源腾出空间，扩张为退出提供替代。但节奏协调至关重要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若退出快于替代能力建设，便可能引发供电紧张与价格飙升，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年能源危机部分印证了这一风险。德国正通过电站战略与容量机制为退煤后的系统提供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兜底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电源（详见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节）。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鉴于风电、光伏的间歇性以及工业、重载交通难以直接电气化，德国将绿氢视为深度脱碳与长期储能的关键载体。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年首部《国家氢能战略》提出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年建成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GW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电解能力，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年更新版上调至不低于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GW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，并明确约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50%—70%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的需求（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45—90 TWh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依赖进口，为此积极布局氢能进口走廊、输氢管网与海外项目。氢能战略兼具双重产业意图：既服务于钢铁、化工等难以电气化部门的脱碳，又试图抢占全球氢能技术标准与装备制高点，将能源转型转化为产业升级机遇（如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所示）。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德国高科技议程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Hightech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Agenda Deutschland，HTAD）将“海洋、气候与可持续发展研究”列为战略研究领域。其重点包括碳移除与工业脱碳、循环经济创新、研究船队更新、自然气候保护、未来渔船、海洋研究联盟以及自主系统与数字孪生。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德国相关布局可理解为三个相互重叠的阶段：先积累气候、海洋和环境研究基础，再以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2045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目标强化转型约束，近年进一步强调技术应用、产业竞争力、供应安全和社会接受度。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气候适应从应急处理转向持续风险治理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《联邦气候适应法》（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KAnG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月生效；《德国气候适应战略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日获内阁通过。新战略首次设置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个可衡量目标和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个子目标，多数面向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年，部分延伸到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2050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；气候适应与减排任务不同：即便减排取得进展，仍需要处理热浪、干旱、暴雨、洪涝及其对居民、基础设施和生态系统的影响。相应的科技布局包括风险图谱、预测与预警、城市水系统、耐气候基础设施和地方决策支持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气候模型和数据设施构成决策基础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德国的国家地球系统建模战略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natESM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强调共享软件、跨机构合作以及模型对高性能计算体系的适配。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DKRZ介绍，其共同系统已有ICON大气、ICON海洋、FESOM等核心组件。natESM第二阶段项目期为2025年9月至2029年8月，进一步纳入机器学习、模型配置和数据处理能力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这类布局的价值在于把昂贵计算资源、长期软件维护和科学人才协作组织起来。它既服务基础气候研究，也可为区域风险识别和政策情景提供基础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碳移除与碳管理布局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德国通过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CDRterra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研究陆地碳移除技术、环境影响与社会条件；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年的官方更新显示，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CDRterra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个新项目，涉及直接空气捕集、碳结合材料和生物质等方向。德国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</a:t>
            </a:r>
            <a:r>
              <a:rPr lang="en-US" altLang="zh-CN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储存法律修订于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日生效，为扩大应用和运输、储存基础设施提供新的制度条件。政策重点包括水泥、石灰、化工及废物焚烧等难减排过程。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微电子战略：围绕工业需求构建全链条能力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德国将微电子能力与汽车、工业、医疗和能源需求相连接。2025年微电子战略既支持投资制造，也强调芯片设计、先进封装、人才和Lab-to-Fab转化，并与欧洲芯片法案协同。德国约占欧洲晶圆产能30%，这里的口径是欧洲产能，而不是全球芯片市场份额。政策要解决的问题是：如何把研究优势变成可供产业使用的设计、制造和应用能力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参考资料（查阅日期：2026年10月20日）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德国联邦政府，《微电子战略》，2025-10-15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https://www.bundesregierung.de/breg-de/bundesregierung/mikroelektronikstrategie-2385748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德国联邦经济和能源部，2025-10-15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https://www.bundeswirtschaftsministerium.de/Redaktion/DE/Pressemitteilungen/2025/10/20251015-bundeskabinett-beschliesst-mikroelektronik-strategie.html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Fraunhofer IPMS，APECS试点线，2024-12-16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https://www.ipms.fraunhofer.de/en/press-media/press/2024/APECS-Pilot-Line.html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图片：© Fraunhofer ISIT，晶圆级封装的压力传感器芯粒，来自Fraunhofer IPMS APECS新闻稿。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微电子战略：制造项目与共享试点线互补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SMC由台积电、博世、英飞凌和恩智浦合资建设，为汽车和工业芯片提供开放代工能力。50亿欧元是获批国家援助，超过100亿欧元是包含公共支持的预计项目总投资。ESMC当前官方说明预计2027年设备入厂，量产爬坡根据客户需求和市场条件安排。APECS则通过欧洲共享设施提供先进封装、异质集成与芯粒服务，帮助中小企业完成工程验证。两种工具分别补强制造能力和技术转化条件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参考资料（查阅日期：2026年10月20日）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欧盟委员会，ESMC国家援助批准，2024-08-20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https://digital-strategy.ec.europa.eu/en/news/commission-approves-eu5-billion-german-state-aid-measure-support-esmc-setting-new-semiconductor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ESMC，企业介绍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https://esmc.eu/en/who_we_are.html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Fraunhofer IPMS，APECS试点线，2024-12-16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https://www.ipms.fraunhofer.de/en/press-media/press/2024/APECS-Pilot-Line.html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萨克森州政府媒体库，ESMC动工活动，2024-08-20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https://www.medienservice.sachsen.de/medien/medienobjekte/595735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图片：ESMC活动 © Pawel Sosnowski / Sächsische Staatskanzlei；APECS设施 © loewn / Bernhard Wolf。APECS的7.3亿欧元是整个欧洲项目总资助。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量子技术战略：长期资金支持与多方向布局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德国2023年量子技术行动方案统筹至2026年的部署，联邦安排21.8亿欧元，科研组织安排8.5亿欧元，精确相加为30.3亿欧元，通常概括为约30亿。它同时覆盖量子计算、传感和通信。不同技术处在不同成熟阶段，因此政策在支持基础研究的同时，也培育企业、人才和最终用户网络，使研发、工程验证和应用探索相互衔接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参考资料（查阅日期：2026年10月20日）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德国联邦议院，《量子技术行动方案》，2023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https://dserver.bundestag.de/btd/20/066/2006610.pdf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德国联邦议院，量子技术资金说明，2023-07-05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https://www.bundestag.de/presse/hib/kurzmeldungen-956960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两项金额均为资金安排，并非已完成支出。关系图沿用原模板并按量子技术内容改写。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量子技术战略：多路线竞争与真实环境验证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德国通过2026年量子计算竞赛保留中性原子、超导和离子阱三条技术路线，面向2030年的两台纠错量子计算机仍是未来目标。右侧与图片对应的QuNET属于通信方向：2025年的飞行试验检验了飞机到地面量子信道的光子接收、测量和密钥分发技术。两个例子共同说明，政策既支持长期技术竞争，也用真实环境中的工程验证推进应用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参考资料（查阅日期：2026年10月20日）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BMFTR，纠错量子计算机资助，2026-04-08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https://quantensysteme.info/nachrichten/detailseite/q/foerderung-fehlerkorrigierter-quantencomputer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德国联邦经济和能源部，HTAD路线图，2026-05-20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https://www.bundeswirtschaftsministerium.de/Redaktion/DE/Pressemitteilungen/2026/05/20260520-bundesregierung-roadmaps-der-hightech-agenda-deutschland-starten-in-die-umsetzung-mit-wirtschaft-wissenschaft-und-laendern.html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DLR，QuNET飞行试验，2025-10-10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https://www.dlr.de/de/aktuelles/nachrichten/2025/grundlage-fuer-ein-zukuenftiges-quantennetz-quantenkanaele-im-flug-getestet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DLR，QuNET光学收发装置，2025-01-20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https://www.dlr.de/de/aktuelles/nachrichten/2025/laseroptischer-kanal-zwischen-forschungsflugzeug-und-bodenstation-aufgebaut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图片为DLR光学收发系统外部装置，© DLR。量子计算竞赛与QuNET通信试验是不同技术方向。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人工智能战略：从科研优势走向产业价值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AI战略经历持续更新。2018年首次提出国家战略，2020年把截至2025年的联邦投入计划由30亿提高到50亿欧元。2023年强化研究、算力、人才与成果转化，2025年高技术议程进一步突出工业AI和机器人。2026年路线图提出2030年经济产出10%基于AI、AI初创企业达2025年四倍约4000家等目标。政策方向是利用工业基础，把科研能力转化为产业价值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参考资料（查阅日期：2026年10月20日）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德国联邦政府，国家AI战略，2018-11-15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https://www.bundesregierung.de/breg-en/service/archive/ai-a-brand-for-germany-1551432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德国联邦劳动和社会事务部，AI战略更新，2020-12-02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https://www.bmas.de/DE/Service/Presse/Pressemitteilungen/2020/kabinett-beschliesst-fortschreibung-der-ki-strategie-der-bundesregierung.html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德国联邦研究与创新报告2026，第3章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https://www.bundesbericht-forschung-innovation.de/bundesbericht-2026/3-schluesseltechnologien-und-technologische-souveraenitaet/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BMFTR，AI路线图v1.0，2026-05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https://hightech-agenda-deutschland.de/fileadmin/Redaktion/Langversionen/RM_HtAD_KI_bf.pdf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30亿和50亿均为投入计划。2030年10%和4000家是路线图目标。图片：BMFTR官方HTAD主视觉与AI路线图封面。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人工智能部署：公共算力连接企业应用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AI部署既需要算力，也需要服务入口。JUPITER在2025年9月揭幕，由欧洲、联邦和州共同出资。围绕算力设施，JAIF与HammerHAI通过AI Factories模式提供技术支持和培训，降低初创企业和中小企业使用AI的门槛。JAIF在2025年获选址，HammerHAI于2026年3月签订采购合同。2028年100个转化案例、2029年制造业中小企业使用率超过50%仍是未来目标。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参考资料（查阅日期：2026年10月20日）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于利希研究中心，JUPITER揭幕，2025-09-05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https://www.fz-juelich.de/en/news/archive/press-release/2025/ceremony-jupiter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EuroHPC，新增AI Factories，2025-03-12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https://www.eurohpc-ju.europa.eu/eurohpc-ju-selects-additional-ai-factories-strengthen-europes-ai-leadership-2025-03-12_en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EuroHPC，HammerHAI采购合同，2026-03-16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https://www.eurohpc-ju.europa.eu/eurohpc-ju-signs-contract-deploy-ai-supercomputer-hammerhai-2026-03-16_en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于利希研究中心，JUPITER超级计算机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https://www.fz-juelich.de/en/news/archive/press-release/2025/jupiter-supercomputer-propels-european-computing-power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BMFTR，AI路线图v1.0，2026-05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https://hightech-agenda-deutschland.de/fileadmin/Redaktion/Langversionen/RM_HtAD_KI_bf.pdf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Exascale指每秒10的18次方次浮点运算量级。JUPITER已揭幕，AI Factories依各自项目安排推进。图片 © Forschungszentrum Jülich / Sascha Kreklau。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中德AI发展：规模与侧重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本页先说明为什么学习德国经验并不等于预设德国整体领先。Stanford 2026报告的同源数据表明，中国在2025私人AI融资规模、新获融资企业数，以及2024高被引AI论文参与度上均高于德国。DeepSeek-R1论文展示了中国企业的推理模型创新。德国的参考价值在于其长期工业与应用研究积累及相关组织经验。这些指标观察不同侧面，不构成综合实力排名。建议讲解约55秒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参考文献（查阅日期：2026年10月20日）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[20] 斯坦福大学以人为本人工智能研究院. 2026年人工智能指数报告[R/OL]. 斯坦福: 斯坦福大学, 2026[2026-10-20].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https://hai.stanford.edu/assets/files/ai_index_report_2026.pdf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[21] OECD. OECD Artificial Intelligence Review of Germany[R]. Paris: OECD Publishing, 2024. DOI: 10.1787/609808d6-en.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https://doi.org/10.1787/609808d6-en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[22] GUO D, YANG D, ZHANG H, et al. DeepSeek-R1 incentivizes reasoning in LLMs through reinforcement learning[J]. Nature, 2025, 645: 633–638.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https://doi.org/10.1038/s41586-025-09422-z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口径：投资来自报告图4.2.8，单位由十亿美元转换为亿美元，原值中国12.41、德国3.89十亿美元。私人投资不代表国家总投入。新获融资AI企业为图4.2.9，中国161、德国92家，不能写成全部或新注册AI企业。论文为图1.6.11：2024年全球高被引AI论文Top100中的机构参与篇数，跨国论文重复计国。中国香港在报告中单列。封面图片来自报告第1页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中德AI的优势与应用难点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中国的融资与研究规模之外，也拥有完整产业体系和丰富应用场景；发改委2025年官方答问同时指出需求对接与最后一公里问题。德国具有科研和工业积累，但官方2025企业调查显示大、小企业采用差距明显。两张图分别展示中国的AI质检现场和德国的纺织分拣示范系统，说明两国都有具体应用探索，不能据此推断全国普及程度。比较的结论是优势与应用难点并存，德国值得借鉴的是部分机制经验，而非已全面解决了产业落地问题。建议讲解约65秒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参考文献（查阅日期：2026年10月20日）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[21] OECD. OECD Artificial Intelligence Review of Germany[R]. Paris: OECD Publishing, 2024. DOI: 10.1787/609808d6-en.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https://doi.org/10.1787/609808d6-en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[23] 德国联邦统计局. Enterprises using artificial intelligence (AI) technologies, by employment size class, 2025[DB/OL]. (2025-11-24)[2026-10-20].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https://www.destatis.de/EN/Themes/Economic-Sectors-Enterprises/Enterprises/ICT-Enterprises-ICT-Sector/Tables/icte-new-1-enterprises-artifical-intelligence.html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[24] 国务院. 国务院关于深入实施“人工智能+”行动的意见: 国发〔2025〕11号[EB/OL]. (2025-08-21)[2026-10-20].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https://www.miit.gov.cn/xwfb/szyw/art/2025/art_f8bd63905b384841a84e643c1b9455c7.html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[25] 国家发展和改革委员会. 国家发展改革委有关负责同志就《关于深入实施“人工智能+”行动的意见》答记者问[EB/OL]. (2025-08-26)[2026-10-20].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https://www.ndrc.gov.cn/xxgk/jd/jd/202508/t20250826_1400058.html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德国统计口径：2025年调查覆盖行业中至少10名就业人员的企业。小企业10—49人、大型企业250人及以上。知识、数据和兼容性障碍来自同年德国统计局企业调查说明，相关比例未在本页展示。图片：中国 © 人民网/张超宁，2026-07-27，https://sx.people.com.cn/n2/2026/0727/c189132-41650736.html 。德国 © Fraunhofer IPA/Florian Jordan，2026-08-05，https://www.ipa.fraunhofer.de/de/presse/presseinformationen/mehr-textilrecycling-dank-ki-gestuetzter-robotik.html 。德国图为示范/试点系统。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德国KI-Studios：科研机构如何走近企业员工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以KI-Studios为例，德国应用研究机构把AI用途做成互动示范，并通过固定空间与移动展示车接近企业员工。文档分析和生产规划是容易与日常工作联系起来的场景。项目由Fraunhofer IAO与斯图加特大学IAT实施，德国劳动与社会事务部BMAS资助。到2024年底约250场活动接触2300余家企业。值得学习的是展示、学习和业务讨论之间的连接方式，以及科研机构在技术扩散中的持续角色。活动数量证明服务覆盖，不代表企业已经采用或取得收益。本页只归纳学习价值，不据此提出中国具体政策安排。建议讲解约60秒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参考文献（查阅日期：2026年10月20日）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[26] FRAUNHOFER IAO. Projekt KI-Studios startet in die nächste Runde[EB/OL]. (2025-01-30)[2026-10-20].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https://www.iao.fraunhofer.de/de/presseservice/aktuelles/projekt-ki-studios-startet-in-die-naechste-runde.html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图片：© Fraunhofer IAO / Ludmilla Parsyak。来源 https://www.ki-studios.ai/das-ki-infomobil-in-augsburg/ 。官方照片 https://www.ki-studios.ai/wp-content/uploads/2024/01/buzz-2.jpg 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科技战略的整体启示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这一页从AI回到整场汇报。德国科技体制、能源、信息技术以及海洋可持续发展虽然面向不同问题，却都涉及长期科研能力、工程转化、持续服务和主体协作之间的关系。AI案例也说明，拥有研究和设施并不自动意味着企业普遍使用。对中国的参考意义，是更完整地理解这些能力之间如何连接。中德发展条件不同，对具体经验的学习需要结合其场景和条件讨论。这是比较研究后的总体认识，不是为中国提出一套具体政策方案。建议讲解约50秒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参考文献（查阅日期：2026年10月20日）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[21] OECD. OECD Artificial Intelligence Review of Germany[R]. Paris: OECD Publishing, 2024. DOI: 10.1787/609808d6-en.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https://doi.org/10.1787/609808d6-en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[27] 德国联邦研究、技术与航天部. 2026年联邦研究与创新报告[R/OL]. 柏林: BMFTR, 2026[2026-10-20].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https://www.bundesbericht-forschung-innovation.de/bundesbericht-2026/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补充来源：德国《研究与创新公约》https://www.gwk-bonn.de/themen/foerderung-von-ausseruniversitaeren-wissenschaftseinrichtungen/pakt-fuer-forschung-und-innovation ；能源系统发展战略 https://www.bundeswirtschaftsministerium.de/Redaktion/DE/Dossier/ses.html ；DAM数据管理 https://www.allianz-meeresforschung.de/kernbereiche/datenmanagement-und-digitalisierung 。图片：JUPITER © Forschungszentrum Jülich/Sascha Kreklau；DyNaLab © Jan Meier；海上风电场景 © Nicholas Doherty/Unsplash，来自DAM官方页面。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本页接续前一页参考文献[1]—[19]，新增8条资料[20]—[27]。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[20] 斯坦福大学以人为本人工智能研究院. 2026年人工智能指数报告[R/OL]. 斯坦福: 斯坦福大学, 2026[2026-10-20].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https://hai.stanford.edu/assets/files/ai_index_report_2026.pdf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[21] OECD. OECD Artificial Intelligence Review of Germany[R]. Paris: OECD Publishing, 2024. DOI: 10.1787/609808d6-en.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https://doi.org/10.1787/609808d6-en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[22] GUO D, YANG D, ZHANG H, et al. DeepSeek-R1 incentivizes reasoning in LLMs through reinforcement learning[J]. Nature, 2025, 645: 633–638.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https://doi.org/10.1038/s41586-025-09422-z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[23] 德国联邦统计局. Enterprises using artificial intelligence (AI) technologies, by employment size class, 2025[DB/OL]. (2025-11-24)[2026-10-20].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https://www.destatis.de/EN/Themes/Economic-Sectors-Enterprises/Enterprises/ICT-Enterprises-ICT-Sector/Tables/icte-new-1-enterprises-artifical-intelligence.html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[24] 国务院. 国务院关于深入实施“人工智能+”行动的意见: 国发〔2025〕11号[EB/OL]. (2025-08-21)[2026-10-20].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https://www.miit.gov.cn/xwfb/szyw/art/2025/art_f8bd63905b384841a84e643c1b9455c7.html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[25] 国家发展和改革委员会. 国家发展改革委有关负责同志就《关于深入实施“人工智能+”行动的意见》答记者问[EB/OL]. (2025-08-26)[2026-10-20].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https://www.ndrc.gov.cn/xxgk/jd/jd/202508/t20250826_1400058.html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[26] FRAUNHOFER IAO. Projekt KI-Studios startet in die nächste Runde[EB/OL]. (2025-01-30)[2026-10-20].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https://www.iao.fraunhofer.de/de/presseservice/aktuelles/projekt-ki-studios-startet-in-die-naechste-runde.html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[27] 德国联邦研究、技术与航天部. 2026年联邦研究与创新报告[R/OL]. 柏林: BMFTR, 2026[2026-10-20].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https://www.bundesbericht-forschung-innovation.de/bundesbericht-2026/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9A79E-45C3-4051-8A24-6E3643BE30DF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22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560533"/>
            <a:ext cx="12192000" cy="241269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3" y="1560533"/>
            <a:ext cx="12192000" cy="2412695"/>
          </a:xfrm>
          <a:prstGeom prst="rect">
            <a:avLst/>
          </a:prstGeom>
          <a:gradFill>
            <a:gsLst>
              <a:gs pos="35000">
                <a:srgbClr val="174994">
                  <a:alpha val="78000"/>
                </a:srgbClr>
              </a:gs>
              <a:gs pos="0">
                <a:schemeClr val="tx1">
                  <a:alpha val="29000"/>
                </a:schemeClr>
              </a:gs>
              <a:gs pos="100000">
                <a:srgbClr val="1749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5685" y="2351381"/>
            <a:ext cx="12160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德国科技战略与政策部署研究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978088" y="4007448"/>
            <a:ext cx="4235823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汇报人：白蕾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88895" y="4460620"/>
            <a:ext cx="1021420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小组成员：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604" y="302636"/>
            <a:ext cx="4952792" cy="88049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78086" y="4978916"/>
            <a:ext cx="4235823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时间：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2026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年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月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23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4174777" cy="6858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07" y="410934"/>
            <a:ext cx="3108962" cy="5428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39675" y="2306647"/>
            <a:ext cx="2495427" cy="1830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目录</a:t>
            </a:r>
            <a:endParaRPr lang="en-US" altLang="zh-CN" sz="40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Content</a:t>
            </a:r>
            <a:endParaRPr lang="zh-CN" altLang="en-US" sz="40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96000" y="1730090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1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6096000" y="2700155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2</a:t>
            </a:r>
            <a:endParaRPr lang="zh-CN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6096000" y="3670220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3</a:t>
            </a:r>
            <a:endParaRPr lang="zh-CN" altLang="en-US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6939073" y="1649216"/>
            <a:ext cx="3061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科技体制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939073" y="2653257"/>
            <a:ext cx="3061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战略布局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939073" y="3657298"/>
            <a:ext cx="3061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791999" y="0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3304082" y="976197"/>
            <a:ext cx="5583836" cy="532151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政府引导、科研自治、社会参与</a:t>
            </a:r>
          </a:p>
        </p:txBody>
      </p:sp>
      <p:sp>
        <p:nvSpPr>
          <p:cNvPr id="12" name="椭圆 11"/>
          <p:cNvSpPr/>
          <p:nvPr/>
        </p:nvSpPr>
        <p:spPr>
          <a:xfrm>
            <a:off x="5009213" y="2582195"/>
            <a:ext cx="2173574" cy="9518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顶层治理与管理架构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035509" y="4306065"/>
            <a:ext cx="2442148" cy="9518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科研执行体系</a:t>
            </a:r>
          </a:p>
        </p:txBody>
      </p:sp>
      <p:sp>
        <p:nvSpPr>
          <p:cNvPr id="24" name="椭圆 23"/>
          <p:cNvSpPr/>
          <p:nvPr/>
        </p:nvSpPr>
        <p:spPr>
          <a:xfrm>
            <a:off x="6714345" y="4306065"/>
            <a:ext cx="2442145" cy="95187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科技资助体系</a:t>
            </a:r>
          </a:p>
        </p:txBody>
      </p:sp>
      <p:sp>
        <p:nvSpPr>
          <p:cNvPr id="27" name="箭头: 上下 26"/>
          <p:cNvSpPr/>
          <p:nvPr/>
        </p:nvSpPr>
        <p:spPr>
          <a:xfrm rot="2659398">
            <a:off x="4469730" y="3182997"/>
            <a:ext cx="307298" cy="1184223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箭头: 上下 40"/>
          <p:cNvSpPr/>
          <p:nvPr/>
        </p:nvSpPr>
        <p:spPr>
          <a:xfrm rot="18940602" flipH="1">
            <a:off x="7335149" y="3221760"/>
            <a:ext cx="307298" cy="1184223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箭头: 上下 44"/>
          <p:cNvSpPr/>
          <p:nvPr/>
        </p:nvSpPr>
        <p:spPr>
          <a:xfrm rot="5400000">
            <a:off x="5968584" y="4189891"/>
            <a:ext cx="307298" cy="1184223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9" name="Image1"/>
          <p:cNvPicPr/>
          <p:nvPr/>
        </p:nvPicPr>
        <p:blipFill>
          <a:blip r:embed="rId4"/>
          <a:srcRect r="17320"/>
          <a:stretch>
            <a:fillRect/>
          </a:stretch>
        </p:blipFill>
        <p:spPr>
          <a:xfrm>
            <a:off x="361601" y="1163578"/>
            <a:ext cx="2173574" cy="1559560"/>
          </a:xfrm>
          <a:prstGeom prst="rect">
            <a:avLst/>
          </a:prstGeom>
        </p:spPr>
      </p:pic>
      <p:pic>
        <p:nvPicPr>
          <p:cNvPr id="50" name="Image1"/>
          <p:cNvPicPr/>
          <p:nvPr/>
        </p:nvPicPr>
        <p:blipFill>
          <a:blip r:embed="rId5"/>
          <a:srcRect t="1" b="7576"/>
          <a:stretch>
            <a:fillRect/>
          </a:stretch>
        </p:blipFill>
        <p:spPr>
          <a:xfrm>
            <a:off x="361601" y="2723138"/>
            <a:ext cx="2628900" cy="1365701"/>
          </a:xfrm>
          <a:prstGeom prst="rect">
            <a:avLst/>
          </a:prstGeom>
        </p:spPr>
      </p:pic>
      <p:pic>
        <p:nvPicPr>
          <p:cNvPr id="52" name="Image1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361601" y="4088839"/>
            <a:ext cx="2628900" cy="1585595"/>
          </a:xfrm>
          <a:prstGeom prst="rect">
            <a:avLst/>
          </a:prstGeom>
        </p:spPr>
      </p:pic>
      <p:pic>
        <p:nvPicPr>
          <p:cNvPr id="53" name="Image1"/>
          <p:cNvPicPr/>
          <p:nvPr/>
        </p:nvPicPr>
        <p:blipFill>
          <a:blip r:embed="rId7"/>
          <a:srcRect b="18897"/>
          <a:stretch>
            <a:fillRect/>
          </a:stretch>
        </p:blipFill>
        <p:spPr>
          <a:xfrm>
            <a:off x="361601" y="5363735"/>
            <a:ext cx="2628900" cy="1359608"/>
          </a:xfrm>
          <a:prstGeom prst="rect">
            <a:avLst/>
          </a:prstGeom>
        </p:spPr>
      </p:pic>
      <p:pic>
        <p:nvPicPr>
          <p:cNvPr id="54" name="Image1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9656826" y="939037"/>
            <a:ext cx="2262704" cy="1784101"/>
          </a:xfrm>
          <a:prstGeom prst="rect">
            <a:avLst/>
          </a:prstGeom>
        </p:spPr>
      </p:pic>
      <p:pic>
        <p:nvPicPr>
          <p:cNvPr id="55" name="Image1"/>
          <p:cNvPicPr/>
          <p:nvPr/>
        </p:nvPicPr>
        <p:blipFill>
          <a:blip r:embed="rId9"/>
          <a:srcRect l="15466" r="17618"/>
          <a:stretch>
            <a:fillRect/>
          </a:stretch>
        </p:blipFill>
        <p:spPr>
          <a:xfrm>
            <a:off x="9201499" y="2602598"/>
            <a:ext cx="2718030" cy="1376735"/>
          </a:xfrm>
          <a:prstGeom prst="rect">
            <a:avLst/>
          </a:prstGeom>
        </p:spPr>
      </p:pic>
      <p:pic>
        <p:nvPicPr>
          <p:cNvPr id="56" name="Image1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9177538" y="3813873"/>
            <a:ext cx="2741992" cy="2205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791999" y="0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234600" y="1153997"/>
            <a:ext cx="3600799" cy="532151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顶层治理与管理架构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4310996" y="1153997"/>
            <a:ext cx="3600799" cy="532151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科研执行体系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8387392" y="1153996"/>
            <a:ext cx="3600799" cy="532151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科技资助体系</a:t>
            </a:r>
          </a:p>
        </p:txBody>
      </p:sp>
      <p:sp>
        <p:nvSpPr>
          <p:cNvPr id="33" name="矩形: 圆角 32"/>
          <p:cNvSpPr/>
          <p:nvPr/>
        </p:nvSpPr>
        <p:spPr>
          <a:xfrm>
            <a:off x="234600" y="1978871"/>
            <a:ext cx="3600799" cy="5321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核心行政主管部门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34600" y="2684836"/>
            <a:ext cx="3600800" cy="121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联邦教育与研究部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联邦各州文化与科研部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其他联邦部门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234599" y="4120996"/>
            <a:ext cx="3600799" cy="5321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重要咨询与评估机构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4599" y="4775972"/>
            <a:ext cx="3790259" cy="121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德国科学与人文委员会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研究与创新专家委员会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联邦总理技术与创新战略小组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09560" y="2391591"/>
            <a:ext cx="1491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四大非大学科研机构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左大括号 11"/>
          <p:cNvSpPr/>
          <p:nvPr/>
        </p:nvSpPr>
        <p:spPr>
          <a:xfrm>
            <a:off x="5441983" y="2058072"/>
            <a:ext cx="204660" cy="1515785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5641298" y="1977128"/>
            <a:ext cx="2299027" cy="1596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马克斯·普朗克学会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亥姆霍兹联合会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弗劳恩霍夫协会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莱布尼茨联合会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23297" y="3945130"/>
            <a:ext cx="1776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高校科研体系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223297" y="4763754"/>
            <a:ext cx="1776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企业科研体系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223297" y="5417804"/>
            <a:ext cx="1776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科学院系统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923683" y="3632200"/>
            <a:ext cx="375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923683" y="4362450"/>
            <a:ext cx="375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923683" y="5105400"/>
            <a:ext cx="375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8387392" y="1978871"/>
            <a:ext cx="3600799" cy="5321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机构资助：稳定的基础保障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8387392" y="4324196"/>
            <a:ext cx="3600799" cy="5321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项目资助：竞争式前沿探索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8387391" y="2684835"/>
            <a:ext cx="3600800" cy="159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按固定比例由联邦与州分担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研究与创新公约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》2005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年签署，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年间累计投入超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亿欧元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8330849" y="4928372"/>
            <a:ext cx="3790259" cy="159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德国研究基金会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联邦部门专项计划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中小企业创新计划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高科技创业基金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791999" y="0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52" name="矩形: 圆角 51"/>
          <p:cNvSpPr/>
          <p:nvPr/>
        </p:nvSpPr>
        <p:spPr>
          <a:xfrm>
            <a:off x="855133" y="3386666"/>
            <a:ext cx="1871133" cy="103293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体制核心特征与运行机制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3632198" y="1117599"/>
            <a:ext cx="2091267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联邦与州的协同共治</a:t>
            </a:r>
          </a:p>
        </p:txBody>
      </p:sp>
      <p:sp>
        <p:nvSpPr>
          <p:cNvPr id="55" name="矩形: 圆角 54"/>
          <p:cNvSpPr/>
          <p:nvPr/>
        </p:nvSpPr>
        <p:spPr>
          <a:xfrm>
            <a:off x="3667756" y="2302933"/>
            <a:ext cx="2091267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科研自治与学术自由</a:t>
            </a:r>
          </a:p>
        </p:txBody>
      </p:sp>
      <p:sp>
        <p:nvSpPr>
          <p:cNvPr id="57" name="矩形: 圆角 56"/>
          <p:cNvSpPr/>
          <p:nvPr/>
        </p:nvSpPr>
        <p:spPr>
          <a:xfrm>
            <a:off x="3632198" y="3488267"/>
            <a:ext cx="2091267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分层定位与互补协同</a:t>
            </a:r>
          </a:p>
        </p:txBody>
      </p:sp>
      <p:sp>
        <p:nvSpPr>
          <p:cNvPr id="59" name="矩形: 圆角 58"/>
          <p:cNvSpPr/>
          <p:nvPr/>
        </p:nvSpPr>
        <p:spPr>
          <a:xfrm>
            <a:off x="3632198" y="4673601"/>
            <a:ext cx="2091267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严格的评估与质量保障</a:t>
            </a:r>
          </a:p>
        </p:txBody>
      </p:sp>
      <p:sp>
        <p:nvSpPr>
          <p:cNvPr id="61" name="矩形: 圆角 60"/>
          <p:cNvSpPr/>
          <p:nvPr/>
        </p:nvSpPr>
        <p:spPr>
          <a:xfrm>
            <a:off x="3632198" y="5858935"/>
            <a:ext cx="2091267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产学研深度融合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5947832" y="1114735"/>
            <a:ext cx="586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通过《基本法》确立共同资助机制，设立联邦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州科研委员会统筹协调，既保障国家科研布局的统一性，又尊重各州的自治权与区域特色。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5947832" y="5850005"/>
            <a:ext cx="586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通过弗劳恩霍夫模式、合作研究中心、集群项目等多种机制，推动科研成果向产业端快速转移，支撑德国制造业的全球竞争力。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947832" y="4817071"/>
            <a:ext cx="5863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所有公共科研机构定期接受国际同行评估，评估结果与经费挂钩，保障科研质量与国际竞争力。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5947832" y="3479337"/>
            <a:ext cx="586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四大科研机构与高校、企业形成清晰的功能分层，从基础研究到应用转化形成完整链条，避免重复建设，科研资源配置效率高。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5947832" y="2294003"/>
            <a:ext cx="586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核心科研机构均为注册协会的私法法人形式，而非政府直属部门，在科研方向、人事管理上拥有高度自主权，政府主要通过经费配置与评估进行宏观引导。</a:t>
            </a:r>
          </a:p>
        </p:txBody>
      </p:sp>
      <p:cxnSp>
        <p:nvCxnSpPr>
          <p:cNvPr id="87" name="直接连接符 86"/>
          <p:cNvCxnSpPr>
            <a:stCxn id="52" idx="3"/>
            <a:endCxn id="53" idx="1"/>
          </p:cNvCxnSpPr>
          <p:nvPr/>
        </p:nvCxnSpPr>
        <p:spPr>
          <a:xfrm flipV="1">
            <a:off x="2726266" y="1574799"/>
            <a:ext cx="905932" cy="23283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52" idx="3"/>
            <a:endCxn id="55" idx="1"/>
          </p:cNvCxnSpPr>
          <p:nvPr/>
        </p:nvCxnSpPr>
        <p:spPr>
          <a:xfrm flipV="1">
            <a:off x="2726266" y="2760133"/>
            <a:ext cx="941490" cy="1143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52" idx="3"/>
            <a:endCxn id="57" idx="1"/>
          </p:cNvCxnSpPr>
          <p:nvPr/>
        </p:nvCxnSpPr>
        <p:spPr>
          <a:xfrm>
            <a:off x="2726266" y="3903133"/>
            <a:ext cx="905932" cy="423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52" idx="3"/>
            <a:endCxn id="59" idx="1"/>
          </p:cNvCxnSpPr>
          <p:nvPr/>
        </p:nvCxnSpPr>
        <p:spPr>
          <a:xfrm>
            <a:off x="2726266" y="3903133"/>
            <a:ext cx="905932" cy="12276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52" idx="3"/>
            <a:endCxn id="61" idx="1"/>
          </p:cNvCxnSpPr>
          <p:nvPr/>
        </p:nvCxnSpPr>
        <p:spPr>
          <a:xfrm>
            <a:off x="2726266" y="3903133"/>
            <a:ext cx="905932" cy="24130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能源战略布局与政策</a:t>
            </a:r>
          </a:p>
        </p:txBody>
      </p:sp>
      <p:sp>
        <p:nvSpPr>
          <p:cNvPr id="3" name="椭圆 2"/>
          <p:cNvSpPr/>
          <p:nvPr/>
        </p:nvSpPr>
        <p:spPr>
          <a:xfrm>
            <a:off x="1394460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</a:t>
            </a:r>
          </a:p>
        </p:txBody>
      </p:sp>
      <p:sp>
        <p:nvSpPr>
          <p:cNvPr id="7" name="椭圆 6"/>
          <p:cNvSpPr/>
          <p:nvPr/>
        </p:nvSpPr>
        <p:spPr>
          <a:xfrm>
            <a:off x="3368067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1986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10" name="椭圆 9"/>
          <p:cNvSpPr/>
          <p:nvPr/>
        </p:nvSpPr>
        <p:spPr>
          <a:xfrm>
            <a:off x="5341674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14" name="椭圆 13"/>
          <p:cNvSpPr/>
          <p:nvPr/>
        </p:nvSpPr>
        <p:spPr>
          <a:xfrm>
            <a:off x="7315281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4" name="椭圆 63"/>
          <p:cNvSpPr/>
          <p:nvPr/>
        </p:nvSpPr>
        <p:spPr>
          <a:xfrm>
            <a:off x="9288888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48960" y="1918714"/>
            <a:ext cx="27965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两次石油危机促使德国推动节能与能源多元化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715000" y="63093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09906" y="4709160"/>
            <a:ext cx="2731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切尔诺贝利事故动摇了社会对核能的信任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125446" y="1718816"/>
            <a:ext cx="3363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可再生能源法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开启以政策工具规模化发展可再生能源的先河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153400" y="5227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647216" y="4686300"/>
            <a:ext cx="2731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福岛核事故后，德国决定分阶段退出核电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930946" y="1534627"/>
            <a:ext cx="4021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气候保护法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修正案进一步将气候中和目标提前至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2045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年，并确立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年减排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2040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年减排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88%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的阶段性目标</a:t>
            </a:r>
          </a:p>
        </p:txBody>
      </p:sp>
      <p:sp>
        <p:nvSpPr>
          <p:cNvPr id="48" name="矩形 47"/>
          <p:cNvSpPr/>
          <p:nvPr/>
        </p:nvSpPr>
        <p:spPr>
          <a:xfrm>
            <a:off x="1440180" y="5629157"/>
            <a:ext cx="9311640" cy="8574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以“能源转型”为旗帜，推进去核、退煤与可再生能源扩张</a:t>
            </a:r>
          </a:p>
        </p:txBody>
      </p:sp>
      <p:pic>
        <p:nvPicPr>
          <p:cNvPr id="49" name="图片 48" descr="精读外刊第181期：世界石油界掀起的波浪！ - 知乎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88" y="4247720"/>
            <a:ext cx="2331144" cy="1317096"/>
          </a:xfrm>
          <a:prstGeom prst="rect">
            <a:avLst/>
          </a:prstGeom>
        </p:spPr>
      </p:pic>
      <p:pic>
        <p:nvPicPr>
          <p:cNvPr id="52" name="图片 51" descr="福岛核事故10周年，国际环保组织发布报告：核污染去除实际仅完成15%_凤凰网科技_凤凰网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658" y="4215885"/>
            <a:ext cx="1942344" cy="11987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能源战略布局与政策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209898" y="1714500"/>
          <a:ext cx="10098183" cy="468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66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6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6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目标领域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时间节点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目标内容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温室气体减排</a:t>
                      </a:r>
                      <a:endParaRPr 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2030年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较1990年水平减排65%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2040年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较1990年水平减排88%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气候中和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2045年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实现温室气体净零排放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可再生能源电力占比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2030年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占电力消费比重不低于</a:t>
                      </a: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80%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约2035年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近100%可再生能源供电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煤电退出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最迟2038年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关闭全部燃煤电厂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核电退出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2023年4月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关闭最后三座核电站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氢能电解能力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2030年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不低于10 GW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氢能进口占比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2030年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约50%—70%需求依赖进口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能源战略布局与政策</a:t>
            </a: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04136"/>
            <a:ext cx="5887711" cy="279072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74135" y="5037934"/>
            <a:ext cx="4236720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以碳价为核心的激励体系</a:t>
            </a:r>
          </a:p>
        </p:txBody>
      </p:sp>
      <p:sp>
        <p:nvSpPr>
          <p:cNvPr id="10" name="矩形 9"/>
          <p:cNvSpPr/>
          <p:nvPr/>
        </p:nvSpPr>
        <p:spPr>
          <a:xfrm>
            <a:off x="1374135" y="5895420"/>
            <a:ext cx="4236720" cy="652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欧盟碳交易＋国内碳定价双轨架构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64469" y="2004060"/>
            <a:ext cx="4655091" cy="390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一方面，工业、电力部门纳入欧盟碳排放交易体系（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EU ETS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EU ETS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平均拍卖价格升至约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吨，明显高于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另一方面，针对供暖与交通燃料等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EU ETS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未覆盖的部门，德国依据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燃料排放交易法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年起实施国家排放交易体系（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nEHS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），以固定价格出售碳配额，价格从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吨逐步上调至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能源战略布局与政策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61601" y="1658470"/>
          <a:ext cx="6542762" cy="378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1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1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可再生能源发电量占比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55.1%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光伏发电量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91.6 TWh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光伏总装机（直流）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约116.8 GWp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陆上风电装机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约68.1 GW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海上风电装机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约9.7 GW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可再生能源避免排放</a:t>
                      </a:r>
                      <a:endParaRPr lang="zh-CN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约2.65亿吨CO2当量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可再生能源扩张：风电与光伏的双引擎</a:t>
            </a: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949" y="861702"/>
            <a:ext cx="3632700" cy="2426565"/>
          </a:xfrm>
          <a:prstGeom prst="rect">
            <a:avLst/>
          </a:prstGeom>
        </p:spPr>
      </p:pic>
      <p:pic>
        <p:nvPicPr>
          <p:cNvPr id="18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949" y="3259358"/>
            <a:ext cx="3632700" cy="27198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能源战略布局与政策</a:t>
            </a:r>
          </a:p>
        </p:txBody>
      </p:sp>
      <p:sp>
        <p:nvSpPr>
          <p:cNvPr id="4" name="矩形 3"/>
          <p:cNvSpPr/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退煤与退核：双重退出进程</a:t>
            </a: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24" y="2036891"/>
            <a:ext cx="4679950" cy="31178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36907" y="1476799"/>
            <a:ext cx="6317933" cy="1980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核能方面，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月德国关闭最后三座核电站，成为主要工业国中率先全面弃核者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煤炭方面，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煤炭退出法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规定最迟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2038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年关停全部煤电，欧盟委员会亦已批准将三座机组提前至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年关停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36907" y="3595816"/>
            <a:ext cx="6317933" cy="1980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buFont typeface="微软雅黑" panose="020B0503020204020204" pitchFamily="34" charset="-122"/>
              <a:buChar char="╳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核能退出增加了对化石能源与进口电力的依赖，其代价在能源危机期间饱受争议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微软雅黑" panose="020B0503020204020204" pitchFamily="34" charset="-122"/>
              <a:buChar char="╳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退出为可再生能源腾出空间，但节奏协调至关重要，若退出快于替代能力建设，便可能引发供电紧张与价格飙升，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年能源危机部分印证了这一风险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能源战略布局与政策</a:t>
            </a:r>
          </a:p>
        </p:txBody>
      </p:sp>
      <p:pic>
        <p:nvPicPr>
          <p:cNvPr id="3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01" y="2097938"/>
            <a:ext cx="4679950" cy="31083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氢能战略：面向未来的能源载体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5448300" y="1760219"/>
            <a:ext cx="6382099" cy="1877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年首部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国家氢能战略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</a:t>
            </a:r>
            <a:r>
              <a:rPr lang="en-US" altLang="zh-CN" sz="2000" b="1" dirty="0">
                <a:solidFill>
                  <a:srgbClr val="113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2030</a:t>
            </a:r>
            <a:r>
              <a:rPr lang="zh-CN" altLang="en-US" sz="2000" b="1" dirty="0">
                <a:solidFill>
                  <a:srgbClr val="113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年建成</a:t>
            </a:r>
            <a:r>
              <a:rPr lang="en-US" altLang="zh-CN" sz="2000" b="1" dirty="0">
                <a:solidFill>
                  <a:srgbClr val="113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GW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电解能力，</a:t>
            </a:r>
            <a:r>
              <a:rPr lang="en-US" altLang="zh-CN" sz="2000" b="1" dirty="0">
                <a:solidFill>
                  <a:srgbClr val="113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b="1" dirty="0">
                <a:solidFill>
                  <a:srgbClr val="113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年更新版上调至不低于</a:t>
            </a:r>
            <a:r>
              <a:rPr lang="en-US" altLang="zh-CN" sz="2000" b="1" dirty="0">
                <a:solidFill>
                  <a:srgbClr val="113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GW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，并明确约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50%—70%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的需求依赖进口，为此积极布局氢能进口走廊、输氢管网与海外项目。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5448300" y="3794759"/>
            <a:ext cx="6382099" cy="187765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氢能战略兼具</a:t>
            </a:r>
            <a:r>
              <a:rPr lang="zh-CN" altLang="en-US" sz="2000" b="1" dirty="0">
                <a:solidFill>
                  <a:srgbClr val="113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双重产业意图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：既服务于钢铁、化工等难以电气化部门的脱碳，又试图抢占全球氢能技术标准与装备制高点，将能源转型转化为产业升级机遇。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9326881" y="1714500"/>
            <a:ext cx="2773680" cy="4853939"/>
          </a:xfrm>
          <a:prstGeom prst="roundRect">
            <a:avLst/>
          </a:prstGeom>
          <a:noFill/>
          <a:ln w="28575">
            <a:solidFill>
              <a:srgbClr val="11366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德国高科技议程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将“海洋、气候与可持续发展研究”列为战略研究领域。其重点包括碳移除与工业脱碳、循环经济创新、研究船队更新、自然气候保护、未来渔船、海洋研究联盟以及自主系统与数字孪生。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1440" y="1659795"/>
          <a:ext cx="9136380" cy="5142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0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5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endParaRPr lang="en-US" sz="20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重要节点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2008年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首部德国气候适应战略</a:t>
                      </a:r>
                      <a:endParaRPr lang="zh-CN" sz="2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2016年</a:t>
                      </a:r>
                      <a:endParaRPr lang="zh-CN" sz="2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MARE:N</a:t>
                      </a:r>
                      <a:r>
                        <a:rPr 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海岸海洋与极地可持续研究计划启动</a:t>
                      </a:r>
                      <a:endParaRPr lang="zh-CN" sz="2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2020年</a:t>
                      </a:r>
                      <a:endParaRPr lang="zh-CN" sz="2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国家氢能战略、国家生物经济战略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2021至2024年</a:t>
                      </a:r>
                      <a:endParaRPr lang="zh-CN" sz="2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DAM</a:t>
                      </a: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海洋研究任务逐步展开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2023年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国家水战略、氢能战略更新、自然气候保护行动推进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2024年</a:t>
                      </a:r>
                      <a:endParaRPr lang="zh-CN" sz="2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气候适应法生效；</a:t>
                      </a:r>
                      <a:endParaRPr lang="en-US" alt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适应、循环经济和生物多样性战略更新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2025年</a:t>
                      </a:r>
                      <a:endParaRPr lang="zh-CN" sz="2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可持续发展战略</a:t>
                      </a: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、高科技议程；</a:t>
                      </a:r>
                      <a:endParaRPr lang="en-US" alt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</a:t>
                      </a:r>
                      <a:r>
                        <a:rPr lang="en-US" sz="2000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储存法律修订生效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2026年3至7月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新气候保护计划、循环经济实施行动计划、</a:t>
                      </a:r>
                      <a:endParaRPr lang="en-US" altLang="zh-CN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海洋行动计划要点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2026年9至10月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tc>
                  <a:txBody>
                    <a:bodyPr/>
                    <a:lstStyle/>
                    <a:p>
                      <a:pPr indent="279400" algn="ctr">
                        <a:lnSpc>
                          <a:spcPct val="11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可持续发展行动计划通过；</a:t>
                      </a:r>
                      <a:r>
                        <a:rPr lang="en-US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BBNJ</a:t>
                      </a:r>
                      <a:r>
                        <a:rPr 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批准后等待对德生效</a:t>
                      </a:r>
                      <a:endParaRPr lang="zh-CN" sz="2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8956" marR="48956" marT="48956" marB="4895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气候、海洋与可持续发展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气候、海洋与可持续发展</a:t>
            </a:r>
          </a:p>
        </p:txBody>
      </p:sp>
      <p:sp>
        <p:nvSpPr>
          <p:cNvPr id="4" name="矩形 3"/>
          <p:cNvSpPr/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气候：减排、适应与科研能力</a:t>
            </a:r>
          </a:p>
        </p:txBody>
      </p:sp>
      <p:sp>
        <p:nvSpPr>
          <p:cNvPr id="7" name="椭圆 6"/>
          <p:cNvSpPr/>
          <p:nvPr/>
        </p:nvSpPr>
        <p:spPr>
          <a:xfrm>
            <a:off x="1363980" y="2547347"/>
            <a:ext cx="2118360" cy="21183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气候保护计划</a:t>
            </a:r>
          </a:p>
        </p:txBody>
      </p:sp>
      <p:sp>
        <p:nvSpPr>
          <p:cNvPr id="9" name="椭圆 8"/>
          <p:cNvSpPr/>
          <p:nvPr/>
        </p:nvSpPr>
        <p:spPr>
          <a:xfrm>
            <a:off x="681990" y="1809530"/>
            <a:ext cx="830580" cy="83058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可再生电力</a:t>
            </a:r>
          </a:p>
        </p:txBody>
      </p:sp>
      <p:sp>
        <p:nvSpPr>
          <p:cNvPr id="12" name="椭圆 11"/>
          <p:cNvSpPr/>
          <p:nvPr/>
        </p:nvSpPr>
        <p:spPr>
          <a:xfrm>
            <a:off x="266700" y="3191237"/>
            <a:ext cx="830580" cy="8305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氢能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1990" y="4572944"/>
            <a:ext cx="830580" cy="8305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碳定价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>
            <a:stCxn id="9" idx="5"/>
            <a:endCxn id="7" idx="1"/>
          </p:cNvCxnSpPr>
          <p:nvPr/>
        </p:nvCxnSpPr>
        <p:spPr>
          <a:xfrm>
            <a:off x="1390934" y="2518474"/>
            <a:ext cx="283273" cy="3391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5" idx="7"/>
            <a:endCxn id="7" idx="3"/>
          </p:cNvCxnSpPr>
          <p:nvPr/>
        </p:nvCxnSpPr>
        <p:spPr>
          <a:xfrm flipV="1">
            <a:off x="1390934" y="4355480"/>
            <a:ext cx="283273" cy="33910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3954780" y="1572834"/>
            <a:ext cx="1478280" cy="10820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持续风险治理</a:t>
            </a:r>
          </a:p>
        </p:txBody>
      </p:sp>
      <p:cxnSp>
        <p:nvCxnSpPr>
          <p:cNvPr id="41" name="直接连接符 40"/>
          <p:cNvCxnSpPr>
            <a:stCxn id="7" idx="7"/>
            <a:endCxn id="39" idx="2"/>
          </p:cNvCxnSpPr>
          <p:nvPr/>
        </p:nvCxnSpPr>
        <p:spPr>
          <a:xfrm flipV="1">
            <a:off x="3172113" y="2113854"/>
            <a:ext cx="782667" cy="74372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3954780" y="3068079"/>
            <a:ext cx="1478280" cy="10820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气候模型和数据设施</a:t>
            </a:r>
          </a:p>
        </p:txBody>
      </p:sp>
      <p:sp>
        <p:nvSpPr>
          <p:cNvPr id="48" name="椭圆 47"/>
          <p:cNvSpPr/>
          <p:nvPr/>
        </p:nvSpPr>
        <p:spPr>
          <a:xfrm>
            <a:off x="3954780" y="4501053"/>
            <a:ext cx="1478280" cy="10820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碳移除与碳管理布局</a:t>
            </a:r>
          </a:p>
        </p:txBody>
      </p:sp>
      <p:cxnSp>
        <p:nvCxnSpPr>
          <p:cNvPr id="50" name="直接连接符 49"/>
          <p:cNvCxnSpPr>
            <a:stCxn id="7" idx="6"/>
            <a:endCxn id="46" idx="2"/>
          </p:cNvCxnSpPr>
          <p:nvPr/>
        </p:nvCxnSpPr>
        <p:spPr>
          <a:xfrm>
            <a:off x="3482340" y="3606527"/>
            <a:ext cx="472440" cy="2572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7" idx="5"/>
            <a:endCxn id="48" idx="2"/>
          </p:cNvCxnSpPr>
          <p:nvPr/>
        </p:nvCxnSpPr>
        <p:spPr>
          <a:xfrm>
            <a:off x="3172113" y="4355480"/>
            <a:ext cx="782667" cy="686593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/>
          <p:cNvSpPr/>
          <p:nvPr/>
        </p:nvSpPr>
        <p:spPr>
          <a:xfrm>
            <a:off x="5725030" y="1483561"/>
            <a:ext cx="6278880" cy="1262763"/>
          </a:xfrm>
          <a:prstGeom prst="roundRect">
            <a:avLst/>
          </a:prstGeom>
          <a:noFill/>
          <a:ln w="28575">
            <a:solidFill>
              <a:srgbClr val="11366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《德国气候适应战略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》设置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r>
            <a:r>
              <a:rPr lang="zh-CN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个可衡量目标和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个子目标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。相应的科技布局包括风险图谱、预测与预警、城市水系统、耐气候基础设施。</a:t>
            </a:r>
          </a:p>
        </p:txBody>
      </p:sp>
      <p:sp>
        <p:nvSpPr>
          <p:cNvPr id="63" name="矩形: 圆角 62"/>
          <p:cNvSpPr/>
          <p:nvPr/>
        </p:nvSpPr>
        <p:spPr>
          <a:xfrm>
            <a:off x="5725030" y="2975145"/>
            <a:ext cx="6278880" cy="1262763"/>
          </a:xfrm>
          <a:prstGeom prst="roundRect">
            <a:avLst/>
          </a:prstGeom>
          <a:noFill/>
          <a:ln w="28575">
            <a:solidFill>
              <a:srgbClr val="11366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德国的国家地球系统建模战略</a:t>
            </a:r>
            <a:r>
              <a:rPr lang="en-US" altLang="zh-CN" sz="2000" b="1" dirty="0" err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natESM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共同系统已有</a:t>
            </a:r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ICON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大气、</a:t>
            </a:r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ICON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海洋、</a:t>
            </a:r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FESOM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等核心组件，将进一步纳入机器学习、模型配置和数据处理能力。</a:t>
            </a:r>
          </a:p>
        </p:txBody>
      </p:sp>
      <p:sp>
        <p:nvSpPr>
          <p:cNvPr id="65" name="矩形: 圆角 64"/>
          <p:cNvSpPr/>
          <p:nvPr/>
        </p:nvSpPr>
        <p:spPr>
          <a:xfrm>
            <a:off x="5725030" y="4410691"/>
            <a:ext cx="6278880" cy="1262763"/>
          </a:xfrm>
          <a:prstGeom prst="roundRect">
            <a:avLst/>
          </a:prstGeom>
          <a:noFill/>
          <a:ln w="28575">
            <a:solidFill>
              <a:srgbClr val="11366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德国通过</a:t>
            </a:r>
            <a:r>
              <a:rPr lang="en-US" altLang="zh-CN" sz="2000" b="1" dirty="0" err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CDRterra</a:t>
            </a:r>
            <a:r>
              <a:rPr lang="zh-CN" altLang="en-US" sz="2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研究陆地碳移除技术、环境影响与社会条件，涉及直接空气捕集、碳结合材料和生物质等方向。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3" descr="MOSAiC考察中的“极星号”与海冰营地（2019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144" y="1524648"/>
            <a:ext cx="2363708" cy="132955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气候、海洋与可持续发展</a:t>
            </a:r>
          </a:p>
        </p:txBody>
      </p:sp>
      <p:sp>
        <p:nvSpPr>
          <p:cNvPr id="7" name="矩形 6"/>
          <p:cNvSpPr/>
          <p:nvPr/>
        </p:nvSpPr>
        <p:spPr>
          <a:xfrm>
            <a:off x="502920" y="4055109"/>
            <a:ext cx="11186160" cy="7112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934460" y="1929130"/>
            <a:ext cx="4323080" cy="4323080"/>
            <a:chOff x="3934460" y="1699260"/>
            <a:chExt cx="4323080" cy="4323080"/>
          </a:xfrm>
        </p:grpSpPr>
        <p:sp>
          <p:nvSpPr>
            <p:cNvPr id="10" name="椭圆 9"/>
            <p:cNvSpPr/>
            <p:nvPr/>
          </p:nvSpPr>
          <p:spPr>
            <a:xfrm>
              <a:off x="3934460" y="1699260"/>
              <a:ext cx="4323080" cy="4323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4598498" y="2393778"/>
              <a:ext cx="2995005" cy="29340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106000" y="2870800"/>
              <a:ext cx="1980000" cy="198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5" name="椭圆 14" descr="D:\51PPT模板网\51pptmoban.com\图片.jpg"/>
          <p:cNvSpPr/>
          <p:nvPr/>
        </p:nvSpPr>
        <p:spPr bwMode="auto">
          <a:xfrm>
            <a:off x="5106714" y="3100669"/>
            <a:ext cx="1980000" cy="1980000"/>
          </a:xfrm>
          <a:prstGeom prst="ellipse">
            <a:avLst/>
          </a:prstGeom>
          <a:blipFill dpi="0" rotWithShape="1">
            <a:blip r:embed="rId5">
              <a:alphaModFix amt="94000"/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astelsSmooth/>
                      </a14:imgEffect>
                      <a14:imgEffect>
                        <a14:brightnessContrast bright="23000"/>
                      </a14:imgEffect>
                      <a14:imgEffect>
                        <a14:saturation sat="52000"/>
                      </a14:imgEffect>
                    </a14:imgLayer>
                  </a14:imgProps>
                </a:ext>
              </a:extLst>
            </a:blip>
            <a:srcRect/>
            <a:stretch>
              <a:fillRect l="-20000" r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54214" y="3409718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endParaRPr lang="zh-CN" altLang="en-US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778603" y="4239548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endParaRPr lang="zh-CN" altLang="en-US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30072" y="3369758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endParaRPr lang="zh-CN" altLang="en-US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40573" y="4286237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endParaRPr lang="zh-CN" altLang="en-US" sz="32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16183" y="2060978"/>
            <a:ext cx="3517920" cy="198079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MARE:N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，研究海洋储热与储碳、海平面变化、海洋酸化与污染、沿海风险和可持续资源利用等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为风险识别和资源利用决策积累持续证据。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3606" y="4182519"/>
            <a:ext cx="3711973" cy="236551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日，环境部提出《海洋行动计划》初步要点，包括幽灵渔网治理、海洋友好型农业、遗留弹药清理、保护区质量提升以及海草床、盐沼和海藻森林保护恢复。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251428" y="2838973"/>
            <a:ext cx="3355340" cy="121135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德国在高科技议程中提出更新船队，并加强自主与机器人系统。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89678" y="4126229"/>
            <a:ext cx="3184174" cy="236551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德国通过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HELCOM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参与波罗的海保护，重点包括富营养化、有害物质与海洋生态压力。区域海域污染与生态过程跨越国界，国内政策需要与邻国协作。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87140" y="5765440"/>
            <a:ext cx="4532388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海洋：科学研究、生态保护与空间利用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7" descr="德国Großes Torfmoor泥炭地景观（2021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666" y="4708083"/>
            <a:ext cx="3223972" cy="2149917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8356601" y="2405123"/>
            <a:ext cx="3600800" cy="236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国家生物多样性战略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2030》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日通过，包含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个行动领域、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项目标，第一期行动计划列出约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项联邦措施，并计划于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年进行评估和形成后续行动安排。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1" name="箭头: 五边形 10"/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气候、海洋与可持续发展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234600" y="1702637"/>
            <a:ext cx="3600799" cy="532151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循环经济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4310996" y="1702637"/>
            <a:ext cx="3600799" cy="532151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水战略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8387392" y="1702636"/>
            <a:ext cx="3600799" cy="532151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生物多样性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34599" y="2357613"/>
            <a:ext cx="3600800" cy="313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日，内阁通过实施行动计划，提出到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年底推进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项措施，并计划至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年为战略实施安排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亿欧元。措施包括实施合作平台、名为“未来循环经济”的新资助项目、公共采购、数字产品护照和数据空间等。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6" descr="循环经济的全生命周期视角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03" y="5404987"/>
            <a:ext cx="3387933" cy="1301758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4310995" y="2405123"/>
            <a:ext cx="3600800" cy="236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国家水战略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2050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年，通过十个战略主题及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项行动，协调饮用水、自然水循环、水质、基础设施和水资源利用；行动应分阶段推进至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年及以后。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图片 54" descr="水循环|水循环_新浪新闻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995" y="4785262"/>
            <a:ext cx="3739515" cy="19135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启示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战略布局</a:t>
            </a: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0" y="962660"/>
            <a:ext cx="5375275" cy="587375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/>
              <a:buChar char="Ø"/>
            </a:pP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信息技术</a:t>
            </a:r>
            <a:r>
              <a:rPr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战略布局与政策</a:t>
            </a: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（微电子）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74135" y="5037934"/>
            <a:ext cx="4236720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50" tIns="95250" rIns="95250" bIns="9525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《微电子战略》2025年10月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74135" y="5895420"/>
            <a:ext cx="4236720" cy="652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50" tIns="95250" rIns="95250" bIns="9525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研究、人才与制造协同推进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t="18646" b="18646"/>
          <a:stretch>
            <a:fillRect/>
          </a:stretch>
        </p:blipFill>
        <p:spPr>
          <a:xfrm>
            <a:off x="548640" y="1804035"/>
            <a:ext cx="5887688" cy="29527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6838950" y="1762125"/>
            <a:ext cx="5048250" cy="470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产业基础：德国占欧洲晶圆产能约30%。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布局依托汽车、工业、医疗与能源需求。</a:t>
            </a:r>
          </a:p>
          <a:p>
            <a:endParaRPr sz="1900"/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政策框架：2025年《微电子战略》纳入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《高技术议程》，对接《欧洲芯片法案》。</a:t>
            </a:r>
          </a:p>
          <a:p>
            <a:endParaRPr sz="1900"/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行动重点：增强芯片设计和人才培养，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支持制造、材料与设备投资，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促进实验室成果进入工业生产。</a:t>
            </a:r>
          </a:p>
          <a:p>
            <a:endParaRPr sz="1900"/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合作机制：拓展欧洲与国际合作，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增强关键环节能力与供应链韧性。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启示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战略布局</a:t>
            </a: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/>
              <a:buChar char="Ø"/>
            </a:pP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信息技术</a:t>
            </a:r>
            <a:r>
              <a:rPr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战略布局与政策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半导体部署：扩产投资与开放中试平台相互补充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361950" y="1714500"/>
          <a:ext cx="7200900" cy="4029076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政策载体</a:t>
                      </a:r>
                    </a:p>
                  </a:txBody>
                  <a:tcPr marL="133350" marR="114300" marT="95250" marB="95250"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部署内容与作用</a:t>
                      </a:r>
                    </a:p>
                  </a:txBody>
                  <a:tcPr marL="133350" marR="114300" marT="95250" marB="9525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78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ESMC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制造扩产</a:t>
                      </a:r>
                    </a:p>
                  </a:txBody>
                  <a:tcPr marL="133350" marR="114300" marT="95250" marB="95250"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2024年获批50亿欧元德国国家援助，</a:t>
                      </a: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预计总投资超过100亿欧元。</a:t>
                      </a: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建设汽车与工业芯片开放代工厂，</a:t>
                      </a: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企业预计2027年设备入厂。</a:t>
                      </a:r>
                    </a:p>
                  </a:txBody>
                  <a:tcPr marL="133350" marR="114300" marT="95250" marB="9525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78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APECS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公共中试</a:t>
                      </a:r>
                    </a:p>
                  </a:txBody>
                  <a:tcPr marL="133350" marR="114300" marT="95250" marB="95250"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2024年底启动，欧洲项目总资助</a:t>
                      </a: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7.3亿欧元、持续4.5年。FMD协调</a:t>
                      </a: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欧洲伙伴，开放先进封装与芯粒验证</a:t>
                      </a: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服务，重点支持中小企业和初创企业。</a:t>
                      </a:r>
                    </a:p>
                  </a:txBody>
                  <a:tcPr marL="133350" marR="114300" marT="95250" marB="9525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11562" b="11562"/>
          <a:stretch>
            <a:fillRect/>
          </a:stretch>
        </p:blipFill>
        <p:spPr>
          <a:xfrm>
            <a:off x="8001000" y="1714500"/>
            <a:ext cx="3829050" cy="196215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8001000" y="3695700"/>
            <a:ext cx="3829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ESMC德累斯顿项目动工活动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rcRect t="9757" b="9757"/>
          <a:stretch>
            <a:fillRect/>
          </a:stretch>
        </p:blipFill>
        <p:spPr>
          <a:xfrm>
            <a:off x="8001000" y="4010025"/>
            <a:ext cx="3829050" cy="173355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8001000" y="5734050"/>
            <a:ext cx="38290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APECS共享试点线研发设施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启示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战略布局</a:t>
            </a: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0" y="962660"/>
            <a:ext cx="5725795" cy="587375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/>
              <a:buChar char="Ø"/>
            </a:pP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</a:t>
            </a:r>
            <a:r>
              <a:rPr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技术战略布局与政策</a:t>
            </a: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（量子技术）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量子布局：长期资金支持与多方向能力培育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363980" y="2547347"/>
            <a:ext cx="2118360" cy="21183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725" tIns="85725" rIns="85725" bIns="85725" anchor="ctr">
            <a:noAutofit/>
          </a:bodyPr>
          <a:lstStyle>
            <a:def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量子技术</a:t>
            </a:r>
            <a:endParaRPr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行动方案</a:t>
            </a:r>
            <a:endParaRPr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681990" y="1809530"/>
            <a:ext cx="830580" cy="83058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266700" y="3191237"/>
            <a:ext cx="830580" cy="8305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培育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681990" y="4572944"/>
            <a:ext cx="830580" cy="8305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人才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>
            <a:stCxn id="9" idx="5"/>
            <a:endCxn id="7" idx="1"/>
          </p:cNvCxnSpPr>
          <p:nvPr/>
        </p:nvCxnSpPr>
        <p:spPr>
          <a:xfrm>
            <a:off x="1390934" y="2518474"/>
            <a:ext cx="283273" cy="3391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5" idx="7"/>
            <a:endCxn id="7" idx="3"/>
          </p:cNvCxnSpPr>
          <p:nvPr/>
        </p:nvCxnSpPr>
        <p:spPr>
          <a:xfrm flipV="1">
            <a:off x="1390934" y="4355480"/>
            <a:ext cx="283273" cy="33910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>
            <a:spLocks noGrp="1"/>
          </p:cNvSpPr>
          <p:nvPr/>
        </p:nvSpPr>
        <p:spPr>
          <a:xfrm>
            <a:off x="3954780" y="1572834"/>
            <a:ext cx="1478280" cy="10820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</a:t>
            </a:r>
            <a:endParaRPr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endParaRPr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1" name="直接连接符 40"/>
          <p:cNvCxnSpPr>
            <a:stCxn id="7" idx="7"/>
            <a:endCxn id="39" idx="2"/>
          </p:cNvCxnSpPr>
          <p:nvPr/>
        </p:nvCxnSpPr>
        <p:spPr>
          <a:xfrm flipV="1">
            <a:off x="3172113" y="2113854"/>
            <a:ext cx="782667" cy="74372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椭圆 45"/>
          <p:cNvSpPr>
            <a:spLocks noGrp="1"/>
          </p:cNvSpPr>
          <p:nvPr/>
        </p:nvSpPr>
        <p:spPr>
          <a:xfrm>
            <a:off x="3954780" y="3068079"/>
            <a:ext cx="1478280" cy="10820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</a:t>
            </a:r>
            <a:endParaRPr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传感</a:t>
            </a:r>
            <a:endParaRPr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3954780" y="4501053"/>
            <a:ext cx="1478280" cy="10820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</a:t>
            </a:r>
            <a:endParaRPr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</a:t>
            </a:r>
            <a:endParaRPr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0" name="直接连接符 49"/>
          <p:cNvCxnSpPr>
            <a:stCxn id="7" idx="6"/>
            <a:endCxn id="46" idx="2"/>
          </p:cNvCxnSpPr>
          <p:nvPr/>
        </p:nvCxnSpPr>
        <p:spPr>
          <a:xfrm>
            <a:off x="3482340" y="3606527"/>
            <a:ext cx="472440" cy="2572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7" idx="5"/>
            <a:endCxn id="48" idx="2"/>
          </p:cNvCxnSpPr>
          <p:nvPr/>
        </p:nvCxnSpPr>
        <p:spPr>
          <a:xfrm>
            <a:off x="3172113" y="4355480"/>
            <a:ext cx="782667" cy="686593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/>
          <p:cNvSpPr>
            <a:spLocks noGrp="1"/>
          </p:cNvSpPr>
          <p:nvPr/>
        </p:nvSpPr>
        <p:spPr>
          <a:xfrm>
            <a:off x="5725030" y="1483561"/>
            <a:ext cx="6278880" cy="1262763"/>
          </a:xfrm>
          <a:prstGeom prst="roundRect">
            <a:avLst/>
          </a:prstGeom>
          <a:noFill/>
          <a:ln w="28575">
            <a:solidFill>
              <a:srgbClr val="11366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2023—2026年资金框架</a:t>
            </a:r>
            <a:endParaRPr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联邦政府21.8亿欧元，科研组织8.5亿欧元，</a:t>
            </a:r>
            <a:endParaRPr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合计约30亿欧元，持续支持量子研发。</a:t>
            </a:r>
            <a:endParaRPr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: 圆角 62"/>
          <p:cNvSpPr>
            <a:spLocks noGrp="1"/>
          </p:cNvSpPr>
          <p:nvPr/>
        </p:nvSpPr>
        <p:spPr>
          <a:xfrm>
            <a:off x="5725030" y="2975145"/>
            <a:ext cx="6278880" cy="1262763"/>
          </a:xfrm>
          <a:prstGeom prst="roundRect">
            <a:avLst/>
          </a:prstGeom>
          <a:noFill/>
          <a:ln w="28575">
            <a:solidFill>
              <a:srgbClr val="11366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三类技术同步部署</a:t>
            </a:r>
            <a:endParaRPr sz="2000" b="1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计算发展软硬件与用户生态，传感面向</a:t>
            </a:r>
            <a:endParaRPr sz="2000" b="1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385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医疗和精密测量，通信探索网络与密钥分发。</a:t>
            </a:r>
            <a:endParaRPr sz="2000" b="1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矩形: 圆角 64"/>
          <p:cNvSpPr>
            <a:spLocks noGrp="1"/>
          </p:cNvSpPr>
          <p:nvPr/>
        </p:nvSpPr>
        <p:spPr>
          <a:xfrm>
            <a:off x="5725030" y="4410691"/>
            <a:ext cx="6278880" cy="1262763"/>
          </a:xfrm>
          <a:prstGeom prst="roundRect">
            <a:avLst/>
          </a:prstGeom>
          <a:noFill/>
          <a:ln w="28575">
            <a:solidFill>
              <a:srgbClr val="11366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完善研究与应用生态</a:t>
            </a:r>
            <a:endParaRPr sz="2000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支持初创企业与专业人才，组织产学研合作，</a:t>
            </a:r>
            <a:endParaRPr sz="2000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806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推动基础研究、系统验证与应用探索衔接。</a:t>
            </a:r>
            <a:endParaRPr sz="2000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启示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战略布局</a:t>
            </a: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/>
              <a:buChar char="Ø"/>
            </a:pP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</a:t>
            </a:r>
            <a:r>
              <a:rPr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技术战略布局与政策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量子部署：多路线竞争与真实环境验证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5448300" y="1760219"/>
            <a:ext cx="6382099" cy="1877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875" tIns="142875" rIns="142875" bIns="142875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2026年4月启动量子计算竞赛，支持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中性原子、超导、离子阱三条路线。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目标是到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2030年</a:t>
            </a: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至少实现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两台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达到欧洲领先水平的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纠错量子计算机</a:t>
            </a: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以竞争性项目推动关键技术突破。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5448300" y="3794759"/>
            <a:ext cx="6382099" cy="187765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875" tIns="142875" rIns="142875" bIns="142875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QuNET在2025年开展飞机—地面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量子信道飞行试验，完成光子接收与测量，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并测试量子密钥分发技术。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科研机构与企业通过真实环境试验，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6000"/>
              </a:lnSpc>
              <a:buNone/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检验移动量子通信系统的技术可行性。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l="7692" r="7692"/>
          <a:stretch>
            <a:fillRect/>
          </a:stretch>
        </p:blipFill>
        <p:spPr>
          <a:xfrm>
            <a:off x="361569" y="2097977"/>
            <a:ext cx="4679918" cy="3108293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361950" y="5257800"/>
            <a:ext cx="46767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QuNET机载光学收发装置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启示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战略布局</a:t>
            </a: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0" y="962660"/>
            <a:ext cx="5715000" cy="587375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/>
              <a:buChar char="Ø"/>
            </a:pP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信息技术</a:t>
            </a:r>
            <a:r>
              <a:rPr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战略布局与政策</a:t>
            </a: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（人工智能）</a:t>
            </a:r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1394460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anchor="ctr">
            <a:noAutofit/>
          </a:bodyPr>
          <a:lstStyle>
            <a:def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2018年</a:t>
            </a:r>
            <a:endParaRPr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3368067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anchor="ctr">
            <a:noAutofit/>
          </a:bodyPr>
          <a:lstStyle>
            <a:def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2020年</a:t>
            </a:r>
            <a:endParaRPr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5341674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anchor="ctr">
            <a:noAutofit/>
          </a:bodyPr>
          <a:lstStyle>
            <a:def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2023年</a:t>
            </a:r>
            <a:endParaRPr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315281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anchor="ctr">
            <a:noAutofit/>
          </a:bodyPr>
          <a:lstStyle>
            <a:def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2025年</a:t>
            </a:r>
            <a:endParaRPr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椭圆 63"/>
          <p:cNvSpPr>
            <a:spLocks noGrp="1"/>
          </p:cNvSpPr>
          <p:nvPr/>
        </p:nvSpPr>
        <p:spPr>
          <a:xfrm>
            <a:off x="9288888" y="3268980"/>
            <a:ext cx="1305542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anchor="ctr">
            <a:noAutofit/>
          </a:bodyPr>
          <a:lstStyle>
            <a:def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2026年</a:t>
            </a:r>
            <a:endParaRPr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358140" y="1790700"/>
            <a:ext cx="3371850" cy="1123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首部国家AI战略提出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“AI Made in Germany”，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兼顾科研、产业与公共利益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5715000" y="63093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2571750" y="4533900"/>
            <a:ext cx="2952750" cy="1009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截至2025年的联邦AI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投入计划由30亿欧元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提高至50亿欧元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4305300" y="1771650"/>
            <a:ext cx="337185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AI行动计划加强研究、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算力、人才和成果转化，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推动科研进入实际应用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文本框 37"/>
          <p:cNvSpPr>
            <a:spLocks noGrp="1"/>
          </p:cNvSpPr>
          <p:nvPr/>
        </p:nvSpPr>
        <p:spPr>
          <a:xfrm>
            <a:off x="8153400" y="522732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1" name="文本框 40"/>
          <p:cNvSpPr>
            <a:spLocks noGrp="1"/>
          </p:cNvSpPr>
          <p:nvPr/>
        </p:nvSpPr>
        <p:spPr>
          <a:xfrm>
            <a:off x="6524625" y="4533900"/>
            <a:ext cx="2933700" cy="1009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《高技术议程》将AI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列为关键技术，强化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工业AI与机器人应用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8067675" y="1638300"/>
            <a:ext cx="3914775" cy="1390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AI路线图提出2030年目标：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10%的经济产出基于AI创造，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AI初创企业达到2025年的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四倍，约4000家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40180" y="5629157"/>
            <a:ext cx="9311640" cy="8574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人工智能：从科研优势走向工业应用与经济价值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4"/>
          <a:srcRect l="241" r="241"/>
          <a:stretch>
            <a:fillRect/>
          </a:stretch>
        </p:blipFill>
        <p:spPr>
          <a:xfrm>
            <a:off x="228886" y="4247674"/>
            <a:ext cx="2331149" cy="1317117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291" y="4200525"/>
            <a:ext cx="998068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91996" y="-5668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91998" y="-538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启示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战略布局</a:t>
            </a: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/>
              <a:buChar char="Ø"/>
            </a:pPr>
            <a:r>
              <a:rPr lang="zh-CN"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信息技术</a:t>
            </a:r>
            <a:r>
              <a:rPr sz="24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战略布局与政策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532887" y="5996298"/>
            <a:ext cx="9126225" cy="652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人工智能部署：公共算力连接企业应用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t="34" b="34"/>
          <a:stretch>
            <a:fillRect/>
          </a:stretch>
        </p:blipFill>
        <p:spPr>
          <a:xfrm>
            <a:off x="490442" y="2036921"/>
            <a:ext cx="4679918" cy="3117818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5772150" y="1685925"/>
            <a:ext cx="6029325" cy="1990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公共算力：JUPITER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2025年9月揭幕，是欧洲首台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Exascale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超级计算机，支持大型AI模型与科学模拟。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项目由EuroHPC承担一半费用，德国联邦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和北威州各承担四分之一。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72150" y="3676650"/>
            <a:ext cx="6029325" cy="2152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企业入口：AI Factories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JAIF与HammerHAI整合算力、技术支持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及培训，服务初创企业与中小企业。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路线图目标：2028年形成至少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100个</a:t>
            </a: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转化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案例，2029年制造业中小企业核心流程</a:t>
            </a:r>
          </a:p>
          <a:p>
            <a:pPr algn="l">
              <a:lnSpc>
                <a:spcPct val="110000"/>
              </a:lnSpc>
              <a:buNone/>
              <a:def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使用AI的比例超过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r>
              <a:rPr sz="19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0538" y="5238750"/>
            <a:ext cx="4679918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JUPITER超级计算机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791998" y="-2834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5" name="矩形 4"/>
          <p:cNvSpPr/>
          <p:nvPr/>
        </p:nvSpPr>
        <p:spPr>
          <a:xfrm>
            <a:off x="10391588" y="-30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思源黑体" panose="020B0500000000000000" pitchFamily="34" charset="-122"/>
              </a:rPr>
              <a:t>启示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22" name="箭头: 五边形 10"/>
          <p:cNvSpPr/>
          <p:nvPr/>
        </p:nvSpPr>
        <p:spPr>
          <a:xfrm>
            <a:off x="0" y="960120"/>
            <a:ext cx="3104515" cy="585470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对中国的启示</a:t>
            </a:r>
            <a:endParaRPr lang="zh-CN" altLang="en-US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3"/>
          <p:cNvSpPr/>
          <p:nvPr>
            <p:custDataLst>
              <p:tags r:id="rId1"/>
            </p:custDataLst>
          </p:nvPr>
        </p:nvSpPr>
        <p:spPr>
          <a:xfrm>
            <a:off x="502920" y="1783080"/>
            <a:ext cx="2331720" cy="566928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战略治理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2"/>
            </p:custDataLst>
          </p:nvPr>
        </p:nvSpPr>
        <p:spPr>
          <a:xfrm>
            <a:off x="3017520" y="1741805"/>
            <a:ext cx="8641080" cy="9099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目标可量化、进度可公开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：重大专项设</a:t>
            </a:r>
            <a:r>
              <a:rPr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年度里程碑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第三方评估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，超级工程设“</a:t>
            </a:r>
            <a:r>
              <a:rPr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继续/收缩/退出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”决策门。</a:t>
            </a:r>
          </a:p>
        </p:txBody>
      </p:sp>
      <p:sp>
        <p:nvSpPr>
          <p:cNvPr id="3" name="矩形: 圆角 3"/>
          <p:cNvSpPr/>
          <p:nvPr>
            <p:custDataLst>
              <p:tags r:id="rId3"/>
            </p:custDataLst>
          </p:nvPr>
        </p:nvSpPr>
        <p:spPr>
          <a:xfrm>
            <a:off x="502920" y="2761488"/>
            <a:ext cx="2331720" cy="566928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转化生态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4"/>
            </p:custDataLst>
          </p:nvPr>
        </p:nvSpPr>
        <p:spPr>
          <a:xfrm>
            <a:off x="3017520" y="2685415"/>
            <a:ext cx="864108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把“实验室到工厂”作为主战场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：建“</a:t>
            </a:r>
            <a:r>
              <a:rPr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概念验证—中试—示范—规模化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”全链条，用首台套、政府采购、场景开放拉动需求。</a:t>
            </a:r>
          </a:p>
        </p:txBody>
      </p:sp>
      <p:sp>
        <p:nvSpPr>
          <p:cNvPr id="7" name="矩形: 圆角 3"/>
          <p:cNvSpPr/>
          <p:nvPr>
            <p:custDataLst>
              <p:tags r:id="rId5"/>
            </p:custDataLst>
          </p:nvPr>
        </p:nvSpPr>
        <p:spPr>
          <a:xfrm>
            <a:off x="502920" y="3739896"/>
            <a:ext cx="2331720" cy="566928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制度供给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6"/>
            </p:custDataLst>
          </p:nvPr>
        </p:nvSpPr>
        <p:spPr>
          <a:xfrm>
            <a:off x="3017520" y="3679825"/>
            <a:ext cx="8641080" cy="9290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立法、审批、标准与资金同权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：新兴领域“</a:t>
            </a:r>
            <a:r>
              <a:rPr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战略方向—专项立法—简化许可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”联动，跨周期预算、监管沙盒、碳价反哺。</a:t>
            </a:r>
          </a:p>
        </p:txBody>
      </p:sp>
      <p:sp>
        <p:nvSpPr>
          <p:cNvPr id="9" name="矩形: 圆角 3"/>
          <p:cNvSpPr/>
          <p:nvPr>
            <p:custDataLst>
              <p:tags r:id="rId7"/>
            </p:custDataLst>
          </p:nvPr>
        </p:nvSpPr>
        <p:spPr>
          <a:xfrm>
            <a:off x="502920" y="4718304"/>
            <a:ext cx="2331720" cy="566928"/>
          </a:xfrm>
          <a:prstGeom prst="round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 开放安全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8"/>
            </p:custDataLst>
          </p:nvPr>
        </p:nvSpPr>
        <p:spPr>
          <a:xfrm>
            <a:off x="3017520" y="4658995"/>
            <a:ext cx="8641080" cy="9277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技术主权不等于闭门造车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：自主可控与制度型开放并举，供应链风险监测与多元化，能源“</a:t>
            </a:r>
            <a:r>
              <a:rPr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先立后破</a:t>
            </a:r>
            <a:r>
              <a:rPr sz="200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</a:p>
        </p:txBody>
      </p:sp>
      <p:sp>
        <p:nvSpPr>
          <p:cNvPr id="10" name="矩形 3"/>
          <p:cNvSpPr/>
          <p:nvPr/>
        </p:nvSpPr>
        <p:spPr>
          <a:xfrm>
            <a:off x="502920" y="5715000"/>
            <a:ext cx="11183112" cy="6492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一条主线：用中国的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制度优势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，把“战略雄心”转化为“可执行的制度安排”。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791998" y="-2834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391588" y="-30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启示</a:t>
            </a:r>
            <a:endParaRPr sz="2000" b="1">
              <a:solidFill>
                <a:schemeClr val="bg1">
                  <a:lumMod val="50000"/>
                </a:schemeClr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战略布局</a:t>
            </a:r>
          </a:p>
        </p:txBody>
      </p:sp>
      <p:sp>
        <p:nvSpPr>
          <p:cNvPr id="22" name="箭头: 五边形 10"/>
          <p:cNvSpPr>
            <a:spLocks noGrp="1"/>
          </p:cNvSpPr>
          <p:nvPr/>
        </p:nvSpPr>
        <p:spPr>
          <a:xfrm>
            <a:off x="0" y="960120"/>
            <a:ext cx="4445635" cy="585470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1950" tIns="28575" rIns="238125" bIns="28575" anchor="ctr">
            <a:noAutofit/>
          </a:bodyPr>
          <a:lstStyle>
            <a:def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marL="285750" indent="-285750" algn="l">
              <a:buFont typeface="Wingdings" panose="05000000000000000000"/>
              <a:buChar char="Ø"/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中德AI发展：规模与侧重</a:t>
            </a:r>
            <a:r>
              <a:rPr lang="en-US" altLang="zh-CN"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sz="2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361950" y="1781175"/>
          <a:ext cx="7200900" cy="2609850"/>
        </p:xfrm>
        <a:graphic>
          <a:graphicData uri="http://schemas.openxmlformats.org/drawingml/2006/table">
            <a:tbl>
              <a:tblPr/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观察指标（统计年）</a:t>
                      </a:r>
                    </a:p>
                  </a:txBody>
                  <a:tcPr marL="123825" marR="95250" marT="76200" marB="76200"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德国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65" b="0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私人AI投资（2025）</a:t>
                      </a:r>
                    </a:p>
                  </a:txBody>
                  <a:tcPr marL="123825" marR="95250" marT="76200" marB="76200"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765" b="1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124.1亿美元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765" b="1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38.9亿美元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65" b="0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新获融资AI企业（2025）</a:t>
                      </a:r>
                    </a:p>
                  </a:txBody>
                  <a:tcPr marL="123825" marR="95250" marT="76200" marB="76200"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765" b="1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161家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765" b="1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92家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65" b="0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全球高被引AI论文Top100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65" b="0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中的机构参与篇数（2024）</a:t>
                      </a:r>
                    </a:p>
                  </a:txBody>
                  <a:tcPr marL="123825" marR="95250" marT="76200" marB="76200"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765" b="1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41篇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1765" b="1">
                          <a:solidFill>
                            <a:srgbClr val="1F1F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8篇</a:t>
                      </a:r>
                    </a:p>
                  </a:txBody>
                  <a:tcPr marL="123825" marR="95250" marT="76200" marB="76200"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矩形 23"/>
          <p:cNvSpPr>
            <a:spLocks noGrp="1"/>
          </p:cNvSpPr>
          <p:nvPr/>
        </p:nvSpPr>
        <p:spPr>
          <a:xfrm>
            <a:off x="361950" y="4438650"/>
            <a:ext cx="72009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私人投资不等于国家AI总投入。跨国合作论文可同时计入多个国家。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61950" y="4752975"/>
            <a:ext cx="72009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中国在上述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融资规模和高被引研究参与度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上更突出，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DeepSeek-R1等成果也展示了前沿模型创新能力。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德国的工业积累和应用研究网络仍有参考价值，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本次借鉴着重比较其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研究转化与企业服务经验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437" y="1771650"/>
            <a:ext cx="3099176" cy="4010025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532858" y="5996273"/>
            <a:ext cx="9126188" cy="652844"/>
          </a:xfrm>
          <a:prstGeom prst="rect">
            <a:avLst/>
          </a:prstGeom>
          <a:solidFill>
            <a:srgbClr val="305496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中德AI各有特点：规模指标与产业经验需要分别比较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42180" y="892810"/>
            <a:ext cx="4830445" cy="652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（这里主要以人工智能方面为例，来叙述一个具体的启示案例）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791998" y="-2834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391588" y="-30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启示</a:t>
            </a:r>
            <a:endParaRPr sz="2000" b="1">
              <a:solidFill>
                <a:schemeClr val="bg1">
                  <a:lumMod val="50000"/>
                </a:schemeClr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战略布局</a:t>
            </a:r>
          </a:p>
        </p:txBody>
      </p:sp>
      <p:sp>
        <p:nvSpPr>
          <p:cNvPr id="22" name="箭头: 五边形 10"/>
          <p:cNvSpPr>
            <a:spLocks noGrp="1"/>
          </p:cNvSpPr>
          <p:nvPr/>
        </p:nvSpPr>
        <p:spPr>
          <a:xfrm>
            <a:off x="0" y="960120"/>
            <a:ext cx="5334000" cy="585502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1950" tIns="28575" rIns="238125" bIns="28575" anchor="ctr">
            <a:noAutofit/>
          </a:bodyPr>
          <a:lstStyle>
            <a:def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marL="285750" indent="-285750" algn="l">
              <a:buFont typeface="Wingdings" panose="05000000000000000000"/>
              <a:buChar char="Ø"/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中德AI：优势与应用难点</a:t>
            </a:r>
            <a:endParaRPr sz="2400" b="1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61950" y="1714500"/>
            <a:ext cx="5562600" cy="381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中国：模型创新与广泛场景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67450" y="1714500"/>
            <a:ext cx="5562600" cy="381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德国：研究网络与工业积累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t="26884" b="26884"/>
          <a:stretch>
            <a:fillRect/>
          </a:stretch>
        </p:blipFill>
        <p:spPr>
          <a:xfrm>
            <a:off x="361950" y="2162175"/>
            <a:ext cx="5562600" cy="17145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rcRect t="30184" b="30184"/>
          <a:stretch>
            <a:fillRect/>
          </a:stretch>
        </p:blipFill>
        <p:spPr>
          <a:xfrm>
            <a:off x="6267450" y="2162175"/>
            <a:ext cx="5562600" cy="1714500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361950" y="3895725"/>
            <a:ext cx="55626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华翔生产车间：法兰AI质检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67450" y="3895725"/>
            <a:ext cx="55626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Pick4Crcl：AI纺织物分拣示范系统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61950" y="4229100"/>
            <a:ext cx="55626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中国拥有</a:t>
            </a:r>
            <a:r>
              <a:rPr sz="184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模型创新、完整产业体系</a:t>
            </a: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与丰富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应用场景，具备规模化发展的条件。发改委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2025年答问也指出，供需对接不畅、应用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落地“最后一公里”等问题仍然存在。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这反映出技术供给与企业实际需求之间，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仍有</a:t>
            </a:r>
            <a:r>
              <a:rPr sz="184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匹配和转化的难点</a:t>
            </a: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67450" y="4229100"/>
            <a:ext cx="55626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德国拥有高水平</a:t>
            </a:r>
            <a:r>
              <a:rPr sz="184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研究网络与长期工业积累</a:t>
            </a: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但企业采用AI仍不均衡。2025年受调查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企业的AI使用率为</a:t>
            </a:r>
            <a:r>
              <a:rPr sz="184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26%</a:t>
            </a: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，小企业为</a:t>
            </a:r>
            <a:r>
              <a:rPr sz="184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23%</a:t>
            </a: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大型企业为</a:t>
            </a:r>
            <a:r>
              <a:rPr sz="184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57%</a:t>
            </a: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。知识不足、数据质量和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系统兼容性等问题，也制约了AI向更多</a:t>
            </a:r>
          </a:p>
          <a:p>
            <a:pPr algn="l">
              <a:lnSpc>
                <a:spcPct val="108000"/>
              </a:lnSpc>
              <a:buNone/>
              <a:def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4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企业扩散。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532858" y="5996273"/>
            <a:ext cx="9126188" cy="652844"/>
          </a:xfrm>
          <a:prstGeom prst="rect">
            <a:avLst/>
          </a:prstGeom>
          <a:solidFill>
            <a:srgbClr val="305496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两国均有自身优势，也都面临科研能力向企业应用转化的难点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791998" y="-2834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391588" y="-30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启示</a:t>
            </a:r>
            <a:endParaRPr sz="2000" b="1">
              <a:solidFill>
                <a:schemeClr val="bg1">
                  <a:lumMod val="50000"/>
                </a:schemeClr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战略布局</a:t>
            </a:r>
          </a:p>
        </p:txBody>
      </p:sp>
      <p:sp>
        <p:nvSpPr>
          <p:cNvPr id="22" name="箭头: 五边形 10"/>
          <p:cNvSpPr>
            <a:spLocks noGrp="1"/>
          </p:cNvSpPr>
          <p:nvPr/>
        </p:nvSpPr>
        <p:spPr>
          <a:xfrm>
            <a:off x="0" y="960120"/>
            <a:ext cx="5334000" cy="585502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1950" tIns="28575" rIns="238125" bIns="28575" anchor="ctr">
            <a:noAutofit/>
          </a:bodyPr>
          <a:lstStyle>
            <a:def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marL="285750" indent="-285750" algn="l">
              <a:buFont typeface="Wingdings" panose="05000000000000000000"/>
              <a:buChar char="Ø"/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德国AI经验：走近企业员工</a:t>
            </a:r>
            <a:endParaRPr sz="2400" b="1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1764" b="1764"/>
          <a:stretch>
            <a:fillRect/>
          </a:stretch>
        </p:blipFill>
        <p:spPr>
          <a:xfrm>
            <a:off x="490538" y="1809750"/>
            <a:ext cx="4679918" cy="300990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428625" y="4848225"/>
            <a:ext cx="48006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08000"/>
              </a:lnSpc>
              <a:buNone/>
              <a:def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KI-Infomobil：把AI示范带到企业现场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0538" y="5248275"/>
            <a:ext cx="4679918" cy="4476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6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2处固定体验空间，2辆移动展示车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772150" y="1724025"/>
            <a:ext cx="6057900" cy="198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KI-Studios由弗劳恩霍夫IAO与斯图加特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大学IAT实施，将文档分析、预测性生产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规划等用途做成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可体验的示范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。员工在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工作坊中围绕本企业的问题讨论AI用途。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截至2024年底，项目通过约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250场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活动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接触了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2300余家企业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772150" y="3857625"/>
            <a:ext cx="6057900" cy="198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值得学习的是，把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技术展示、员工学习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业务问题识别连接起来，让研究机构持续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参与企业的理解与尝试。这一案例为观察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德国如何服务中小企业提供了具体窗口。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接触企业数量并不等于实际采用效果，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其参考价值主要在于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贴近使用者的服务方式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32858" y="5996273"/>
            <a:ext cx="9126188" cy="652844"/>
          </a:xfrm>
          <a:prstGeom prst="rect">
            <a:avLst/>
          </a:prstGeom>
          <a:solidFill>
            <a:srgbClr val="305496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可借鉴的经验：科研机构与企业员工之间的持续互动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791998" y="-2834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科技体制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391588" y="-308"/>
            <a:ext cx="1800000" cy="71332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启示</a:t>
            </a:r>
            <a:endParaRPr sz="2000" b="1">
              <a:solidFill>
                <a:schemeClr val="bg1">
                  <a:lumMod val="50000"/>
                </a:schemeClr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战略布局</a:t>
            </a:r>
          </a:p>
        </p:txBody>
      </p:sp>
      <p:sp>
        <p:nvSpPr>
          <p:cNvPr id="22" name="箭头: 五边形 10"/>
          <p:cNvSpPr>
            <a:spLocks noGrp="1"/>
          </p:cNvSpPr>
          <p:nvPr/>
        </p:nvSpPr>
        <p:spPr>
          <a:xfrm>
            <a:off x="0" y="960120"/>
            <a:ext cx="2659380" cy="585470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1950" tIns="28575" rIns="238125" bIns="28575" anchor="ctr">
            <a:noAutofit/>
          </a:bodyPr>
          <a:lstStyle>
            <a:def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marL="285750" indent="-285750" algn="l">
              <a:buFont typeface="Wingdings" panose="05000000000000000000"/>
              <a:buChar char="Ø"/>
              <a:def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整体启示</a:t>
            </a:r>
            <a:endParaRPr sz="2400" b="1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61950" y="1724025"/>
            <a:ext cx="3619500" cy="3619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科研基础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rcRect t="16250" b="16250"/>
          <a:stretch>
            <a:fillRect/>
          </a:stretch>
        </p:blipFill>
        <p:spPr>
          <a:xfrm>
            <a:off x="361950" y="2171700"/>
            <a:ext cx="3619500" cy="1628775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4286250" y="1724025"/>
            <a:ext cx="3619500" cy="3619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产业转化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rcRect t="18482" b="18482"/>
          <a:stretch>
            <a:fillRect/>
          </a:stretch>
        </p:blipFill>
        <p:spPr>
          <a:xfrm>
            <a:off x="4286250" y="2171700"/>
            <a:ext cx="3619500" cy="1628775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8210550" y="1724025"/>
            <a:ext cx="3619500" cy="3619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能源与生态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rcRect t="8710" b="8710"/>
          <a:stretch>
            <a:fillRect/>
          </a:stretch>
        </p:blipFill>
        <p:spPr>
          <a:xfrm>
            <a:off x="8210550" y="2171700"/>
            <a:ext cx="3619500" cy="1628775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361950" y="3990975"/>
            <a:ext cx="11468100" cy="923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从科技体制到能源、微电子、量子与AI，再到海洋和可持续发展，德国经验显示：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战略方向与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长期科研组织、工程转化和持续公共服务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之间的衔接，是理解不同领域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部署的一条共同线索。资金与设施之外，人才、数据积累和合作机制同样重要。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61950" y="4981575"/>
            <a:ext cx="114681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对中国的参考价值，在于认识科研积累、产业经验与公共问题之间如何相互联系。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中德在发展规模、产业结构和制度环境上存在差异，</a:t>
            </a:r>
            <a:r>
              <a:rPr sz="1900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具体经验的借鉴价值</a:t>
            </a: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，需要</a:t>
            </a:r>
          </a:p>
          <a:p>
            <a:pPr algn="l">
              <a:lnSpc>
                <a:spcPct val="108000"/>
              </a:lnSpc>
              <a:buNone/>
              <a:def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00" b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放在相应条件与应用场景中理解。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532858" y="5996273"/>
            <a:ext cx="9126188" cy="652844"/>
          </a:xfrm>
          <a:prstGeom prst="rect">
            <a:avLst/>
          </a:prstGeom>
          <a:solidFill>
            <a:srgbClr val="305496"/>
          </a:solidFill>
          <a:ln w="0">
            <a:noFill/>
          </a:ln>
        </p:spPr>
        <p:txBody>
          <a:bodyPr lIns="47625" tIns="47625" rIns="47625" bIns="47625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学习德国经验：理解长期积累与应用转化如何相互支撑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791998" y="-2834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科技体制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战略布局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0" y="837931"/>
            <a:ext cx="12191999" cy="5569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参考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资料：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[1]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德国联邦教育与研究部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2024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年联邦研究与创新报告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[R/OL].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柏林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德国联邦教育与研究部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2024[2026-10-13].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[2]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德国联邦与州科研委员会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德国研究基金会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研究与创新公约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第四期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2021–2030)[R/OL].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波恩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德国研究基金会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2020[2026-10-13].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[3]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德国联邦教育与研究部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德国四大科研机构定位与资助比例官方说明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[EB/OL].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柏林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德国联邦财政部科研司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2025[2026-10-13].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[4]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德国研究基金会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德国卓越战略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6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Exzellenzstrategie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)2026–2032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官方说明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[EB/OL].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波恩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德国研究基金会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2024[2026-10-13].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[5]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德国科研国际推广平台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亥姆霍兹联合会概况与预算官方资料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[EB/OL].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柏林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Research in Germany, 2024[2026-10-13].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[6]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弗劳恩霍夫协会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弗劳恩霍夫协会经费结构官方说明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[EB/OL].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慕尼黑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弗劳恩霍夫协会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2025[2026-10-13].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[7]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德国科学与人文委员会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德国科学与人文委员会职能说明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[EB/OL].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科隆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德国科学与人文委员会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2024[2026-10-13].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[8]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中华人民共和国驻德意志联邦共和国大使馆科技处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德国科技创新简报系列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[R/OL].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柏林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中国驻德国大使馆科技处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2021-2025[2026-10-13]. 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[9]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葛春雷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裴瑞敏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张秋菊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德国科研机构协同创新组织模式研究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[J]. 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中国科学院院刊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2024, 39(2): 345-357.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10] 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李山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德国《研究与创新公约》成功实施二十年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[N/OL]. 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环球网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2025-05-23[2026-10-13]. </a:t>
            </a:r>
          </a:p>
          <a:p>
            <a:pPr algn="just"/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[11]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Umweltbundesamt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Renewable Energy in Germany: Data on developments in 2025[R]. Berlin: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Umweltbundesamt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2026</a:t>
            </a:r>
          </a:p>
          <a:p>
            <a:pPr algn="just"/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[12]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德国联邦政府（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Bundesregierung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Wo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steht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Deutschland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bei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der Energiewende[EB/OL]. 2024-09-13. </a:t>
            </a:r>
          </a:p>
          <a:p>
            <a:pPr algn="just"/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[13] 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德国联邦经济与气候保护部（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BMWE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FAQ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zum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Monitoringbericht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zur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Energiewende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Sept. 2025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[EB/OL]. 2025-09-24.</a:t>
            </a:r>
          </a:p>
          <a:p>
            <a:pPr algn="just"/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[14] 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德国联邦环境部（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BMUKN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Germany’s Roadmap for Transitioning Away from Fossil Fuels[R]. </a:t>
            </a:r>
          </a:p>
          <a:p>
            <a:pPr algn="just"/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[15] 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德国联邦政府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Bundesregierung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beschließt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Kohleausstiegsgesetz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[EB/OL]. </a:t>
            </a:r>
          </a:p>
          <a:p>
            <a:pPr algn="just"/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zh-CN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791998" y="-2834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601" y="134657"/>
            <a:ext cx="2468798" cy="43889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03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92000" y="0"/>
            <a:ext cx="1800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buNone/>
            </a:pPr>
            <a:endParaRPr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4469" y="159158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科技体制</a:t>
            </a: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6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启示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864470" y="151217"/>
            <a:ext cx="1255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思源黑体"/>
                <a:ea typeface="思源黑体"/>
                <a:cs typeface="思源黑体"/>
              </a:rPr>
              <a:t>战略布局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61950" y="962025"/>
            <a:ext cx="114681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参考资料（续）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61315" y="1663700"/>
            <a:ext cx="11468100" cy="50774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just"/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[16] SPD. Turbo für Erneuerbare[EB/OL]. https://www.spd.de/aktuelles/erneuerbare-turbo.</a:t>
            </a:r>
          </a:p>
          <a:p>
            <a:pPr algn="just"/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[17] 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德国联邦排放交易局（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DEHSt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nEHS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sale and auction[EB/OL]. 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[18] 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德国联邦排放交易局（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DEHSt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Einnahmen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aus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dem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Emissionshandel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erneut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auf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Rekordniveau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[EB/OL]. 2025-01-07. 1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[19] 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德国联邦排放交易局（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DEHSt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Emissionshandel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: 21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Milliarden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Euro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fließen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in den Klima- und 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Transformationsfonds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[EB/OL]. 2026-01-07. 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07000"/>
              </a:lnSpc>
              <a:buNone/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[20] 斯坦福大学以人为本人工智能研究院. 2026年人工智能指数报告[R/OL]. 斯坦福: 斯坦福大学, 2026[2026-10-20].</a:t>
            </a:r>
          </a:p>
          <a:p>
            <a:pPr algn="l">
              <a:lnSpc>
                <a:spcPct val="107000"/>
              </a:lnSpc>
              <a:buNone/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>
                <a:sym typeface="+mn-ea"/>
              </a:rPr>
              <a:t>[21] OECD. OECD Artificial Intelligence Review of Germany[R]. Paris: OECD Publishing, 2024. DOI: 10.1787/609808d6-en.</a:t>
            </a:r>
            <a:endParaRPr sz="17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07000"/>
              </a:lnSpc>
              <a:buNone/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>
                <a:sym typeface="+mn-ea"/>
              </a:rPr>
              <a:t>[22] GUO D, YANG D, ZHANG H, et al. DeepSeek-R1 incentivizes reasoning in LLMs through reinforcement learning[J]. Nature, 2025, 645: 633–638.</a:t>
            </a:r>
          </a:p>
          <a:p>
            <a:pPr algn="l">
              <a:lnSpc>
                <a:spcPct val="107000"/>
              </a:lnSpc>
              <a:buNone/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>
                <a:sym typeface="+mn-ea"/>
              </a:rPr>
              <a:t>[23] 德国联邦统计局. Enterprises using artificial intelligence (AI) technologies, by employment size class, 2025[DB/OL]. (2025-11-24)[2026-10-20].</a:t>
            </a:r>
          </a:p>
          <a:p>
            <a:pPr algn="l">
              <a:lnSpc>
                <a:spcPct val="107000"/>
              </a:lnSpc>
              <a:buNone/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>
                <a:sym typeface="+mn-ea"/>
              </a:rPr>
              <a:t>[2</a:t>
            </a:r>
            <a:r>
              <a:rPr lang="en-US">
                <a:sym typeface="+mn-ea"/>
              </a:rPr>
              <a:t>4</a:t>
            </a:r>
            <a:r>
              <a:rPr>
                <a:sym typeface="+mn-ea"/>
              </a:rPr>
              <a:t>] FRAUNHOFER IAO. Projekt KI-Studios startet in die nächste Runde[EB/OL]. (2025-01-30)[2026-10-20].</a:t>
            </a:r>
            <a:endParaRPr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07000"/>
              </a:lnSpc>
              <a:buNone/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>
                <a:sym typeface="+mn-ea"/>
              </a:rPr>
              <a:t>[2</a:t>
            </a:r>
            <a:r>
              <a:rPr lang="en-US">
                <a:sym typeface="+mn-ea"/>
              </a:rPr>
              <a:t>5</a:t>
            </a:r>
            <a:r>
              <a:rPr>
                <a:sym typeface="+mn-ea"/>
              </a:rPr>
              <a:t>] 德国联邦研究、技术与航天部. 2026年联邦研究与创新报告[R/OL]. 柏林: BMFTR, 2026[2026-10-20].</a:t>
            </a:r>
            <a:endParaRPr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07000"/>
              </a:lnSpc>
              <a:buNone/>
              <a:defRPr sz="17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17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222652"/>
            <a:ext cx="12192000" cy="241269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1" y="2222653"/>
            <a:ext cx="12192000" cy="2412695"/>
          </a:xfrm>
          <a:prstGeom prst="rect">
            <a:avLst/>
          </a:prstGeom>
          <a:gradFill>
            <a:gsLst>
              <a:gs pos="35000">
                <a:srgbClr val="174994">
                  <a:alpha val="78000"/>
                </a:srgbClr>
              </a:gs>
              <a:gs pos="0">
                <a:schemeClr val="tx1">
                  <a:alpha val="29000"/>
                </a:schemeClr>
              </a:gs>
              <a:gs pos="100000">
                <a:srgbClr val="1749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465914" y="2459503"/>
            <a:ext cx="7507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感谢各位观看</a:t>
            </a:r>
            <a:endParaRPr lang="en-US" altLang="zh-CN" sz="60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敬请批评指正</a:t>
            </a:r>
            <a:endParaRPr lang="en-US" altLang="zh-CN" sz="60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440" y="2527412"/>
            <a:ext cx="1803174" cy="18031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117055" y="2427194"/>
            <a:ext cx="67235" cy="2003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77,&quot;left&quot;:39.6,&quot;top&quot;:137.15,&quot;width&quot;:878.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10813</Words>
  <Application>Microsoft Office PowerPoint</Application>
  <PresentationFormat>宽屏</PresentationFormat>
  <Paragraphs>715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等线</vt:lpstr>
      <vt:lpstr>等线 Light</vt:lpstr>
      <vt:lpstr>思源黑体</vt:lpstr>
      <vt:lpstr>思源黑体 CN Bold</vt:lpstr>
      <vt:lpstr>思源黑体 Medium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ucaslax</dc:creator>
  <cp:lastModifiedBy>文涛 李</cp:lastModifiedBy>
  <cp:revision>1273</cp:revision>
  <dcterms:created xsi:type="dcterms:W3CDTF">2026-10-20T15:51:00Z</dcterms:created>
  <dcterms:modified xsi:type="dcterms:W3CDTF">2026-10-23T12:02:37Z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9AA918E02AF3410D97586F8C0D18DD55_12</vt:lpwstr>
  </property>
</Properties>
</file>