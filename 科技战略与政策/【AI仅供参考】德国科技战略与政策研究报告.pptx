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资金构成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A3A3A"/>
              </a:solidFill>
              <a:effectLst/>
            </c:spPr>
          </c:dPt>
          <c:dPt>
            <c:idx val="1"/>
            <c:bubble3D val="0"/>
            <c:spPr>
              <a:solidFill>
                <a:srgbClr val="9A9A9A"/>
              </a:solidFill>
              <a:effectLst/>
            </c:spPr>
          </c:dPt>
          <c:dPt>
            <c:idx val="2"/>
            <c:bubble3D val="0"/>
            <c:spPr>
              <a:solidFill>
                <a:srgbClr val="DD000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特别基金 55 亿 €</c:v>
                </c:pt>
                <c:pt idx="1">
                  <c:v>气候与转型基金（KTF）45 亿 €</c:v>
                </c:pt>
                <c:pt idx="2">
                  <c:v>BMFTR 核心预算（每年约 20 亿 €）80 亿 €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55</c:v>
                </c:pt>
                <c:pt idx="1">
                  <c:v>45</c:v>
                </c:pt>
                <c:pt idx="2">
                  <c:v>80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A3A3A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资金</c:v>
                </c:pt>
              </c:strCache>
            </c:strRef>
          </c:tx>
          <c:spPr>
            <a:solidFill>
              <a:srgbClr val="9A9A9A"/>
            </a:solidFill>
            <a:effectLst/>
          </c:spPr>
          <c:invertIfNegative val="0"/>
          <c:dLbls>
            <c:numFmt formatCode="0&quot;亿€&quot;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1F1F1F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9A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A5A5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D000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2018 首部战略</c:v>
                  </c:pt>
                  <c:pt idx="1">
                    <c:v>2020 更新版</c:v>
                  </c:pt>
                  <c:pt idx="2">
                    <c:v>2023 行动计划（至2025）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</c:v>
                </c:pt>
                <c:pt idx="1">
                  <c:v>50</c:v>
                </c:pt>
                <c:pt idx="2">
                  <c:v>16</c:v>
                </c:pt>
              </c:numCache>
            </c:numRef>
          </c:val>
        </c:ser>
        <c:dLbls>
          <c:numFmt formatCode="0&quot;亿€&quot;" sourceLinked="0"/>
          <c:txPr>
            <a:bodyPr/>
            <a:lstStyle/>
            <a:p>
              <a:pPr>
                <a:defRPr b="0" i="0" strike="noStrike" sz="1500" u="none">
                  <a:solidFill>
                    <a:srgbClr val="1F1F1F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4A4A4A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8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电解槽</c:v>
                </c:pt>
              </c:strCache>
            </c:strRef>
          </c:tx>
          <c:spPr>
            <a:solidFill>
              <a:srgbClr val="9A9A9A"/>
            </a:solidFill>
            <a:effectLst/>
          </c:spPr>
          <c:invertIfNegative val="0"/>
          <c:dLbls>
            <c:numFmt formatCode="0&quot; GW&quot;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F1F1F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9A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D000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2020 首部战略</c:v>
                  </c:pt>
                  <c:pt idx="1">
                    <c:v>2023 更新版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10</c:v>
                </c:pt>
              </c:numCache>
            </c:numRef>
          </c:val>
        </c:ser>
        <c:dLbls>
          <c:numFmt formatCode="0&quot; GW&quot;" sourceLinked="0"/>
          <c:txPr>
            <a:bodyPr/>
            <a:lstStyle/>
            <a:p>
              <a:pPr>
                <a:defRPr b="0" i="0" strike="noStrike" sz="1600" u="none">
                  <a:solidFill>
                    <a:srgbClr val="1F1F1F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4A4A4A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10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德国科技战略与政策研究报告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pic>
        <p:nvPicPr>
          <p:cNvPr id="4" name="Image 0" descr="D:/ZCode/PPT/images/cov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414">
              <a:alpha val="7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1847088"/>
            <a:ext cx="548640" cy="146304"/>
          </a:xfrm>
          <a:prstGeom prst="rect">
            <a:avLst/>
          </a:prstGeom>
          <a:solidFill>
            <a:srgbClr val="DD0000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21214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B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研究报告 · 2026 年 10 月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2542032"/>
            <a:ext cx="11155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德国科技战略与政策研究报告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502920" y="3611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从“高科技战略”到“高科技议程”：演进逻辑 · 政策工具 · 对华启示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02920" y="580644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基于德国联邦政府及 BMFTR / BMWE 官方文件、OECD 与欧盟政策数据库、欧洲审计院报告、驻德使馆《德国科技创新简报》等权威来源 · 时间跨度 2013—2026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949440" y="608990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图：Reichstag, Berlin (Wikimedia Commons)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德国科技战略与政策研究报告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28016" cy="128016"/>
          </a:xfrm>
          <a:prstGeom prst="rect">
            <a:avLst/>
          </a:prstGeom>
          <a:solidFill>
            <a:srgbClr val="DD0000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" y="3474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报告框架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分析主线：制度 → 演进 → 部署 → 工具 → 启示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2121408" cy="2743200"/>
          </a:xfrm>
          <a:prstGeom prst="roundRect">
            <a:avLst>
              <a:gd name="adj" fmla="val 258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04088" y="19659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04088" y="265176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制度基础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04088" y="3063240"/>
            <a:ext cx="17190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联邦＋州两级管理、四大科研机构分工、研发强度目标与现实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51176" y="292608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B0B0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770632" y="1783080"/>
            <a:ext cx="2121408" cy="2743200"/>
          </a:xfrm>
          <a:prstGeom prst="roundRect">
            <a:avLst>
              <a:gd name="adj" fmla="val 258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71800" y="19659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971800" y="265176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战略演进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971800" y="3063240"/>
            <a:ext cx="17190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三个阶段一条主线：从基础科研导向到使命导向，再到竞争力与技术主权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18888" y="292608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B0B0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038344" y="1783080"/>
            <a:ext cx="2121408" cy="2743200"/>
          </a:xfrm>
          <a:prstGeom prst="roundRect">
            <a:avLst>
              <a:gd name="adj" fmla="val 258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39512" y="19659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5239512" y="265176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领域部署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239512" y="3063240"/>
            <a:ext cx="17190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AI、数字化、氢能、半导体、量子、聚变、工业政策逐项“部署—执行”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86600" y="292608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B0B0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06056" y="1783080"/>
            <a:ext cx="2121408" cy="2743200"/>
          </a:xfrm>
          <a:prstGeom prst="roundRect">
            <a:avLst>
              <a:gd name="adj" fmla="val 258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507224" y="19659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7507224" y="265176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工具与评估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507224" y="3063240"/>
            <a:ext cx="17190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五类政策工具箱；五大制度优势与四大结构性风险对照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54312" y="292608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B0B0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573768" y="1783080"/>
            <a:ext cx="2121408" cy="2743200"/>
          </a:xfrm>
          <a:prstGeom prst="roundRect">
            <a:avLst>
              <a:gd name="adj" fmla="val 258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774936" y="19659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9774936" y="265176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对华启示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774936" y="3063240"/>
            <a:ext cx="17190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九点启示：五点战略方法论＋四点执行保障，落脚战略治理体系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12188952" cy="1188720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5074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核心论点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2920" y="544068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德国经验的价值不在于具体技术选择，而在于战略治理体系——让目标可量化、进度可公开、资金跨周期、制度与资金同权、开放与主权并举。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德国科技战略与政策研究报告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28016" cy="128016"/>
          </a:xfrm>
          <a:prstGeom prst="rect">
            <a:avLst/>
          </a:prstGeom>
          <a:solidFill>
            <a:srgbClr val="DD0000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" y="3474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制度基础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谁在执行：联邦制下的科技治理体系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1783080"/>
            <a:ext cx="612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联邦＋州两级管理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大学科研归州，联邦主导国家目标科研；《基本法》第 91b 条“共同任务”与科学联席会（GWK）协调重大资助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2953512"/>
            <a:ext cx="67665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01752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43000" y="3017520"/>
            <a:ext cx="612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四大科研机构分工连续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马普（基础研究）—弗劳恩霍夫（应用与合同科研）—亥姆霍兹（大科学装置）—莱布尼茨（跨学科），战略可迅速落到执行主体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4187952"/>
            <a:ext cx="67665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25196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43000" y="4251960"/>
            <a:ext cx="612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DFG 资助大学卓越研究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年获 33 亿欧元，其中 7.2 亿专项用于卓越战略与大型设备；NFDI 获 9200 万欧元并建议永久运营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772400" y="1783080"/>
            <a:ext cx="3886200" cy="3794760"/>
          </a:xfrm>
          <a:prstGeom prst="roundRect">
            <a:avLst>
              <a:gd name="adj" fmla="val 144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46720" y="1965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GWK 2026 决议（稳定性资助）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0" y="23957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0" y="2395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 亿 €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046720" y="2926080"/>
            <a:ext cx="338328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0" y="296265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马普学会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0" y="29626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亿 €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046720" y="3493008"/>
            <a:ext cx="338328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0" y="352958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NFDI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0" y="352958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9200 万 €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8046720" y="4059936"/>
            <a:ext cx="338328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0" y="40965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NHR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0" y="40965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6250 万 €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046720" y="47548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研发强度 ≈3.1%</a:t>
            </a:r>
            <a:endParaRPr lang="en-US" sz="1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 年实际值；HTS 2025 设定的 3.5% 目标（2025）未如期达成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502920" y="5989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来源：驻德使馆《德国科技创新简报》（2025-08）、OECD STIP、Fraunhofer ISI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德国科技战略与政策研究报告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28016" cy="128016"/>
          </a:xfrm>
          <a:prstGeom prst="rect">
            <a:avLst/>
          </a:prstGeom>
          <a:solidFill>
            <a:srgbClr val="DD0000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" y="3474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战略演进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三个阶段，一条主线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3611880" cy="3200400"/>
          </a:xfrm>
          <a:prstGeom prst="roundRect">
            <a:avLst>
              <a:gd name="adj" fmla="val 1714"/>
            </a:avLst>
          </a:prstGeom>
          <a:solidFill>
            <a:srgbClr val="F5F5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03911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 · 2006—2012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423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基础科研导向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306324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创立高科技战略框架；大学“卓越战略”落地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回答“钱给谁”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51960" y="1783080"/>
            <a:ext cx="3611880" cy="3200400"/>
          </a:xfrm>
          <a:prstGeom prst="roundRect">
            <a:avLst>
              <a:gd name="adj" fmla="val 1714"/>
            </a:avLst>
          </a:prstGeom>
          <a:solidFill>
            <a:srgbClr val="F5F5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26280" y="203911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 · 2013—2024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6280" y="2423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使命导向创新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26280" y="306324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HTS 2025 确立使命导向；AI、氢能、半导体、量子专项密集出台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回答“钱怎么花”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01000" y="1783080"/>
            <a:ext cx="3611880" cy="3200400"/>
          </a:xfrm>
          <a:prstGeom prst="roundRect">
            <a:avLst>
              <a:gd name="adj" fmla="val 1714"/>
            </a:avLst>
          </a:prstGeom>
          <a:solidFill>
            <a:srgbClr val="141414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75320" y="203911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B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 · 2025 至今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75320" y="2423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竞争力与技术主权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75320" y="306324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D9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HTAD 携 180 亿欧元接棒；强调应用转化（Transfer）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D9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回答“研究如何变成产业竞争力”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0" y="5349240"/>
            <a:ext cx="12188952" cy="777240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5349240"/>
            <a:ext cx="11183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一条主线：</a:t>
            </a:r>
            <a:pPr indent="0" marL="0">
              <a:buNone/>
            </a:pPr>
            <a:r>
              <a:rPr lang="en-US" sz="15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持续回应“基础研究强、产业转化弱”的结构性矛盾——从研究领先走向竞争领先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德国科技战略与政策研究报告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28016" cy="128016"/>
          </a:xfrm>
          <a:prstGeom prst="rect">
            <a:avLst/>
          </a:prstGeom>
          <a:solidFill>
            <a:srgbClr val="DD0000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" y="3474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战略演进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2013—2026：长期框架 + 领域专项 + 动态更新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94360" y="3520440"/>
            <a:ext cx="11000232" cy="0"/>
          </a:xfrm>
          <a:prstGeom prst="line">
            <a:avLst/>
          </a:prstGeom>
          <a:noFill/>
          <a:ln w="31750">
            <a:solidFill>
              <a:srgbClr val="B8B8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3429000"/>
            <a:ext cx="182880" cy="182880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9" name="Text 7"/>
          <p:cNvSpPr/>
          <p:nvPr/>
        </p:nvSpPr>
        <p:spPr>
          <a:xfrm>
            <a:off x="27432" y="2039112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2013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-182880" y="23317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 4.0 建议书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3227832"/>
            <a:ext cx="0" cy="201168"/>
          </a:xfrm>
          <a:prstGeom prst="line">
            <a:avLst/>
          </a:prstGeom>
          <a:noFill/>
          <a:ln w="12700">
            <a:solidFill>
              <a:srgbClr val="B8B8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02943" y="3429000"/>
            <a:ext cx="182880" cy="182880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13" name="Text 11"/>
          <p:cNvSpPr/>
          <p:nvPr/>
        </p:nvSpPr>
        <p:spPr>
          <a:xfrm>
            <a:off x="1127455" y="3776472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2015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7143" y="40690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高科技战略 2015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94383" y="3611880"/>
            <a:ext cx="0" cy="256032"/>
          </a:xfrm>
          <a:prstGeom prst="line">
            <a:avLst/>
          </a:prstGeom>
          <a:noFill/>
          <a:ln w="12700">
            <a:solidFill>
              <a:srgbClr val="B8B8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02966" y="3429000"/>
            <a:ext cx="182880" cy="182880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17" name="Text 15"/>
          <p:cNvSpPr/>
          <p:nvPr/>
        </p:nvSpPr>
        <p:spPr>
          <a:xfrm>
            <a:off x="2227478" y="2039112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2016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017166" y="23317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数字战略 2025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94406" y="3227832"/>
            <a:ext cx="0" cy="201168"/>
          </a:xfrm>
          <a:prstGeom prst="line">
            <a:avLst/>
          </a:prstGeom>
          <a:noFill/>
          <a:ln w="12700">
            <a:solidFill>
              <a:srgbClr val="B8B8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75558" y="3401568"/>
            <a:ext cx="237744" cy="237744"/>
          </a:xfrm>
          <a:prstGeom prst="ellipse">
            <a:avLst/>
          </a:prstGeom>
          <a:solidFill>
            <a:srgbClr val="DD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3327502" y="3776472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2018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117190" y="40690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HTS 2025 顶层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战略 35 亿€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894430" y="3639312"/>
            <a:ext cx="0" cy="256032"/>
          </a:xfrm>
          <a:prstGeom prst="line">
            <a:avLst/>
          </a:prstGeom>
          <a:noFill/>
          <a:ln w="12700">
            <a:solidFill>
              <a:srgbClr val="B8B8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03013" y="3429000"/>
            <a:ext cx="182880" cy="182880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25" name="Text 23"/>
          <p:cNvSpPr/>
          <p:nvPr/>
        </p:nvSpPr>
        <p:spPr>
          <a:xfrm>
            <a:off x="4427525" y="2039112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2019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217213" y="23317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工业战略 2030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94453" y="3227832"/>
            <a:ext cx="0" cy="201168"/>
          </a:xfrm>
          <a:prstGeom prst="line">
            <a:avLst/>
          </a:prstGeom>
          <a:noFill/>
          <a:ln w="12700">
            <a:solidFill>
              <a:srgbClr val="B8B8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03036" y="3429000"/>
            <a:ext cx="182880" cy="182880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29" name="Text 27"/>
          <p:cNvSpPr/>
          <p:nvPr/>
        </p:nvSpPr>
        <p:spPr>
          <a:xfrm>
            <a:off x="5527548" y="3776472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2020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317236" y="40690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氢能战略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更新 50 亿€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094476" y="3611880"/>
            <a:ext cx="0" cy="256032"/>
          </a:xfrm>
          <a:prstGeom prst="line">
            <a:avLst/>
          </a:prstGeom>
          <a:noFill/>
          <a:ln w="12700">
            <a:solidFill>
              <a:srgbClr val="B8B8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03059" y="3429000"/>
            <a:ext cx="182880" cy="182880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33" name="Text 31"/>
          <p:cNvSpPr/>
          <p:nvPr/>
        </p:nvSpPr>
        <p:spPr>
          <a:xfrm>
            <a:off x="6627571" y="2039112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17259" y="23317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半导体战略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130 亿€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194499" y="3227832"/>
            <a:ext cx="0" cy="201168"/>
          </a:xfrm>
          <a:prstGeom prst="line">
            <a:avLst/>
          </a:prstGeom>
          <a:noFill/>
          <a:ln w="12700">
            <a:solidFill>
              <a:srgbClr val="B8B8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03082" y="3429000"/>
            <a:ext cx="182880" cy="182880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37" name="Text 35"/>
          <p:cNvSpPr/>
          <p:nvPr/>
        </p:nvSpPr>
        <p:spPr>
          <a:xfrm>
            <a:off x="7727594" y="3776472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517282" y="40690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量子行动 30 亿€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数字十年路线图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294522" y="3611880"/>
            <a:ext cx="0" cy="256032"/>
          </a:xfrm>
          <a:prstGeom prst="line">
            <a:avLst/>
          </a:prstGeom>
          <a:noFill/>
          <a:ln w="12700">
            <a:solidFill>
              <a:srgbClr val="B8B8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303106" y="3429000"/>
            <a:ext cx="182880" cy="182880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41" name="Text 39"/>
          <p:cNvSpPr/>
          <p:nvPr/>
        </p:nvSpPr>
        <p:spPr>
          <a:xfrm>
            <a:off x="8827618" y="2039112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617306" y="23317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Fusion 2040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聚变资助计划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394546" y="3227832"/>
            <a:ext cx="0" cy="201168"/>
          </a:xfrm>
          <a:prstGeom prst="line">
            <a:avLst/>
          </a:prstGeom>
          <a:noFill/>
          <a:ln w="12700">
            <a:solidFill>
              <a:srgbClr val="B8B8B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375697" y="3401568"/>
            <a:ext cx="237744" cy="237744"/>
          </a:xfrm>
          <a:prstGeom prst="ellipse">
            <a:avLst/>
          </a:prstGeom>
          <a:solidFill>
            <a:srgbClr val="DD0000"/>
          </a:solidFill>
          <a:ln/>
        </p:spPr>
      </p:sp>
      <p:sp>
        <p:nvSpPr>
          <p:cNvPr id="45" name="Text 43"/>
          <p:cNvSpPr/>
          <p:nvPr/>
        </p:nvSpPr>
        <p:spPr>
          <a:xfrm>
            <a:off x="9927641" y="3776472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9717329" y="40690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HTAD 议程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180 亿€ 现行顶层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0494569" y="3639312"/>
            <a:ext cx="0" cy="256032"/>
          </a:xfrm>
          <a:prstGeom prst="line">
            <a:avLst/>
          </a:prstGeom>
          <a:noFill/>
          <a:ln w="12700">
            <a:solidFill>
              <a:srgbClr val="B8B8B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475720" y="3401568"/>
            <a:ext cx="237744" cy="237744"/>
          </a:xfrm>
          <a:prstGeom prst="ellipse">
            <a:avLst/>
          </a:prstGeom>
          <a:solidFill>
            <a:srgbClr val="DD0000"/>
          </a:solidFill>
          <a:ln/>
        </p:spPr>
      </p:sp>
      <p:sp>
        <p:nvSpPr>
          <p:cNvPr id="49" name="Text 47"/>
          <p:cNvSpPr/>
          <p:nvPr/>
        </p:nvSpPr>
        <p:spPr>
          <a:xfrm>
            <a:off x="11027664" y="2039112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10817352" y="23317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六大技术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路线图发布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11594592" y="3227832"/>
            <a:ext cx="0" cy="173736"/>
          </a:xfrm>
          <a:prstGeom prst="line">
            <a:avLst/>
          </a:prstGeom>
          <a:noFill/>
          <a:ln w="12700">
            <a:solidFill>
              <a:srgbClr val="B8B8B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2920" y="580644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顶层框架（黑）与里程碑战略（红）交替推进：每 6—7 年更换顶层框架，领域专项战略动态填充（完整时间线见报告表 1）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德国科技战略与政策研究报告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28016" cy="128016"/>
          </a:xfrm>
          <a:prstGeom prst="rect">
            <a:avLst/>
          </a:prstGeom>
          <a:solidFill>
            <a:srgbClr val="DD0000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" y="3474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战略演进 · 现行顶层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HTAD（2025）：关键技术 + 研究领域 + 政策杠杆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3520440" cy="3429000"/>
          </a:xfrm>
          <a:prstGeom prst="roundRect">
            <a:avLst>
              <a:gd name="adj" fmla="val 160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9659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1554480" y="21671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优先关键技术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95528" y="2926080"/>
            <a:ext cx="29718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人工智能</a:t>
            </a:r>
            <a:endParaRPr lang="en-US" sz="1350" dirty="0"/>
          </a:p>
          <a:p>
            <a:pPr marL="127000" indent="-1270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量子技术</a:t>
            </a:r>
            <a:endParaRPr lang="en-US" sz="1350" dirty="0"/>
          </a:p>
          <a:p>
            <a:pPr marL="127000" indent="-1270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微电子</a:t>
            </a:r>
            <a:endParaRPr lang="en-US" sz="1350" dirty="0"/>
          </a:p>
          <a:p>
            <a:pPr marL="127000" indent="-1270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生物技术</a:t>
            </a:r>
            <a:endParaRPr lang="en-US" sz="1350" dirty="0"/>
          </a:p>
          <a:p>
            <a:pPr marL="127000" indent="-1270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核聚变与气候中和能源</a:t>
            </a:r>
            <a:endParaRPr lang="en-US" sz="1350" dirty="0"/>
          </a:p>
          <a:p>
            <a:pPr marL="127000" indent="-1270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气候中和交通（电池）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42816" y="1783080"/>
            <a:ext cx="3520440" cy="3429000"/>
          </a:xfrm>
          <a:prstGeom prst="roundRect">
            <a:avLst>
              <a:gd name="adj" fmla="val 160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17136" y="19659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5294376" y="21671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战略研究领域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35424" y="2926080"/>
            <a:ext cx="29718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航空航天</a:t>
            </a:r>
            <a:endParaRPr lang="en-US" sz="1350" dirty="0"/>
          </a:p>
          <a:p>
            <a:pPr marL="127000" indent="-1270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</a:t>
            </a:r>
            <a:endParaRPr lang="en-US" sz="1350" dirty="0"/>
          </a:p>
          <a:p>
            <a:pPr marL="127000" indent="-1270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安全与国防</a:t>
            </a:r>
            <a:endParaRPr lang="en-US" sz="1350" dirty="0"/>
          </a:p>
          <a:p>
            <a:pPr marL="127000" indent="-1270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海洋气候与可持续发展</a:t>
            </a:r>
            <a:endParaRPr lang="en-US" sz="1350" dirty="0"/>
          </a:p>
          <a:p>
            <a:pPr marL="127000" indent="-1270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人文与社会科学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982712" y="1783080"/>
            <a:ext cx="3520440" cy="3429000"/>
          </a:xfrm>
          <a:prstGeom prst="roundRect">
            <a:avLst>
              <a:gd name="adj" fmla="val 160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57032" y="19659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9034272" y="21671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政策杠杆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75320" y="2926080"/>
            <a:ext cx="29718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高科技空间 High-Tech Spaces</a:t>
            </a:r>
            <a:endParaRPr lang="en-US" sz="1350" dirty="0"/>
          </a:p>
          <a:p>
            <a:pPr marL="127000" indent="-1270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机器人助推器</a:t>
            </a:r>
            <a:endParaRPr lang="en-US" sz="1350" dirty="0"/>
          </a:p>
          <a:p>
            <a:pPr marL="127000" indent="-1270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新资助工具</a:t>
            </a:r>
            <a:endParaRPr lang="en-US" sz="1350" dirty="0"/>
          </a:p>
          <a:p>
            <a:pPr marL="127000" indent="-1270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简化技术转化行政审批</a:t>
            </a:r>
            <a:endParaRPr lang="en-US" sz="1350" dirty="0"/>
          </a:p>
          <a:p>
            <a:pPr marL="127000" indent="-1270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……（共九大杠杆）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" y="557784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架构要点：同时覆盖 2030 年前可产业化方向与 2040 年代长周期方向，并显性化管理制度工具（来源：HTAD 官网、Deutschland.de、科技日报）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德国科技战略与政策研究报告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28016" cy="128016"/>
          </a:xfrm>
          <a:prstGeom prst="rect">
            <a:avLst/>
          </a:prstGeom>
          <a:solidFill>
            <a:srgbClr val="DD0000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" y="3474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部署与执行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180 亿欧元：HTAD 的跨周期资金盘子（至 2029）</a:t>
            </a:r>
            <a:endParaRPr lang="en-US" sz="27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1737360"/>
          <a:ext cx="57607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2377440" y="3127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2029 年前投入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377440" y="34015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≈180 亿 €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6720840" y="1783080"/>
            <a:ext cx="4937760" cy="1207008"/>
          </a:xfrm>
          <a:prstGeom prst="roundRect">
            <a:avLst>
              <a:gd name="adj" fmla="val 3788"/>
            </a:avLst>
          </a:prstGeom>
          <a:solidFill>
            <a:srgbClr val="F5F5F5"/>
          </a:solidFill>
          <a:ln/>
        </p:spPr>
      </p:sp>
      <p:sp>
        <p:nvSpPr>
          <p:cNvPr id="11" name="Text 8"/>
          <p:cNvSpPr/>
          <p:nvPr/>
        </p:nvSpPr>
        <p:spPr>
          <a:xfrm>
            <a:off x="6995160" y="191109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223.8 亿 €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995160" y="238658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BMFTR 2025 年部门预算，同比增加近 10 亿欧元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720840" y="3154680"/>
            <a:ext cx="4937760" cy="1207008"/>
          </a:xfrm>
          <a:prstGeom prst="roundRect">
            <a:avLst>
              <a:gd name="adj" fmla="val 3788"/>
            </a:avLst>
          </a:prstGeom>
          <a:solidFill>
            <a:srgbClr val="F5F5F5"/>
          </a:solidFill>
          <a:ln/>
        </p:spPr>
      </p:sp>
      <p:sp>
        <p:nvSpPr>
          <p:cNvPr id="14" name="Text 11"/>
          <p:cNvSpPr/>
          <p:nvPr/>
        </p:nvSpPr>
        <p:spPr>
          <a:xfrm>
            <a:off x="6995160" y="328269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187 亿 / 39 亿 €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995160" y="375818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其中拨款与补助 187 亿、投资 39 亿欧元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720840" y="4526280"/>
            <a:ext cx="4937760" cy="1207008"/>
          </a:xfrm>
          <a:prstGeom prst="roundRect">
            <a:avLst>
              <a:gd name="adj" fmla="val 3788"/>
            </a:avLst>
          </a:prstGeom>
          <a:solidFill>
            <a:srgbClr val="F5F5F5"/>
          </a:solidFill>
          <a:ln/>
        </p:spPr>
      </p:sp>
      <p:sp>
        <p:nvSpPr>
          <p:cNvPr id="17" name="Text 14"/>
          <p:cNvSpPr/>
          <p:nvPr/>
        </p:nvSpPr>
        <p:spPr>
          <a:xfrm>
            <a:off x="6995160" y="465429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多元来源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995160" y="512978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“特别基金＋气候转型基金＋核心预算”三层结构，降低单一预算周期风险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02920" y="598932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注：核心预算份额为按“每年约 20 亿欧元”口径的估算值。来源：联邦预算草案、Deutschland.de、驻德使馆科技简报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德国科技战略与政策研究报告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28016" cy="128016"/>
          </a:xfrm>
          <a:prstGeom prst="rect">
            <a:avLst/>
          </a:prstGeom>
          <a:solidFill>
            <a:srgbClr val="DD0000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" y="3474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部署与执行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5 月路线图：六大关键技术的量化里程碑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3611880" cy="1965960"/>
          </a:xfrm>
          <a:prstGeom prst="roundRect">
            <a:avLst>
              <a:gd name="adj" fmla="val 232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58952" y="2048256"/>
            <a:ext cx="109728" cy="109728"/>
          </a:xfrm>
          <a:prstGeom prst="rect">
            <a:avLst/>
          </a:prstGeom>
          <a:solidFill>
            <a:srgbClr val="DD0000"/>
          </a:solidFill>
          <a:ln/>
        </p:spPr>
      </p:sp>
      <p:sp>
        <p:nvSpPr>
          <p:cNvPr id="9" name="Text 7"/>
          <p:cNvSpPr/>
          <p:nvPr/>
        </p:nvSpPr>
        <p:spPr>
          <a:xfrm>
            <a:off x="978408" y="190195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量子技术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58952" y="2359152"/>
            <a:ext cx="3099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 年前建成 2 台欧洲顶尖纠错量子计算机并开放使用；2025 年发射首颗量子通信研究卫星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51960" y="1737360"/>
            <a:ext cx="3611880" cy="1965960"/>
          </a:xfrm>
          <a:prstGeom prst="roundRect">
            <a:avLst>
              <a:gd name="adj" fmla="val 232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07992" y="2048256"/>
            <a:ext cx="109728" cy="109728"/>
          </a:xfrm>
          <a:prstGeom prst="rect">
            <a:avLst/>
          </a:prstGeom>
          <a:solidFill>
            <a:srgbClr val="DD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4727448" y="190195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生物技术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507992" y="2359152"/>
            <a:ext cx="3099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 年前批准首个 mRNA 癌症免疫疗法；柏林转化中心 2035 年前聚集 20+ 疗法初创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01000" y="1737360"/>
            <a:ext cx="3611880" cy="1965960"/>
          </a:xfrm>
          <a:prstGeom prst="roundRect">
            <a:avLst>
              <a:gd name="adj" fmla="val 232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57032" y="2048256"/>
            <a:ext cx="109728" cy="109728"/>
          </a:xfrm>
          <a:prstGeom prst="rect">
            <a:avLst/>
          </a:prstGeom>
          <a:solidFill>
            <a:srgbClr val="DD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8476488" y="190195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人工智能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257032" y="2359152"/>
            <a:ext cx="3099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 年本国 10% 经济产出基于 AI；启动 AI 机器人助推器；吸引欧洲 AI 超级工厂落户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3867912"/>
            <a:ext cx="3611880" cy="1965960"/>
          </a:xfrm>
          <a:prstGeom prst="roundRect">
            <a:avLst>
              <a:gd name="adj" fmla="val 232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8952" y="4178808"/>
            <a:ext cx="109728" cy="109728"/>
          </a:xfrm>
          <a:prstGeom prst="rect">
            <a:avLst/>
          </a:prstGeom>
          <a:solidFill>
            <a:srgbClr val="DD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978408" y="403250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微电子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58952" y="4489704"/>
            <a:ext cx="3099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实现“德国设计”高性能芯片，建成欧洲芯片设计中心；依托欧盟芯片法案 MRF 提供先进封装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251960" y="3867912"/>
            <a:ext cx="3611880" cy="1965960"/>
          </a:xfrm>
          <a:prstGeom prst="roundRect">
            <a:avLst>
              <a:gd name="adj" fmla="val 232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07992" y="4178808"/>
            <a:ext cx="109728" cy="109728"/>
          </a:xfrm>
          <a:prstGeom prst="rect">
            <a:avLst/>
          </a:prstGeom>
          <a:solidFill>
            <a:srgbClr val="DD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4727448" y="403250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核聚变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4507992" y="4489704"/>
            <a:ext cx="3099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制定聚变行动计划与研究创新路线图，建设示范装置，目标全球首批商业聚变电站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001000" y="3867912"/>
            <a:ext cx="3611880" cy="1965960"/>
          </a:xfrm>
          <a:prstGeom prst="roundRect">
            <a:avLst>
              <a:gd name="adj" fmla="val 232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57032" y="4178808"/>
            <a:ext cx="109728" cy="109728"/>
          </a:xfrm>
          <a:prstGeom prst="rect">
            <a:avLst/>
          </a:prstGeom>
          <a:solidFill>
            <a:srgbClr val="DD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8476488" y="403250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气候中和交通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8257032" y="4489704"/>
            <a:ext cx="3099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建成电池生产与回收集群（含固态电池）；成为欧洲自动驾驶领先市场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02920" y="598932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同步启动“360 度监测”：科学界、经济界、社会界共同参与，公开进展与不足。来源：科技日报（2026-05）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德国科技战略与政策研究报告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28016" cy="128016"/>
          </a:xfrm>
          <a:prstGeom prst="rect">
            <a:avLst/>
          </a:prstGeom>
          <a:solidFill>
            <a:srgbClr val="DD0000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" y="3474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部署与执行 · 领域专项（一）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与数字化：算力激进，底座滞后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联邦 AI 战略资金承诺（亿欧元）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2920" y="2148840"/>
          <a:ext cx="55778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525780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累计承诺超 100 亿欧元；NHR 2026 年获 6250 万欧元支撑科研算力；“可信 AI”原则贯穿三版战略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46520" y="1737360"/>
            <a:ext cx="5212080" cy="2286000"/>
          </a:xfrm>
          <a:prstGeom prst="roundRect">
            <a:avLst>
              <a:gd name="adj" fmla="val 240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720840" y="18836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 算力与应用目标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720840" y="2267712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270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经济产出基于 AI</a:t>
            </a:r>
            <a:endParaRPr lang="en-US" sz="2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7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×2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通用数据中心算力（对比 2025）</a:t>
            </a:r>
            <a:endParaRPr lang="en-US" sz="2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7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×4+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AI 专用算力</a:t>
            </a:r>
            <a:endParaRPr lang="en-US" sz="2700" dirty="0"/>
          </a:p>
        </p:txBody>
      </p:sp>
      <p:sp>
        <p:nvSpPr>
          <p:cNvPr id="13" name="Shape 10"/>
          <p:cNvSpPr/>
          <p:nvPr/>
        </p:nvSpPr>
        <p:spPr>
          <a:xfrm>
            <a:off x="6446520" y="4206240"/>
            <a:ext cx="5212080" cy="1737360"/>
          </a:xfrm>
          <a:prstGeom prst="roundRect">
            <a:avLst>
              <a:gd name="adj" fmla="val 2632"/>
            </a:avLst>
          </a:prstGeom>
          <a:solidFill>
            <a:srgbClr val="FBEFEF"/>
          </a:solidFill>
          <a:ln/>
        </p:spPr>
      </p:sp>
      <p:sp>
        <p:nvSpPr>
          <p:cNvPr id="14" name="Text 11"/>
          <p:cNvSpPr/>
          <p:nvPr/>
        </p:nvSpPr>
        <p:spPr>
          <a:xfrm>
            <a:off x="6720840" y="4361688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执行温差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家庭光纤渗透率 2024 年底仅约 36.8%（2025 中间目标 50%，2030 目标 100%）；企业 AI 采用率低于领先国家；产业规模显著落后美国、大模型落后法英，“物理 AI”被认为是欧洲的机会窗口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0292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来源：BMWE、数字十年路线图、新华社（2026-03）、Handelsblatt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德国科技战略与政策研究报告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28016" cy="128016"/>
          </a:xfrm>
          <a:prstGeom prst="rect">
            <a:avLst/>
          </a:prstGeom>
          <a:solidFill>
            <a:srgbClr val="DD0000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" y="3474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部署与执行 · 领域专项（二）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氢能与聚变：绿色赛道的一慢一快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氢能：电解槽产能目标（GW）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2920" y="2148840"/>
          <a:ext cx="49377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47548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IEEFA：“再校准进行中”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框架与资金就位，产能建设落后于目标；《氢能加速法案（草案）》简化全链条审批、天然氢定为自由矿产</a:t>
            </a:r>
            <a:endParaRPr lang="en-US" sz="1250" dirty="0"/>
          </a:p>
        </p:txBody>
      </p:sp>
      <p:pic>
        <p:nvPicPr>
          <p:cNvPr id="10" name="Image 0" descr="D:/ZCode/PPT/images/fusion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1737360"/>
            <a:ext cx="5486400" cy="23317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172200" y="4114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W7-X 仿星器大厅（IPP Greifswald，图：Wikimedia，CC BY-SA）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72200" y="4526280"/>
            <a:ext cx="5486400" cy="1417320"/>
          </a:xfrm>
          <a:prstGeom prst="roundRect">
            <a:avLst>
              <a:gd name="adj" fmla="val 3226"/>
            </a:avLst>
          </a:prstGeom>
          <a:solidFill>
            <a:srgbClr val="F5F5F5"/>
          </a:solidFill>
          <a:ln/>
        </p:spPr>
      </p:sp>
      <p:sp>
        <p:nvSpPr>
          <p:cNvPr id="13" name="Text 9"/>
          <p:cNvSpPr/>
          <p:nvPr/>
        </p:nvSpPr>
        <p:spPr>
          <a:xfrm>
            <a:off x="6400800" y="46634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聚变：从资助计划到国家任务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2024“Fusion 2040”启动 → 2025 列为国家任务 → 2029 年前投入超 20 亿欧元，目标全球首批商业聚变电站；KIT＋马普等离子体所＋初创“国家＋企业”双轨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0292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来源：BMWE 氢能战略、IEEFA、TU Berlin 聚变日报告（2026）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德国科技战略与政策研究报告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28016" cy="128016"/>
          </a:xfrm>
          <a:prstGeom prst="rect">
            <a:avLst/>
          </a:prstGeom>
          <a:solidFill>
            <a:srgbClr val="DD0000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" y="3474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部署与执行 · 领域专项（三）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半导体与量子：一记重挫，一个前五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半导体：从制造到“德国设计”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6126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 年联邦半导体战略：5 年 130 亿欧元，与欧盟芯片法案衔接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台积电德累斯顿 28nm 厂：国家援助约 50 亿欧元，2027 年底前投产；GF、英飞凌本土扩产；MRF 先进封装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HTAD 将重心升级为“欧洲芯片设计中心”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4206240"/>
            <a:ext cx="6126480" cy="1280160"/>
          </a:xfrm>
          <a:prstGeom prst="roundRect">
            <a:avLst>
              <a:gd name="adj" fmla="val 3571"/>
            </a:avLst>
          </a:prstGeom>
          <a:solidFill>
            <a:srgbClr val="FBEFE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334256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标志性挫折 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 亿 €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英特尔马格德堡工厂取消（2025.7）；欧洲审计院：欧盟芯片项目难以在“数字十年”期限前达产</a:t>
            </a:r>
            <a:endParaRPr lang="en-US" sz="1250" dirty="0"/>
          </a:p>
        </p:txBody>
      </p:sp>
      <p:pic>
        <p:nvPicPr>
          <p:cNvPr id="11" name="Image 0" descr="D:/ZCode/PPT/images/chi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5623560"/>
            <a:ext cx="2834640" cy="6583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429000" y="5623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图：Flickr（CC BY）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90372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量子：全球前五的行动计划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90372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亿 €</a:t>
            </a:r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量子技术行动计划（2023）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903720" y="269748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2026—2030 年建成通用量子计算机，遴选“Quantum Champions”企业梯队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国际声誉全球前五（DGAP），量子传感器与量子通信处于第一梯队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依托马普、弗劳恩霍夫、PTB、DLR 推进；路线图：2030 年前 2 台纠错量子计算机开放使用</a:t>
            </a:r>
            <a:endParaRPr lang="en-US" sz="1250" dirty="0"/>
          </a:p>
        </p:txBody>
      </p:sp>
      <p:pic>
        <p:nvPicPr>
          <p:cNvPr id="16" name="Image 1" descr="D:/ZCode/PPT/images/quantum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03720" y="5120640"/>
            <a:ext cx="4754880" cy="9601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903720" y="612648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量子比特测量装置（IBM，图：Wikimedia，CC BY）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德国科技战略与政策研究报告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28016" cy="128016"/>
          </a:xfrm>
          <a:prstGeom prst="rect">
            <a:avLst/>
          </a:prstGeom>
          <a:solidFill>
            <a:srgbClr val="DD0000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" y="3474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工具与评估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政策工具箱：五类工具的系统组合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685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80160" y="1737360"/>
            <a:ext cx="10405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资金工具：跨周期承诺＋多元来源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180 亿欧元＝特别基金 55＋KTF 45＋核心预算（每年约 20）；多年期写入预算草案，降低企业长期投资不确定性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02920" y="2542032"/>
            <a:ext cx="11183112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606040"/>
            <a:ext cx="685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280160" y="2606040"/>
            <a:ext cx="10405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组织工具：路线图＋旗舰项目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芯片、聚变、电池、量子均配“行动计划＋路线图＋旗舰项目”（MRF、纠错量子计算机、mRNA 疗法、电池集群）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02920" y="3410712"/>
            <a:ext cx="11183112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474720"/>
            <a:ext cx="685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280160" y="3474720"/>
            <a:ext cx="10405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监测工具：量化指标＋独立评估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HTS 2025 的 17 项指标与进展报告、HTAD“360 度监测”——进度公开、落后可见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02920" y="4279392"/>
            <a:ext cx="11183112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343400"/>
            <a:ext cx="685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280160" y="4343400"/>
            <a:ext cx="10405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立法工具：审批改革是“第二预算”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《氢能加速法案》《数据利用加速法》与 HTAD“简化技术转化行政审批”联动，法律供给速度比资金更稀缺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502920" y="5148072"/>
            <a:ext cx="11183112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5212080"/>
            <a:ext cx="685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280160" y="5212080"/>
            <a:ext cx="10405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欧盟协同：以联盟摊薄成本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芯片法案、地平线欧洲、数字十年、Euratom——“国家＋欧盟”双层设计摊薄成本、分担风险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502920" y="6016752"/>
            <a:ext cx="11183112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126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来源：HTAD 官网、BMWE、驻德使馆科技简报、欧洲审计院 SR 12/2025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德国科技战略与政策研究报告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28016" cy="128016"/>
          </a:xfrm>
          <a:prstGeom prst="rect">
            <a:avLst/>
          </a:prstGeom>
          <a:solidFill>
            <a:srgbClr val="DD0000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" y="3474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工具与评估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评估：制度优势与结构性风险同样清晰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5431536" cy="4069080"/>
          </a:xfrm>
          <a:prstGeom prst="roundRect">
            <a:avLst>
              <a:gd name="adj" fmla="val 1348"/>
            </a:avLst>
          </a:prstGeom>
          <a:solidFill>
            <a:srgbClr val="F5F5F5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874520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五大制度优势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7240" y="2441448"/>
            <a:ext cx="100584" cy="100584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377440"/>
            <a:ext cx="4654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战略连续性强　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“换框架不换基因”，制度持续累积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3099816"/>
            <a:ext cx="100584" cy="100584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035808"/>
            <a:ext cx="4654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跨周期财政承诺　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180 亿 / 聚变 20 亿 / AI 50 亿均为多年期承诺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3758184"/>
            <a:ext cx="100584" cy="100584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694176"/>
            <a:ext cx="4654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量化里程碑＋独立监测　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项指标、360 度监测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" y="4416552"/>
            <a:ext cx="100584" cy="100584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352544"/>
            <a:ext cx="4654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路线图管理　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行动计划＋路线图＋旗舰项目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5074920"/>
            <a:ext cx="100584" cy="100584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5010912"/>
            <a:ext cx="4654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制度与资金供给并重　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加速法案等立法工具与资金联动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4496" y="1691640"/>
            <a:ext cx="5431536" cy="4069080"/>
          </a:xfrm>
          <a:prstGeom prst="roundRect">
            <a:avLst>
              <a:gd name="adj" fmla="val 1348"/>
            </a:avLst>
          </a:prstGeom>
          <a:solidFill>
            <a:srgbClr val="FBEFEF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28816" y="1874520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四大结构性风险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528816" y="2441448"/>
            <a:ext cx="100584" cy="100584"/>
          </a:xfrm>
          <a:prstGeom prst="rect">
            <a:avLst/>
          </a:prstGeom>
          <a:solidFill>
            <a:srgbClr val="DD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6757416" y="2377440"/>
            <a:ext cx="46542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投入目标落空　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研发强度 3.5% 未达成（2023 约 3.1%）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28816" y="3246120"/>
            <a:ext cx="100584" cy="100584"/>
          </a:xfrm>
          <a:prstGeom prst="rect">
            <a:avLst/>
          </a:prstGeom>
          <a:solidFill>
            <a:srgbClr val="DD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6757416" y="3182112"/>
            <a:ext cx="46542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超级大项目风险　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英特尔取消、欧盟芯片产能目标集体推迟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28816" y="4050792"/>
            <a:ext cx="100584" cy="100584"/>
          </a:xfrm>
          <a:prstGeom prst="rect">
            <a:avLst/>
          </a:prstGeom>
          <a:solidFill>
            <a:srgbClr val="DD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6757416" y="3986784"/>
            <a:ext cx="46542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基础设施滞后　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光纤 36.8%、AI 算力落后于规划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528816" y="4855464"/>
            <a:ext cx="100584" cy="100584"/>
          </a:xfrm>
          <a:prstGeom prst="rect">
            <a:avLst/>
          </a:prstGeom>
          <a:solidFill>
            <a:srgbClr val="DD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6757416" y="4791456"/>
            <a:ext cx="46542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风投与生态短板　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本土风险资本不足、数据孤岛、人才流失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0" y="5897880"/>
            <a:ext cx="12188952" cy="502920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5897880"/>
            <a:ext cx="11183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优势与风险同源：长周期承诺既放大战略定力，也放大对初期假设错误的暴露度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德国科技战略与政策研究报告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28016" cy="128016"/>
          </a:xfrm>
          <a:prstGeom prst="rect">
            <a:avLst/>
          </a:prstGeom>
          <a:solidFill>
            <a:srgbClr val="DD0000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" y="3474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对中国的启示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对中国的启示（一）：战略方法论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6858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80160" y="1783080"/>
            <a:ext cx="1040587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把“转化”而非“研发”作为战略核心变量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以中试验证、示范应用、首台套采购为主战场；借鉴“高科技空间”与“AI 机器人助推器”两类工具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02920" y="2560320"/>
            <a:ext cx="11183112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633472"/>
            <a:ext cx="6858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280160" y="2633472"/>
            <a:ext cx="1040587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建立“量化里程碑＋独立第三方监测”制度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对重大专项公开年度进展评估，避免“只立不核”——3.5% 目标落空多年才被点破是反面教材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02920" y="3410712"/>
            <a:ext cx="11183112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483864"/>
            <a:ext cx="6858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280160" y="3483864"/>
            <a:ext cx="1040587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以跨周期财政承诺锁定战略连续性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强化稳定基金/专门账户的跨周期安排，降低企业 10 年期投资决策的不确定性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02920" y="4261104"/>
            <a:ext cx="11183112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334256"/>
            <a:ext cx="6858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280160" y="4334256"/>
            <a:ext cx="1040587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采用“关键技术＋研究领域＋政策杠杆”三支柱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把简化审批、公共采购、数据开放、保险担保等制度工具与资金工具并列纳入战略文本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502920" y="5111496"/>
            <a:ext cx="11183112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5184648"/>
            <a:ext cx="6858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280160" y="5184648"/>
            <a:ext cx="1040587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技术主权与开放合作成对设计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以国际大科学计划、区域联盟放大资源——“封闭换不来主权，开放才可持续地巩固主权”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502920" y="5961888"/>
            <a:ext cx="11183112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德国科技战略与政策研究报告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28016" cy="128016"/>
          </a:xfrm>
          <a:prstGeom prst="rect">
            <a:avLst/>
          </a:prstGeom>
          <a:solidFill>
            <a:srgbClr val="DD0000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" y="3474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对中国的启示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对中国的启示（二）：执行保障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80160" y="1783080"/>
            <a:ext cx="10405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立法与审批改革是科技战略的“第二预算”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建立“战略方向→专项立法→简化许可”联动机制，把监管沙盒设为常设工具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02920" y="2752344"/>
            <a:ext cx="11183112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825496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280160" y="2825496"/>
            <a:ext cx="10405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超级工程建立独立可行性评估与退出机制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技术—商业双评审，分阶段“继续/收缩/退出”决策门，避免沉没成本绑架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02920" y="3794760"/>
            <a:ext cx="11183112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867912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280160" y="3867912"/>
            <a:ext cx="10405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治理框架先行，抢占国际规则制定权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AI、量子、脑机接口、合成生物领域同步构建治理标准与国际规则提案能力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02920" y="4837176"/>
            <a:ext cx="11183112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910328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D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280160" y="4910328"/>
            <a:ext cx="10405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补上“风投＋人才”创新生态最后一环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培育本土硬科技 VC 生态，把外籍高端人才与数据跨境规则纳入科技战略正式条款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502920" y="5879592"/>
            <a:ext cx="11183112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德国科技战略与政策研究报告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438912"/>
            <a:ext cx="128016" cy="128016"/>
          </a:xfrm>
          <a:prstGeom prst="rect">
            <a:avLst/>
          </a:prstGeom>
          <a:solidFill>
            <a:srgbClr val="DD0000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" y="3474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参考资料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主要来源（完整 22 条列表见研究报告）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 Bundesregierung. The High-Tech Strategy 2025</a:t>
            </a:r>
            <a:endParaRPr lang="en-US" sz="1250" dirty="0"/>
          </a:p>
          <a:p>
            <a:pPr marL="101600" indent="-1016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[2] Hightech Agenda Deutschland 官方网站, 2025-07</a:t>
            </a:r>
            <a:endParaRPr lang="en-US" sz="1250" dirty="0"/>
          </a:p>
          <a:p>
            <a:pPr marL="101600" indent="-1016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[3] Deutschland.de. 联邦政府的高科技议程, 2025-09-10</a:t>
            </a:r>
            <a:endParaRPr lang="en-US" sz="1250" dirty="0"/>
          </a:p>
          <a:p>
            <a:pPr marL="101600" indent="-1016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[4] 科技日报. HTAD 路线图：六大关键技术量化目标, 2026-05-23</a:t>
            </a:r>
            <a:endParaRPr lang="en-US" sz="1250" dirty="0"/>
          </a:p>
          <a:p>
            <a:pPr marL="101600" indent="-1016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[5] OECD STIP Compass. High-Tech Strategy 2025</a:t>
            </a:r>
            <a:endParaRPr lang="en-US" sz="1250" dirty="0"/>
          </a:p>
          <a:p>
            <a:pPr marL="101600" indent="-1016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[6] Wittmann F. From HTS to HTAG Germany, Fraunhofer ISI, 2026</a:t>
            </a:r>
            <a:endParaRPr lang="en-US" sz="1250" dirty="0"/>
          </a:p>
          <a:p>
            <a:pPr marL="101600" indent="-1016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[9] BMWE. The National Hydrogen Strategy</a:t>
            </a:r>
            <a:endParaRPr lang="en-US" sz="1250" dirty="0"/>
          </a:p>
          <a:p>
            <a:pPr marL="101600" indent="-1016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[10] IEEFA. Germany's Hydrogen Strategy — A Reset in Progress</a:t>
            </a:r>
            <a:endParaRPr lang="en-US" sz="1250" dirty="0"/>
          </a:p>
          <a:p>
            <a:pPr marL="101600" indent="-1016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[11] Silicon Saxony. European Chips Act: Germany is Leading the Way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0" y="1737360"/>
            <a:ext cx="5257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[12] European Court of Auditors. Special Report 12/2025</a:t>
            </a:r>
            <a:endParaRPr lang="en-US" sz="1250" dirty="0"/>
          </a:p>
          <a:p>
            <a:pPr marL="101600" indent="-1016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[13] The Quantum Insider. €3bn Quantum Action Plan, 2023-05-03</a:t>
            </a:r>
            <a:endParaRPr lang="en-US" sz="1250" dirty="0"/>
          </a:p>
          <a:p>
            <a:pPr marL="101600" indent="-1016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[14] DGAP. Ranking Germany's Quantum Ambition</a:t>
            </a:r>
            <a:endParaRPr lang="en-US" sz="1250" dirty="0"/>
          </a:p>
          <a:p>
            <a:pPr marL="101600" indent="-1016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[15] European Commission. Germany Digital Decade Roadmap</a:t>
            </a:r>
            <a:endParaRPr lang="en-US" sz="1250" dirty="0"/>
          </a:p>
          <a:p>
            <a:pPr marL="101600" indent="-1016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[16] 新华社. 《国家工业战略 2030》最终版, 2019-11-30</a:t>
            </a:r>
            <a:endParaRPr lang="en-US" sz="1250" dirty="0"/>
          </a:p>
          <a:p>
            <a:pPr marL="101600" indent="-1016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[17] 驻德使馆. 德国科技创新简报（总第 91 期）, 2025-08-07</a:t>
            </a:r>
            <a:endParaRPr lang="en-US" sz="1250" dirty="0"/>
          </a:p>
          <a:p>
            <a:pPr marL="101600" indent="-1016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[18] 新华网. 德国计划大幅提升 AI 算力, 2026-03-18</a:t>
            </a:r>
            <a:endParaRPr lang="en-US" sz="1250" dirty="0"/>
          </a:p>
          <a:p>
            <a:pPr marL="101600" indent="-1016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[19] EE Times. Europe's Semiconductor Plan, 2025</a:t>
            </a:r>
            <a:endParaRPr lang="en-US" sz="1250" dirty="0"/>
          </a:p>
          <a:p>
            <a:pPr marL="101600" indent="-1016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3A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[21] TU Berlin. German Passion for the Fusion Reactor, 2026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5989320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注：编号与研究报告《德国科技战略与政策研究报告》参考资料列表一一对应；其余来源见报告参考文献页。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德国科技战略与政策研究报告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548640" cy="146304"/>
          </a:xfrm>
          <a:prstGeom prst="rect">
            <a:avLst/>
          </a:prstGeom>
          <a:solidFill>
            <a:srgbClr val="DD000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070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B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结语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11155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值得学习的不是具体技术选择，而是战略治理体系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9D9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国以“使命导向创新”为方法论、“竞争力与技术主权”为目标函数，以跨周期资金、量化里程碑、独立监测与立法供给为执行保障；其目标落空、超级项目失败与基础设施滞后，则界定了战略执行的边界条件。对中国而言，关键在于“制度化地”吸收：让战略可执行、可核查、可迭代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" y="4892040"/>
            <a:ext cx="2148840" cy="658368"/>
          </a:xfrm>
          <a:prstGeom prst="roundRect">
            <a:avLst>
              <a:gd name="adj" fmla="val 11111"/>
            </a:avLst>
          </a:prstGeom>
          <a:solidFill>
            <a:srgbClr val="262626"/>
          </a:solidFill>
          <a:ln w="9525">
            <a:solidFill>
              <a:srgbClr val="3E3E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89204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9B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目标可量化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670048" y="4892040"/>
            <a:ext cx="2148840" cy="658368"/>
          </a:xfrm>
          <a:prstGeom prst="roundRect">
            <a:avLst>
              <a:gd name="adj" fmla="val 11111"/>
            </a:avLst>
          </a:prstGeom>
          <a:solidFill>
            <a:srgbClr val="262626"/>
          </a:solidFill>
          <a:ln w="9525">
            <a:solidFill>
              <a:srgbClr val="3E3E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0048" y="489204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9B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进度可公开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0056" y="4892040"/>
            <a:ext cx="2148840" cy="658368"/>
          </a:xfrm>
          <a:prstGeom prst="roundRect">
            <a:avLst>
              <a:gd name="adj" fmla="val 11111"/>
            </a:avLst>
          </a:prstGeom>
          <a:solidFill>
            <a:srgbClr val="262626"/>
          </a:solidFill>
          <a:ln w="9525">
            <a:solidFill>
              <a:srgbClr val="3E3E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0056" y="489204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9B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资金跨周期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70064" y="4892040"/>
            <a:ext cx="2148840" cy="658368"/>
          </a:xfrm>
          <a:prstGeom prst="roundRect">
            <a:avLst>
              <a:gd name="adj" fmla="val 11111"/>
            </a:avLst>
          </a:prstGeom>
          <a:solidFill>
            <a:srgbClr val="262626"/>
          </a:solidFill>
          <a:ln w="9525">
            <a:solidFill>
              <a:srgbClr val="3E3E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70064" y="489204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9B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制度与资金同权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720072" y="4892040"/>
            <a:ext cx="2148840" cy="658368"/>
          </a:xfrm>
          <a:prstGeom prst="roundRect">
            <a:avLst>
              <a:gd name="adj" fmla="val 11111"/>
            </a:avLst>
          </a:prstGeom>
          <a:solidFill>
            <a:srgbClr val="262626"/>
          </a:solidFill>
          <a:ln w="9525">
            <a:solidFill>
              <a:srgbClr val="3E3E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20072" y="489204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9B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开放与主权并举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5943600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主要参考：德国联邦政府 / BMFTR / BMWE 官方文件 · OECD STIP · 欧洲审计院 SR 12/2025 · Fraunhofer ISI · 驻德使馆《德国科技创新简报》· 科技日报 / 新华社（完整列表见报告）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德国科技战略与政策研究报告</dc:title>
  <dc:subject>PptxGenJS Presentation</dc:subject>
  <dc:creator>ZCode</dc:creator>
  <cp:lastModifiedBy>ZCode</cp:lastModifiedBy>
  <cp:revision>1</cp:revision>
  <dcterms:created xsi:type="dcterms:W3CDTF">2026-10-03T10:23:55Z</dcterms:created>
  <dcterms:modified xsi:type="dcterms:W3CDTF">2026-10-03T10:23:55Z</dcterms:modified>
</cp:coreProperties>
</file>